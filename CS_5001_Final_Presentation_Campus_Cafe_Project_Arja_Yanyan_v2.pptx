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7" r:id="rId41"/>
    <p:sldId id="296" r:id="rId4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4"/>
    <p:restoredTop sz="94649"/>
  </p:normalViewPr>
  <p:slideViewPr>
    <p:cSldViewPr snapToGrid="0">
      <p:cViewPr varScale="1">
        <p:scale>
          <a:sx n="105" d="100"/>
          <a:sy n="105" d="100"/>
        </p:scale>
        <p:origin x="224" y="2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EE56C-3176-F6DB-53A3-E0303CB3F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01653-4F7D-5ECA-9295-2FBC223644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30FD12-0415-84EE-9243-F393F5C45FB8}"/>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AD7BBC13-85FA-598F-C398-0F2A2E8FE1F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046360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0E613-F525-3426-EBE3-1445AA09206D}"/>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085D2912-54C3-0E42-82AE-2CB746A3F7A4}"/>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1DB29B-8EAD-0A2A-7A8B-69057AFFF683}"/>
              </a:ext>
            </a:extLst>
          </p:cNvPr>
          <p:cNvSpPr>
            <a:spLocks noGrp="1"/>
          </p:cNvSpPr>
          <p:nvPr>
            <p:ph type="dt" idx="10"/>
          </p:nvPr>
        </p:nvSpPr>
        <p:spPr/>
        <p:txBody>
          <a:bodyPr/>
          <a:lstStyle/>
          <a:p>
            <a:endParaRPr lang="en-US"/>
          </a:p>
        </p:txBody>
      </p:sp>
      <p:sp>
        <p:nvSpPr>
          <p:cNvPr id="5" name="Footer Placeholder 4">
            <a:extLst>
              <a:ext uri="{FF2B5EF4-FFF2-40B4-BE49-F238E27FC236}">
                <a16:creationId xmlns:a16="http://schemas.microsoft.com/office/drawing/2014/main" id="{AB142253-9533-781D-243E-87F25D04B6B8}"/>
              </a:ext>
            </a:extLst>
          </p:cNvPr>
          <p:cNvSpPr>
            <a:spLocks noGrp="1"/>
          </p:cNvSpPr>
          <p:nvPr>
            <p:ph type="ftr" idx="11"/>
          </p:nvPr>
        </p:nvSpPr>
        <p:spPr/>
        <p:txBody>
          <a:bodyPr/>
          <a:lstStyle/>
          <a:p>
            <a:endParaRPr lang="en-US"/>
          </a:p>
        </p:txBody>
      </p:sp>
      <p:sp>
        <p:nvSpPr>
          <p:cNvPr id="6" name="Slide Number Placeholder 5">
            <a:extLst>
              <a:ext uri="{FF2B5EF4-FFF2-40B4-BE49-F238E27FC236}">
                <a16:creationId xmlns:a16="http://schemas.microsoft.com/office/drawing/2014/main" id="{E8CC40F8-17BD-D470-6B02-86AB5F76CA37}"/>
              </a:ext>
            </a:extLst>
          </p:cNvPr>
          <p:cNvSpPr>
            <a:spLocks noGrp="1"/>
          </p:cNvSpPr>
          <p:nvPr>
            <p:ph type="sldNum"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B299C-2931-400F-9559-05470D6AA41B}"/>
              </a:ext>
            </a:extLst>
          </p:cNvPr>
          <p:cNvSpPr>
            <a:spLocks noGrp="1"/>
          </p:cNvSpPr>
          <p:nvPr>
            <p:ph type="title"/>
          </p:nvPr>
        </p:nvSpPr>
        <p:spPr>
          <a:xfrm>
            <a:off x="457200" y="273050"/>
            <a:ext cx="3008313" cy="1162050"/>
          </a:xfrm>
        </p:spPr>
        <p:txBody>
          <a:bodyPr anchor="b"/>
          <a:lstStyle>
            <a:lvl1pPr algn="l">
              <a:buNone/>
              <a:defRPr sz="2000" b="1"/>
            </a:lvl1pPr>
          </a:lstStyle>
          <a:p>
            <a:endParaRPr/>
          </a:p>
        </p:txBody>
      </p:sp>
      <p:sp>
        <p:nvSpPr>
          <p:cNvPr id="4" name="Text Placeholder 3">
            <a:extLst>
              <a:ext uri="{FF2B5EF4-FFF2-40B4-BE49-F238E27FC236}">
                <a16:creationId xmlns:a16="http://schemas.microsoft.com/office/drawing/2014/main" id="{405CDCF4-9C1A-4E0A-9FD4-11939E941D5C}"/>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endParaRPr/>
          </a:p>
        </p:txBody>
      </p:sp>
      <p:sp>
        <p:nvSpPr>
          <p:cNvPr id="5" name="Date Placeholder 4">
            <a:extLst>
              <a:ext uri="{FF2B5EF4-FFF2-40B4-BE49-F238E27FC236}">
                <a16:creationId xmlns:a16="http://schemas.microsoft.com/office/drawing/2014/main" id="{09E5B70C-AC9E-4D4F-BC16-6DD721DC0F64}"/>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2F048451-A29C-4E5A-B56B-A5223E3B44D8}"/>
              </a:ext>
            </a:extLst>
          </p:cNvPr>
          <p:cNvSpPr>
            <a:spLocks noGrp="1"/>
          </p:cNvSpPr>
          <p:nvPr>
            <p:ph type="ftr" idx="1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62FB0-E75A-4231-A514-E8459C3A7F6D}"/>
              </a:ext>
            </a:extLst>
          </p:cNvPr>
          <p:cNvSpPr>
            <a:spLocks noGrp="1"/>
          </p:cNvSpPr>
          <p:nvPr>
            <p:ph type="title"/>
          </p:nvPr>
        </p:nvSpPr>
        <p:spPr>
          <a:xfrm>
            <a:off x="1792288" y="4800600"/>
            <a:ext cx="5486400" cy="566738"/>
          </a:xfrm>
        </p:spPr>
        <p:txBody>
          <a:bodyPr anchor="b"/>
          <a:lstStyle>
            <a:lvl1pPr algn="l">
              <a:buNone/>
              <a:defRPr sz="2000" b="1"/>
            </a:lvl1pPr>
          </a:lstStyle>
          <a:p>
            <a:endParaRPr/>
          </a:p>
        </p:txBody>
      </p:sp>
      <p:sp>
        <p:nvSpPr>
          <p:cNvPr id="3" name="Picture Placeholder 2">
            <a:extLst>
              <a:ext uri="{FF2B5EF4-FFF2-40B4-BE49-F238E27FC236}">
                <a16:creationId xmlns:a16="http://schemas.microsoft.com/office/drawing/2014/main" id="{D31B3773-128C-4425-AB3C-A1087CA73147}"/>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53D6F63F-2BE0-4E9D-A92E-B6224A544DEB}"/>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endParaRPr/>
          </a:p>
        </p:txBody>
      </p:sp>
      <p:sp>
        <p:nvSpPr>
          <p:cNvPr id="5" name="Date Placeholder 4">
            <a:extLst>
              <a:ext uri="{FF2B5EF4-FFF2-40B4-BE49-F238E27FC236}">
                <a16:creationId xmlns:a16="http://schemas.microsoft.com/office/drawing/2014/main" id="{68E3DDC7-9FDC-48E1-9372-AA1D6F11B825}"/>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DF7D3BC8-CC13-4969-8CE6-EFB2F6AA806E}"/>
              </a:ext>
            </a:extLst>
          </p:cNvPr>
          <p:cNvSpPr>
            <a:spLocks noGrp="1"/>
          </p:cNvSpPr>
          <p:nvPr>
            <p:ph type="ftr" idx="1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F3B66-C3D4-45BE-A51F-4E64FC32EEF0}"/>
              </a:ext>
            </a:extLst>
          </p:cNvPr>
          <p:cNvSpPr>
            <a:spLocks noGrp="1"/>
          </p:cNvSpPr>
          <p:nvPr>
            <p:ph type="title"/>
          </p:nvPr>
        </p:nvSpPr>
        <p:spPr/>
        <p:txBody>
          <a:bodyPr/>
          <a:lstStyle/>
          <a:p>
            <a:endParaRPr/>
          </a:p>
        </p:txBody>
      </p:sp>
      <p:sp>
        <p:nvSpPr>
          <p:cNvPr id="3" name="Vertical Text Placeholder 2">
            <a:extLst>
              <a:ext uri="{FF2B5EF4-FFF2-40B4-BE49-F238E27FC236}">
                <a16:creationId xmlns:a16="http://schemas.microsoft.com/office/drawing/2014/main" id="{E0465366-047A-4C0C-B184-8C95B5AACAB3}"/>
              </a:ext>
            </a:extLst>
          </p:cNvPr>
          <p:cNvSpPr>
            <a:spLocks noGrp="1"/>
          </p:cNvSpPr>
          <p:nvPr>
            <p:ph type="body" idx="1"/>
          </p:nvPr>
        </p:nvSpPr>
        <p:spPr/>
        <p:txBody>
          <a:bodyPr vert="eaVert"/>
          <a:lstStyle/>
          <a:p>
            <a:endParaRPr/>
          </a:p>
        </p:txBody>
      </p:sp>
      <p:sp>
        <p:nvSpPr>
          <p:cNvPr id="4" name="Date Placeholder 3">
            <a:extLst>
              <a:ext uri="{FF2B5EF4-FFF2-40B4-BE49-F238E27FC236}">
                <a16:creationId xmlns:a16="http://schemas.microsoft.com/office/drawing/2014/main" id="{CE17CF63-6B66-4934-A2CF-0B360FB7F735}"/>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85F42D4D-ED36-40C1-8965-21C6CA2D85BC}"/>
              </a:ext>
            </a:extLst>
          </p:cNvPr>
          <p:cNvSpPr>
            <a:spLocks noGrp="1"/>
          </p:cNvSpPr>
          <p:nvPr>
            <p:ph type="ftr" idx="1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D04228-44BB-40DD-922E-F95780EEC887}"/>
              </a:ext>
            </a:extLst>
          </p:cNvPr>
          <p:cNvSpPr>
            <a:spLocks noGrp="1"/>
          </p:cNvSpPr>
          <p:nvPr>
            <p:ph type="title"/>
          </p:nvPr>
        </p:nvSpPr>
        <p:spPr>
          <a:xfrm>
            <a:off x="6629400" y="274638"/>
            <a:ext cx="2057400" cy="5851525"/>
          </a:xfrm>
        </p:spPr>
        <p:txBody>
          <a:bodyPr vert="eaVert"/>
          <a:lstStyle/>
          <a:p>
            <a:endParaRPr/>
          </a:p>
        </p:txBody>
      </p:sp>
      <p:sp>
        <p:nvSpPr>
          <p:cNvPr id="3" name="Vertical Text Placeholder 2">
            <a:extLst>
              <a:ext uri="{FF2B5EF4-FFF2-40B4-BE49-F238E27FC236}">
                <a16:creationId xmlns:a16="http://schemas.microsoft.com/office/drawing/2014/main" id="{1903399E-1404-437D-9B79-4DB6C119874C}"/>
              </a:ext>
            </a:extLst>
          </p:cNvPr>
          <p:cNvSpPr>
            <a:spLocks noGrp="1"/>
          </p:cNvSpPr>
          <p:nvPr>
            <p:ph type="body" idx="1"/>
          </p:nvPr>
        </p:nvSpPr>
        <p:spPr>
          <a:xfrm>
            <a:off x="457200" y="274638"/>
            <a:ext cx="6019800" cy="5851525"/>
          </a:xfrm>
        </p:spPr>
        <p:txBody>
          <a:bodyPr vert="eaVert"/>
          <a:lstStyle/>
          <a:p>
            <a:endParaRPr/>
          </a:p>
        </p:txBody>
      </p:sp>
      <p:sp>
        <p:nvSpPr>
          <p:cNvPr id="4" name="Date Placeholder 3">
            <a:extLst>
              <a:ext uri="{FF2B5EF4-FFF2-40B4-BE49-F238E27FC236}">
                <a16:creationId xmlns:a16="http://schemas.microsoft.com/office/drawing/2014/main" id="{7920A59E-4F15-4B46-89D1-59D439B3431F}"/>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3CB30ACB-D85D-4452-9F52-BB92A8BBF6A5}"/>
              </a:ext>
            </a:extLst>
          </p:cNvPr>
          <p:cNvSpPr>
            <a:spLocks noGrp="1"/>
          </p:cNvSpPr>
          <p:nvPr>
            <p:ph type="ftr" idx="1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E2AE381-8CB8-46D6-AD6E-82617CCAEE28}"/>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1106001F-3DAC-4473-B51D-B505F75455E9}"/>
              </a:ext>
            </a:extLst>
          </p:cNvPr>
          <p:cNvSpPr>
            <a:spLocks noGrp="1"/>
          </p:cNvSpPr>
          <p:nvPr>
            <p:ph type="ftr" idx="1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75C5D-E1BD-43E9-8828-7DEBC2271E90}"/>
              </a:ext>
            </a:extLst>
          </p:cNvPr>
          <p:cNvSpPr>
            <a:spLocks noGrp="1"/>
          </p:cNvSpPr>
          <p:nvPr>
            <p:ph type="title"/>
          </p:nvPr>
        </p:nvSpPr>
        <p:spPr/>
        <p:txBody>
          <a:bodyPr/>
          <a:lstStyle/>
          <a:p>
            <a:endParaRPr/>
          </a:p>
        </p:txBody>
      </p:sp>
      <p:sp>
        <p:nvSpPr>
          <p:cNvPr id="3" name="Date Placeholder 2">
            <a:extLst>
              <a:ext uri="{FF2B5EF4-FFF2-40B4-BE49-F238E27FC236}">
                <a16:creationId xmlns:a16="http://schemas.microsoft.com/office/drawing/2014/main" id="{7F505F37-C731-466B-9C75-AB02819F1D7A}"/>
              </a:ext>
            </a:extLst>
          </p:cNvPr>
          <p:cNvSpPr>
            <a:spLocks noGrp="1"/>
          </p:cNvSpPr>
          <p:nvPr>
            <p:ph type="dt" idx="10"/>
          </p:nvPr>
        </p:nvSpPr>
        <p:spPr/>
        <p:txBody>
          <a:bodyPr/>
          <a:lstStyle/>
          <a:p>
            <a:endParaRPr/>
          </a:p>
        </p:txBody>
      </p:sp>
      <p:sp>
        <p:nvSpPr>
          <p:cNvPr id="4" name="Footer Placeholder 3">
            <a:extLst>
              <a:ext uri="{FF2B5EF4-FFF2-40B4-BE49-F238E27FC236}">
                <a16:creationId xmlns:a16="http://schemas.microsoft.com/office/drawing/2014/main" id="{4FD57585-B425-4D47-B91B-01872EC9DC5D}"/>
              </a:ext>
            </a:extLst>
          </p:cNvPr>
          <p:cNvSpPr>
            <a:spLocks noGrp="1"/>
          </p:cNvSpPr>
          <p:nvPr>
            <p:ph type="ftr" idx="1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E42C0-AE65-4151-9D38-507403CDC701}"/>
              </a:ext>
            </a:extLst>
          </p:cNvPr>
          <p:cNvSpPr>
            <a:spLocks noGrp="1"/>
          </p:cNvSpPr>
          <p:nvPr>
            <p:ph type="title"/>
          </p:nvPr>
        </p:nvSpPr>
        <p:spPr/>
        <p:txBody>
          <a:bodyPr/>
          <a:lstStyle/>
          <a:p>
            <a:endParaRPr/>
          </a:p>
        </p:txBody>
      </p:sp>
      <p:sp>
        <p:nvSpPr>
          <p:cNvPr id="5" name="Date Placeholder 4">
            <a:extLst>
              <a:ext uri="{FF2B5EF4-FFF2-40B4-BE49-F238E27FC236}">
                <a16:creationId xmlns:a16="http://schemas.microsoft.com/office/drawing/2014/main" id="{9AE2D22F-FCDC-4CE2-AEF3-A051DEC2BA6C}"/>
              </a:ext>
            </a:extLst>
          </p:cNvPr>
          <p:cNvSpPr>
            <a:spLocks noGrp="1"/>
          </p:cNvSpPr>
          <p:nvPr>
            <p:ph type="dt" idx="10"/>
          </p:nvPr>
        </p:nvSpPr>
        <p:spPr/>
        <p:txBody>
          <a:bodyPr/>
          <a:lstStyle/>
          <a:p>
            <a:endParaRPr/>
          </a:p>
        </p:txBody>
      </p:sp>
      <p:sp>
        <p:nvSpPr>
          <p:cNvPr id="6" name="Footer Placeholder 5">
            <a:extLst>
              <a:ext uri="{FF2B5EF4-FFF2-40B4-BE49-F238E27FC236}">
                <a16:creationId xmlns:a16="http://schemas.microsoft.com/office/drawing/2014/main" id="{E6C78AA1-A060-43F9-89C3-C4E48EECD3A0}"/>
              </a:ext>
            </a:extLst>
          </p:cNvPr>
          <p:cNvSpPr>
            <a:spLocks noGrp="1"/>
          </p:cNvSpPr>
          <p:nvPr>
            <p:ph type="ftr" idx="1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B18D4-E24D-41B3-BF7C-CFF7FDEAC1C2}"/>
              </a:ext>
            </a:extLst>
          </p:cNvPr>
          <p:cNvSpPr>
            <a:spLocks noGrp="1"/>
          </p:cNvSpPr>
          <p:nvPr>
            <p:ph type="title"/>
          </p:nvPr>
        </p:nvSpPr>
        <p:spPr/>
        <p:txBody>
          <a:bodyPr/>
          <a:lstStyle>
            <a:lvl1pPr>
              <a:buNone/>
              <a:defRPr/>
            </a:lvl1pPr>
          </a:lstStyle>
          <a:p>
            <a:endParaRPr/>
          </a:p>
        </p:txBody>
      </p:sp>
      <p:sp>
        <p:nvSpPr>
          <p:cNvPr id="3" name="Text Placeholder 2">
            <a:extLst>
              <a:ext uri="{FF2B5EF4-FFF2-40B4-BE49-F238E27FC236}">
                <a16:creationId xmlns:a16="http://schemas.microsoft.com/office/drawing/2014/main" id="{C329C904-FFD3-48AF-9BB7-6BBA9F195CDD}"/>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endParaRPr/>
          </a:p>
        </p:txBody>
      </p:sp>
      <p:sp>
        <p:nvSpPr>
          <p:cNvPr id="5" name="Text Placeholder 4">
            <a:extLst>
              <a:ext uri="{FF2B5EF4-FFF2-40B4-BE49-F238E27FC236}">
                <a16:creationId xmlns:a16="http://schemas.microsoft.com/office/drawing/2014/main" id="{07C63446-C4EF-43FD-A8C1-061738FA84FB}"/>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endParaRPr/>
          </a:p>
        </p:txBody>
      </p:sp>
      <p:sp>
        <p:nvSpPr>
          <p:cNvPr id="7" name="Date Placeholder 6">
            <a:extLst>
              <a:ext uri="{FF2B5EF4-FFF2-40B4-BE49-F238E27FC236}">
                <a16:creationId xmlns:a16="http://schemas.microsoft.com/office/drawing/2014/main" id="{8024886A-E381-4BC3-9F0F-9BF538628713}"/>
              </a:ext>
            </a:extLst>
          </p:cNvPr>
          <p:cNvSpPr>
            <a:spLocks noGrp="1"/>
          </p:cNvSpPr>
          <p:nvPr>
            <p:ph type="dt" idx="10"/>
          </p:nvPr>
        </p:nvSpPr>
        <p:spPr/>
        <p:txBody>
          <a:bodyPr/>
          <a:lstStyle/>
          <a:p>
            <a:endParaRPr/>
          </a:p>
        </p:txBody>
      </p:sp>
      <p:sp>
        <p:nvSpPr>
          <p:cNvPr id="8" name="Footer Placeholder 7">
            <a:extLst>
              <a:ext uri="{FF2B5EF4-FFF2-40B4-BE49-F238E27FC236}">
                <a16:creationId xmlns:a16="http://schemas.microsoft.com/office/drawing/2014/main" id="{762A6552-AFB8-4405-A100-1663EFA4E578}"/>
              </a:ext>
            </a:extLst>
          </p:cNvPr>
          <p:cNvSpPr>
            <a:spLocks noGrp="1"/>
          </p:cNvSpPr>
          <p:nvPr>
            <p:ph type="ftr" idx="1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59048-3B6D-4BA7-B0D0-57F7209AAB40}"/>
              </a:ext>
            </a:extLst>
          </p:cNvPr>
          <p:cNvSpPr>
            <a:spLocks noGrp="1"/>
          </p:cNvSpPr>
          <p:nvPr>
            <p:ph type="title"/>
          </p:nvPr>
        </p:nvSpPr>
        <p:spPr>
          <a:xfrm>
            <a:off x="722313" y="4406900"/>
            <a:ext cx="7772400" cy="1362075"/>
          </a:xfrm>
        </p:spPr>
        <p:txBody>
          <a:bodyPr anchor="t"/>
          <a:lstStyle>
            <a:lvl1pPr algn="l">
              <a:buNone/>
              <a:defRPr sz="4000" b="1"/>
            </a:lvl1pPr>
          </a:lstStyle>
          <a:p>
            <a:endParaRPr/>
          </a:p>
        </p:txBody>
      </p:sp>
      <p:sp>
        <p:nvSpPr>
          <p:cNvPr id="3" name="Text Placeholder 2">
            <a:extLst>
              <a:ext uri="{FF2B5EF4-FFF2-40B4-BE49-F238E27FC236}">
                <a16:creationId xmlns:a16="http://schemas.microsoft.com/office/drawing/2014/main" id="{DBCD315D-2DEB-40FC-8BB6-2F13894740B1}"/>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endParaRPr/>
          </a:p>
        </p:txBody>
      </p:sp>
      <p:sp>
        <p:nvSpPr>
          <p:cNvPr id="4" name="Date Placeholder 3">
            <a:extLst>
              <a:ext uri="{FF2B5EF4-FFF2-40B4-BE49-F238E27FC236}">
                <a16:creationId xmlns:a16="http://schemas.microsoft.com/office/drawing/2014/main" id="{E0BC2BDD-A5FE-4DC9-B178-9453C7EC865B}"/>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BCB0D9E9-1350-46F0-A4FD-AC18B7EE87B6}"/>
              </a:ext>
            </a:extLst>
          </p:cNvPr>
          <p:cNvSpPr>
            <a:spLocks noGrp="1"/>
          </p:cNvSpPr>
          <p:nvPr>
            <p:ph type="ftr" idx="1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980642-CA57-4576-B202-27F8EEC15E4D}"/>
              </a:ext>
            </a:extLst>
          </p:cNvPr>
          <p:cNvSpPr>
            <a:spLocks noGrp="1"/>
          </p:cNvSpPr>
          <p:nvPr>
            <p:ph type="dt" idx="10"/>
          </p:nvPr>
        </p:nvSpPr>
        <p:spPr/>
        <p:txBody>
          <a:bodyPr/>
          <a:lstStyle/>
          <a:p>
            <a:endParaRPr/>
          </a:p>
        </p:txBody>
      </p:sp>
      <p:sp>
        <p:nvSpPr>
          <p:cNvPr id="3" name="Footer Placeholder 2">
            <a:extLst>
              <a:ext uri="{FF2B5EF4-FFF2-40B4-BE49-F238E27FC236}">
                <a16:creationId xmlns:a16="http://schemas.microsoft.com/office/drawing/2014/main" id="{9CF998E4-C3C5-491F-8C00-E6FC05044EDD}"/>
              </a:ext>
            </a:extLst>
          </p:cNvPr>
          <p:cNvSpPr>
            <a:spLocks noGrp="1"/>
          </p:cNvSpPr>
          <p:nvPr>
            <p:ph type="ftr" idx="1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0EDBD-03A0-4245-B0AF-C9F29A24F851}"/>
              </a:ext>
            </a:extLst>
          </p:cNvPr>
          <p:cNvSpPr>
            <a:spLocks noGrp="1"/>
          </p:cNvSpPr>
          <p:nvPr>
            <p:ph type="title"/>
          </p:nvPr>
        </p:nvSpPr>
        <p:spPr/>
        <p:txBody>
          <a:bodyPr/>
          <a:lstStyle/>
          <a:p>
            <a:endParaRPr/>
          </a:p>
        </p:txBody>
      </p:sp>
      <p:sp>
        <p:nvSpPr>
          <p:cNvPr id="4" name="Date Placeholder 3">
            <a:extLst>
              <a:ext uri="{FF2B5EF4-FFF2-40B4-BE49-F238E27FC236}">
                <a16:creationId xmlns:a16="http://schemas.microsoft.com/office/drawing/2014/main" id="{7C8C9DFA-C2C1-4F4B-B05D-E94D0EAE99DD}"/>
              </a:ext>
            </a:extLst>
          </p:cNvPr>
          <p:cNvSpPr>
            <a:spLocks noGrp="1"/>
          </p:cNvSpPr>
          <p:nvPr>
            <p:ph type="dt" idx="10"/>
          </p:nvPr>
        </p:nvSpPr>
        <p:spPr/>
        <p:txBody>
          <a:bodyPr/>
          <a:lstStyle/>
          <a:p>
            <a:endParaRPr/>
          </a:p>
        </p:txBody>
      </p:sp>
      <p:sp>
        <p:nvSpPr>
          <p:cNvPr id="5" name="Footer Placeholder 4">
            <a:extLst>
              <a:ext uri="{FF2B5EF4-FFF2-40B4-BE49-F238E27FC236}">
                <a16:creationId xmlns:a16="http://schemas.microsoft.com/office/drawing/2014/main" id="{045870F0-225E-4BBB-95B5-DBD6E5DF745E}"/>
              </a:ext>
            </a:extLst>
          </p:cNvPr>
          <p:cNvSpPr>
            <a:spLocks noGrp="1"/>
          </p:cNvSpPr>
          <p:nvPr>
            <p:ph type="ftr" idx="1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276B4A-DCC5-4381-B3CF-39B527A85E34}"/>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endParaRPr/>
          </a:p>
        </p:txBody>
      </p:sp>
      <p:sp>
        <p:nvSpPr>
          <p:cNvPr id="3" name="Text Placeholder 2">
            <a:extLst>
              <a:ext uri="{FF2B5EF4-FFF2-40B4-BE49-F238E27FC236}">
                <a16:creationId xmlns:a16="http://schemas.microsoft.com/office/drawing/2014/main" id="{E74392DB-A5CC-40B6-925F-44C7EE6B5D4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endParaRPr/>
          </a:p>
        </p:txBody>
      </p:sp>
      <p:sp>
        <p:nvSpPr>
          <p:cNvPr id="4" name="Date Placeholder 3">
            <a:extLst>
              <a:ext uri="{FF2B5EF4-FFF2-40B4-BE49-F238E27FC236}">
                <a16:creationId xmlns:a16="http://schemas.microsoft.com/office/drawing/2014/main" id="{0389147D-02E1-4EB8-84F8-B9E12B8192A4}"/>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Footer Placeholder 4">
            <a:extLst>
              <a:ext uri="{FF2B5EF4-FFF2-40B4-BE49-F238E27FC236}">
                <a16:creationId xmlns:a16="http://schemas.microsoft.com/office/drawing/2014/main" id="{4B067611-2807-4E68-B2CE-6E2E8C2F556D}"/>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34E2E748-7605-4EBB-97DE-9D12C4B509E1}"/>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hyperlink" Target="https://campus-cafe-cs5001-production.up.railway.app/" TargetMode="External"/><Relationship Id="rId2" Type="http://schemas.openxmlformats.org/officeDocument/2006/relationships/notesSlide" Target="../notesSlides/notesSlide31.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1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hyperlink" Target="https://campus-cafe-cs5001-production.up.railway.app/" TargetMode="External"/><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1AB185-2591-497C-934C-D0947111C0F2}"/>
              </a:ext>
            </a:extLst>
          </p:cNvPr>
          <p:cNvSpPr>
            <a:spLocks noGrp="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7396B633-C4DA-4F5F-AA0C-0A92E67B0316}"/>
              </a:ext>
            </a:extLst>
          </p:cNvPr>
          <p:cNvSpPr>
            <a:spLocks noGrp="1"/>
          </p:cNvSpPr>
          <p:nvPr/>
        </p:nvSpPr>
        <p:spPr>
          <a:xfrm>
            <a:off x="5486400" y="0"/>
            <a:ext cx="6705295" cy="68580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A5753CA-F5F4-48D2-AC43-62DBF22A743E}"/>
              </a:ext>
            </a:extLst>
          </p:cNvPr>
          <p:cNvSpPr>
            <a:spLocks noGrp="1"/>
          </p:cNvSpPr>
          <p:nvPr/>
        </p:nvSpPr>
        <p:spPr>
          <a:xfrm>
            <a:off x="0" y="1828800"/>
            <a:ext cx="12191695" cy="914400"/>
          </a:xfrm>
          <a:prstGeom prst="rect">
            <a:avLst/>
          </a:prstGeom>
          <a:noFill/>
        </p:spPr>
        <p:txBody>
          <a:bodyPr wrap="square">
            <a:spAutoFit/>
          </a:bodyPr>
          <a:lstStyle/>
          <a:p>
            <a:pPr algn="ctr">
              <a:buNone/>
            </a:pPr>
            <a:r>
              <a:rPr sz="5600" b="1">
                <a:solidFill>
                  <a:srgbClr val="FFFFFF"/>
                </a:solidFill>
                <a:latin typeface="Calibri"/>
                <a:ea typeface="Calibri"/>
                <a:cs typeface="Calibri"/>
              </a:rPr>
              <a:t>CAMPUS CAFE</a:t>
            </a:r>
          </a:p>
        </p:txBody>
      </p:sp>
      <p:sp>
        <p:nvSpPr>
          <p:cNvPr id="5" name="TextBox 4">
            <a:extLst>
              <a:ext uri="{FF2B5EF4-FFF2-40B4-BE49-F238E27FC236}">
                <a16:creationId xmlns:a16="http://schemas.microsoft.com/office/drawing/2014/main" id="{8F87E63A-3486-4E11-A495-3F2398D46DBA}"/>
              </a:ext>
            </a:extLst>
          </p:cNvPr>
          <p:cNvSpPr>
            <a:spLocks noGrp="1"/>
          </p:cNvSpPr>
          <p:nvPr/>
        </p:nvSpPr>
        <p:spPr>
          <a:xfrm>
            <a:off x="0" y="2834640"/>
            <a:ext cx="12191695" cy="457200"/>
          </a:xfrm>
          <a:prstGeom prst="rect">
            <a:avLst/>
          </a:prstGeom>
          <a:noFill/>
        </p:spPr>
        <p:txBody>
          <a:bodyPr wrap="square">
            <a:spAutoFit/>
          </a:bodyPr>
          <a:lstStyle/>
          <a:p>
            <a:pPr algn="ctr">
              <a:buNone/>
            </a:pPr>
            <a:r>
              <a:rPr sz="2000" b="0">
                <a:solidFill>
                  <a:srgbClr val="CCDDEE"/>
                </a:solidFill>
                <a:latin typeface="Calibri"/>
                <a:ea typeface="Calibri"/>
                <a:cs typeface="Calibri"/>
              </a:rPr>
              <a:t>A Full-Stack Point-of-Sale System for Campus Dining</a:t>
            </a:r>
          </a:p>
        </p:txBody>
      </p:sp>
      <p:sp>
        <p:nvSpPr>
          <p:cNvPr id="6" name="Rectangle 5">
            <a:extLst>
              <a:ext uri="{FF2B5EF4-FFF2-40B4-BE49-F238E27FC236}">
                <a16:creationId xmlns:a16="http://schemas.microsoft.com/office/drawing/2014/main" id="{356B1E64-3DAD-4B8A-A797-28ECAF1A622E}"/>
              </a:ext>
            </a:extLst>
          </p:cNvPr>
          <p:cNvSpPr>
            <a:spLocks noGrp="1"/>
          </p:cNvSpPr>
          <p:nvPr/>
        </p:nvSpPr>
        <p:spPr>
          <a:xfrm>
            <a:off x="5029200" y="3566160"/>
            <a:ext cx="2103120" cy="27432"/>
          </a:xfrm>
          <a:prstGeom prst="rect">
            <a:avLst/>
          </a:prstGeom>
          <a:solidFill>
            <a:srgbClr val="6688B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BDC920-BEEF-4AD0-9C5E-E65160A7F069}"/>
              </a:ext>
            </a:extLst>
          </p:cNvPr>
          <p:cNvSpPr>
            <a:spLocks noGrp="1"/>
          </p:cNvSpPr>
          <p:nvPr/>
        </p:nvSpPr>
        <p:spPr>
          <a:xfrm>
            <a:off x="0" y="3931920"/>
            <a:ext cx="12191695" cy="731520"/>
          </a:xfrm>
          <a:prstGeom prst="rect">
            <a:avLst/>
          </a:prstGeom>
          <a:noFill/>
        </p:spPr>
        <p:txBody>
          <a:bodyPr wrap="square">
            <a:spAutoFit/>
          </a:bodyPr>
          <a:lstStyle/>
          <a:p>
            <a:pPr algn="ctr">
              <a:buNone/>
            </a:pPr>
            <a:r>
              <a:rPr sz="1500" b="0">
                <a:solidFill>
                  <a:srgbClr val="99BBDD"/>
                </a:solidFill>
                <a:latin typeface="Calibri"/>
                <a:ea typeface="Calibri"/>
                <a:cs typeface="Calibri"/>
              </a:rPr>
              <a:t>NEU 5001 — Final Project</a:t>
            </a:r>
            <a:br/>
            <a:r>
              <a:t>Built with Python  •  FastAPI  •  React</a:t>
            </a:r>
          </a:p>
        </p:txBody>
      </p:sp>
      <p:sp>
        <p:nvSpPr>
          <p:cNvPr id="8" name="TextBox 7">
            <a:extLst>
              <a:ext uri="{FF2B5EF4-FFF2-40B4-BE49-F238E27FC236}">
                <a16:creationId xmlns:a16="http://schemas.microsoft.com/office/drawing/2014/main" id="{DD43FB68-22B2-D151-0D93-4597A1280B01}"/>
              </a:ext>
            </a:extLst>
          </p:cNvPr>
          <p:cNvSpPr>
            <a:spLocks noGrp="1"/>
          </p:cNvSpPr>
          <p:nvPr/>
        </p:nvSpPr>
        <p:spPr>
          <a:xfrm>
            <a:off x="797442" y="5001768"/>
            <a:ext cx="3232298" cy="1200329"/>
          </a:xfrm>
          <a:prstGeom prst="rect">
            <a:avLst/>
          </a:prstGeom>
          <a:noFill/>
        </p:spPr>
        <p:txBody>
          <a:bodyPr wrap="square">
            <a:spAutoFit/>
          </a:bodyPr>
          <a:lstStyle/>
          <a:p>
            <a:r>
              <a:rPr b="1">
                <a:solidFill>
                  <a:schemeClr val="bg1"/>
                </a:solidFill>
              </a:rPr>
              <a:t>Presented by:</a:t>
            </a:r>
          </a:p>
          <a:p>
            <a:endParaRPr b="1">
              <a:solidFill>
                <a:schemeClr val="bg1"/>
              </a:solidFill>
            </a:endParaRPr>
          </a:p>
          <a:p>
            <a:r>
              <a:rPr>
                <a:solidFill>
                  <a:schemeClr val="bg1"/>
                </a:solidFill>
              </a:rPr>
              <a:t>Arja Sadhukhan</a:t>
            </a:r>
          </a:p>
          <a:p>
            <a:r>
              <a:rPr>
                <a:solidFill>
                  <a:schemeClr val="bg1"/>
                </a:solidFill>
              </a:rPr>
              <a:t>Yanyan Wang</a:t>
            </a:r>
          </a:p>
        </p:txBody>
      </p:sp>
    </p:spTree>
    <p:extLst>
      <p:ext uri="{BB962C8B-B14F-4D97-AF65-F5344CB8AC3E}">
        <p14:creationId xmlns:p14="http://schemas.microsoft.com/office/powerpoint/2010/main" val="521762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CE05AF-52EB-4E55-933F-092134A72FB8}"/>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7E8BAFE7-F9AA-43C9-9084-FFC6439304BE}"/>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Agenda</a:t>
            </a:r>
          </a:p>
        </p:txBody>
      </p:sp>
      <p:sp>
        <p:nvSpPr>
          <p:cNvPr id="4" name="TextBox 3">
            <a:extLst>
              <a:ext uri="{FF2B5EF4-FFF2-40B4-BE49-F238E27FC236}">
                <a16:creationId xmlns:a16="http://schemas.microsoft.com/office/drawing/2014/main" id="{76FF1E32-BD6E-46F9-91FD-78ABBD6CA29D}"/>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5" name="TextBox 4">
            <a:extLst>
              <a:ext uri="{FF2B5EF4-FFF2-40B4-BE49-F238E27FC236}">
                <a16:creationId xmlns:a16="http://schemas.microsoft.com/office/drawing/2014/main" id="{79439A30-D958-451C-97E6-F9BFEA74B1A1}"/>
              </a:ext>
            </a:extLst>
          </p:cNvPr>
          <p:cNvSpPr>
            <a:spLocks noGrp="1"/>
          </p:cNvSpPr>
          <p:nvPr/>
        </p:nvSpPr>
        <p:spPr>
          <a:xfrm>
            <a:off x="731520" y="1463040"/>
            <a:ext cx="9144000" cy="4572000"/>
          </a:xfrm>
          <a:prstGeom prst="rect">
            <a:avLst/>
          </a:prstGeom>
          <a:noFill/>
        </p:spPr>
        <p:txBody>
          <a:bodyPr wrap="square">
            <a:spAutoFit/>
          </a:bodyPr>
          <a:lstStyle/>
          <a:p>
            <a:pPr marL="274320" indent="-182880">
              <a:spcAft>
                <a:spcPts val="600"/>
              </a:spcAft>
              <a:buChar char="•"/>
            </a:pPr>
            <a:r>
              <a:rPr sz="1800" b="0">
                <a:solidFill>
                  <a:srgbClr val="4A5668"/>
                </a:solidFill>
                <a:latin typeface="Calibri"/>
                <a:ea typeface="Calibri"/>
                <a:cs typeface="Calibri"/>
              </a:rPr>
              <a:t>Project Overview — What we built and why</a:t>
            </a:r>
          </a:p>
          <a:p>
            <a:pPr marL="274320" indent="-182880">
              <a:spcAft>
                <a:spcPts val="600"/>
              </a:spcAft>
              <a:buChar char="•"/>
            </a:pPr>
            <a:r>
              <a:rPr sz="1800" b="0">
                <a:solidFill>
                  <a:srgbClr val="4A5668"/>
                </a:solidFill>
                <a:latin typeface="Calibri"/>
                <a:ea typeface="Calibri"/>
                <a:cs typeface="Calibri"/>
              </a:rPr>
              <a:t>System Architecture — How the pieces fit together</a:t>
            </a:r>
          </a:p>
          <a:p>
            <a:pPr marL="274320" indent="-182880">
              <a:spcAft>
                <a:spcPts val="600"/>
              </a:spcAft>
              <a:buChar char="•"/>
            </a:pPr>
            <a:r>
              <a:rPr sz="1800" b="0">
                <a:solidFill>
                  <a:srgbClr val="4A5668"/>
                </a:solidFill>
                <a:latin typeface="Calibri"/>
                <a:ea typeface="Calibri"/>
                <a:cs typeface="Calibri"/>
              </a:rPr>
              <a:t>The Main Function — CLI application flow and thought process</a:t>
            </a:r>
          </a:p>
          <a:p>
            <a:pPr marL="274320" indent="-182880">
              <a:spcAft>
                <a:spcPts val="600"/>
              </a:spcAft>
              <a:buChar char="•"/>
            </a:pPr>
            <a:r>
              <a:rPr sz="1800" b="0">
                <a:solidFill>
                  <a:srgbClr val="4A5668"/>
                </a:solidFill>
                <a:latin typeface="Calibri"/>
                <a:ea typeface="Calibri"/>
                <a:cs typeface="Calibri"/>
              </a:rPr>
              <a:t>Class Design Deep Dive — Menu, Order, Inventory, Customer, Staff</a:t>
            </a:r>
          </a:p>
          <a:p>
            <a:pPr marL="274320" indent="-182880">
              <a:spcAft>
                <a:spcPts val="600"/>
              </a:spcAft>
              <a:buChar char="•"/>
            </a:pPr>
            <a:r>
              <a:rPr sz="1800" b="0">
                <a:solidFill>
                  <a:srgbClr val="4A5668"/>
                </a:solidFill>
                <a:latin typeface="Calibri"/>
                <a:ea typeface="Calibri"/>
                <a:cs typeface="Calibri"/>
              </a:rPr>
              <a:t>Data Persistence — Excel-based tracking system (Special Feature)</a:t>
            </a:r>
          </a:p>
          <a:p>
            <a:pPr marL="274320" indent="-182880">
              <a:spcAft>
                <a:spcPts val="600"/>
              </a:spcAft>
              <a:buChar char="•"/>
            </a:pPr>
            <a:r>
              <a:rPr sz="1800" b="0">
                <a:solidFill>
                  <a:srgbClr val="4A5668"/>
                </a:solidFill>
                <a:latin typeface="Calibri"/>
                <a:ea typeface="Calibri"/>
                <a:cs typeface="Calibri"/>
              </a:rPr>
              <a:t>Frontend Application — React web interface</a:t>
            </a:r>
          </a:p>
          <a:p>
            <a:pPr marL="274320" indent="-182880">
              <a:spcAft>
                <a:spcPts val="600"/>
              </a:spcAft>
              <a:buChar char="•"/>
            </a:pPr>
            <a:r>
              <a:rPr sz="1800" b="0">
                <a:solidFill>
                  <a:srgbClr val="4A5668"/>
                </a:solidFill>
                <a:latin typeface="Calibri"/>
                <a:ea typeface="Calibri"/>
                <a:cs typeface="Calibri"/>
              </a:rPr>
              <a:t>Live Demo &amp; Q&amp;A</a:t>
            </a:r>
          </a:p>
        </p:txBody>
      </p:sp>
    </p:spTree>
    <p:extLst>
      <p:ext uri="{BB962C8B-B14F-4D97-AF65-F5344CB8AC3E}">
        <p14:creationId xmlns:p14="http://schemas.microsoft.com/office/powerpoint/2010/main" val="1756092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E5EB20-5F45-4594-A208-1134B5D6C4AC}"/>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F27DCFF-B806-469E-A76F-4F30F52EB36D}"/>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Project Overview</a:t>
            </a:r>
          </a:p>
        </p:txBody>
      </p:sp>
      <p:sp>
        <p:nvSpPr>
          <p:cNvPr id="4" name="TextBox 3">
            <a:extLst>
              <a:ext uri="{FF2B5EF4-FFF2-40B4-BE49-F238E27FC236}">
                <a16:creationId xmlns:a16="http://schemas.microsoft.com/office/drawing/2014/main" id="{3DC204F1-22A8-4EA2-9941-9D39D79B0CCE}"/>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What is Campus Cafe?</a:t>
            </a:r>
          </a:p>
        </p:txBody>
      </p:sp>
      <p:sp>
        <p:nvSpPr>
          <p:cNvPr id="5" name="TextBox 4">
            <a:extLst>
              <a:ext uri="{FF2B5EF4-FFF2-40B4-BE49-F238E27FC236}">
                <a16:creationId xmlns:a16="http://schemas.microsoft.com/office/drawing/2014/main" id="{669EFF94-E5EA-4BFD-B2C7-C198431F80B1}"/>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CBBF535B-3A86-490B-8829-3354F447119F}"/>
              </a:ext>
            </a:extLst>
          </p:cNvPr>
          <p:cNvSpPr>
            <a:spLocks noGrp="1"/>
          </p:cNvSpPr>
          <p:nvPr/>
        </p:nvSpPr>
        <p:spPr>
          <a:xfrm>
            <a:off x="548640" y="1371600"/>
            <a:ext cx="10972800" cy="548640"/>
          </a:xfrm>
          <a:prstGeom prst="rect">
            <a:avLst/>
          </a:prstGeom>
          <a:noFill/>
        </p:spPr>
        <p:txBody>
          <a:bodyPr wrap="square">
            <a:spAutoFit/>
          </a:bodyPr>
          <a:lstStyle/>
          <a:p>
            <a:pPr algn="l">
              <a:buNone/>
            </a:pPr>
            <a:r>
              <a:rPr sz="1500" b="0">
                <a:solidFill>
                  <a:srgbClr val="4A5668"/>
                </a:solidFill>
                <a:latin typeface="Calibri"/>
                <a:ea typeface="Calibri"/>
                <a:cs typeface="Calibri"/>
              </a:rPr>
              <a:t>Campus Cafe is a point-of-sale (POS) system for a campus dining environment, supporting customer ordering and staff inventory management. It runs on the terminal AND as a modern web application.</a:t>
            </a:r>
          </a:p>
        </p:txBody>
      </p:sp>
      <p:sp>
        <p:nvSpPr>
          <p:cNvPr id="7" name="Rounded Rectangle 6">
            <a:extLst>
              <a:ext uri="{FF2B5EF4-FFF2-40B4-BE49-F238E27FC236}">
                <a16:creationId xmlns:a16="http://schemas.microsoft.com/office/drawing/2014/main" id="{22AD617B-EA6C-4D32-BCE3-7788BEC19F4E}"/>
              </a:ext>
            </a:extLst>
          </p:cNvPr>
          <p:cNvSpPr>
            <a:spLocks noGrp="1"/>
          </p:cNvSpPr>
          <p:nvPr/>
        </p:nvSpPr>
        <p:spPr>
          <a:xfrm>
            <a:off x="548640" y="2194560"/>
            <a:ext cx="5303520" cy="182880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ECBEB744-638C-43FC-B5D3-541F06639966}"/>
              </a:ext>
            </a:extLst>
          </p:cNvPr>
          <p:cNvSpPr>
            <a:spLocks noGrp="1"/>
          </p:cNvSpPr>
          <p:nvPr/>
        </p:nvSpPr>
        <p:spPr>
          <a:xfrm>
            <a:off x="548640" y="2286000"/>
            <a:ext cx="54864" cy="1645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DA50BD-C6A7-464C-9EDD-A70BD1D10566}"/>
              </a:ext>
            </a:extLst>
          </p:cNvPr>
          <p:cNvSpPr>
            <a:spLocks noGrp="1"/>
          </p:cNvSpPr>
          <p:nvPr/>
        </p:nvSpPr>
        <p:spPr>
          <a:xfrm>
            <a:off x="731520" y="228600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Customer Features</a:t>
            </a:r>
          </a:p>
        </p:txBody>
      </p:sp>
      <p:sp>
        <p:nvSpPr>
          <p:cNvPr id="10" name="TextBox 9">
            <a:extLst>
              <a:ext uri="{FF2B5EF4-FFF2-40B4-BE49-F238E27FC236}">
                <a16:creationId xmlns:a16="http://schemas.microsoft.com/office/drawing/2014/main" id="{34A99BE7-6D1B-4013-84D9-17CA8087EE38}"/>
              </a:ext>
            </a:extLst>
          </p:cNvPr>
          <p:cNvSpPr>
            <a:spLocks noGrp="1"/>
          </p:cNvSpPr>
          <p:nvPr/>
        </p:nvSpPr>
        <p:spPr>
          <a:xfrm>
            <a:off x="731520" y="2606040"/>
            <a:ext cx="5029200" cy="137160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Browse menu by category (Salads, Drinks, Desserts, Sandwiches)</a:t>
            </a:r>
          </a:p>
          <a:p>
            <a:pPr marL="274320" indent="-182880">
              <a:spcAft>
                <a:spcPts val="600"/>
              </a:spcAft>
              <a:buChar char="•"/>
            </a:pPr>
            <a:r>
              <a:rPr sz="1200" b="0">
                <a:solidFill>
                  <a:srgbClr val="4A5668"/>
                </a:solidFill>
                <a:latin typeface="Calibri"/>
                <a:ea typeface="Calibri"/>
                <a:cs typeface="Calibri"/>
              </a:rPr>
              <a:t>Add / remove items from cart with quantity control</a:t>
            </a:r>
          </a:p>
          <a:p>
            <a:pPr marL="274320" indent="-182880">
              <a:spcAft>
                <a:spcPts val="600"/>
              </a:spcAft>
              <a:buChar char="•"/>
            </a:pPr>
            <a:r>
              <a:rPr sz="1200" b="0">
                <a:solidFill>
                  <a:srgbClr val="4A5668"/>
                </a:solidFill>
                <a:latin typeface="Calibri"/>
                <a:ea typeface="Calibri"/>
                <a:cs typeface="Calibri"/>
              </a:rPr>
              <a:t>Daily special with automatic 20% discount</a:t>
            </a:r>
          </a:p>
          <a:p>
            <a:pPr marL="274320" indent="-182880">
              <a:spcAft>
                <a:spcPts val="600"/>
              </a:spcAft>
              <a:buChar char="•"/>
            </a:pPr>
            <a:r>
              <a:rPr sz="1200" b="0">
                <a:solidFill>
                  <a:srgbClr val="4A5668"/>
                </a:solidFill>
                <a:latin typeface="Calibri"/>
                <a:ea typeface="Calibri"/>
                <a:cs typeface="Calibri"/>
              </a:rPr>
              <a:t>Checkout with loyalty points &amp; printed receipt</a:t>
            </a:r>
          </a:p>
        </p:txBody>
      </p:sp>
      <p:sp>
        <p:nvSpPr>
          <p:cNvPr id="11" name="Rounded Rectangle 10">
            <a:extLst>
              <a:ext uri="{FF2B5EF4-FFF2-40B4-BE49-F238E27FC236}">
                <a16:creationId xmlns:a16="http://schemas.microsoft.com/office/drawing/2014/main" id="{CDCB4322-695E-41DF-A914-C4FC10BC6A98}"/>
              </a:ext>
            </a:extLst>
          </p:cNvPr>
          <p:cNvSpPr>
            <a:spLocks noGrp="1"/>
          </p:cNvSpPr>
          <p:nvPr/>
        </p:nvSpPr>
        <p:spPr>
          <a:xfrm>
            <a:off x="6217920" y="2194560"/>
            <a:ext cx="5303520" cy="182880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dirty="0"/>
          </a:p>
        </p:txBody>
      </p:sp>
      <p:sp>
        <p:nvSpPr>
          <p:cNvPr id="12" name="Rectangle 11">
            <a:extLst>
              <a:ext uri="{FF2B5EF4-FFF2-40B4-BE49-F238E27FC236}">
                <a16:creationId xmlns:a16="http://schemas.microsoft.com/office/drawing/2014/main" id="{ECAF0131-1C67-4CA9-9E57-4BBF570E4D0C}"/>
              </a:ext>
            </a:extLst>
          </p:cNvPr>
          <p:cNvSpPr>
            <a:spLocks noGrp="1"/>
          </p:cNvSpPr>
          <p:nvPr/>
        </p:nvSpPr>
        <p:spPr>
          <a:xfrm>
            <a:off x="6217920" y="2286000"/>
            <a:ext cx="54864" cy="1645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B29D04E-F8D7-43ED-939A-0FAFE010EEF4}"/>
              </a:ext>
            </a:extLst>
          </p:cNvPr>
          <p:cNvSpPr>
            <a:spLocks noGrp="1"/>
          </p:cNvSpPr>
          <p:nvPr/>
        </p:nvSpPr>
        <p:spPr>
          <a:xfrm>
            <a:off x="6400800" y="228600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Staff Features</a:t>
            </a:r>
          </a:p>
        </p:txBody>
      </p:sp>
      <p:sp>
        <p:nvSpPr>
          <p:cNvPr id="14" name="TextBox 13">
            <a:extLst>
              <a:ext uri="{FF2B5EF4-FFF2-40B4-BE49-F238E27FC236}">
                <a16:creationId xmlns:a16="http://schemas.microsoft.com/office/drawing/2014/main" id="{6321E856-C242-47DA-A34A-7AAC471C0890}"/>
              </a:ext>
            </a:extLst>
          </p:cNvPr>
          <p:cNvSpPr>
            <a:spLocks noGrp="1"/>
          </p:cNvSpPr>
          <p:nvPr/>
        </p:nvSpPr>
        <p:spPr>
          <a:xfrm>
            <a:off x="6400800" y="2606040"/>
            <a:ext cx="5029200" cy="1371600"/>
          </a:xfrm>
          <a:prstGeom prst="rect">
            <a:avLst/>
          </a:prstGeom>
          <a:noFill/>
        </p:spPr>
        <p:txBody>
          <a:bodyPr wrap="square">
            <a:spAutoFit/>
          </a:bodyPr>
          <a:lstStyle/>
          <a:p>
            <a:pPr marL="274320" indent="-182880">
              <a:spcAft>
                <a:spcPts val="600"/>
              </a:spcAft>
              <a:buChar char="•"/>
            </a:pPr>
            <a:r>
              <a:rPr sz="1200" b="0" dirty="0">
                <a:solidFill>
                  <a:srgbClr val="4A5668"/>
                </a:solidFill>
                <a:latin typeface="Calibri"/>
                <a:ea typeface="Calibri"/>
                <a:cs typeface="Calibri"/>
              </a:rPr>
              <a:t>Secure login with ID + password</a:t>
            </a:r>
          </a:p>
          <a:p>
            <a:pPr marL="274320" indent="-182880">
              <a:spcAft>
                <a:spcPts val="600"/>
              </a:spcAft>
              <a:buChar char="•"/>
            </a:pPr>
            <a:r>
              <a:rPr sz="1200" b="0" dirty="0">
                <a:solidFill>
                  <a:srgbClr val="4A5668"/>
                </a:solidFill>
                <a:latin typeface="Calibri"/>
                <a:ea typeface="Calibri"/>
                <a:cs typeface="Calibri"/>
              </a:rPr>
              <a:t>View real-time inventory levels</a:t>
            </a:r>
          </a:p>
          <a:p>
            <a:pPr marL="274320" indent="-182880">
              <a:spcAft>
                <a:spcPts val="600"/>
              </a:spcAft>
              <a:buChar char="•"/>
            </a:pPr>
            <a:r>
              <a:rPr sz="1200" b="0" dirty="0">
                <a:solidFill>
                  <a:srgbClr val="4A5668"/>
                </a:solidFill>
                <a:latin typeface="Calibri"/>
                <a:ea typeface="Calibri"/>
                <a:cs typeface="Calibri"/>
              </a:rPr>
              <a:t>Restock items in bulk</a:t>
            </a:r>
          </a:p>
          <a:p>
            <a:pPr marL="274320" indent="-182880">
              <a:spcAft>
                <a:spcPts val="600"/>
              </a:spcAft>
              <a:buChar char="•"/>
            </a:pPr>
            <a:r>
              <a:rPr sz="1200" b="0" dirty="0">
                <a:solidFill>
                  <a:srgbClr val="4A5668"/>
                </a:solidFill>
                <a:latin typeface="Calibri"/>
                <a:ea typeface="Calibri"/>
                <a:cs typeface="Calibri"/>
              </a:rPr>
              <a:t>Session summary on quit (all orders + total revenue)</a:t>
            </a:r>
            <a:endParaRPr lang="en-US" sz="1200" b="0" dirty="0">
              <a:solidFill>
                <a:srgbClr val="4A5668"/>
              </a:solidFill>
              <a:latin typeface="Calibri"/>
              <a:ea typeface="Calibri"/>
              <a:cs typeface="Calibri"/>
            </a:endParaRPr>
          </a:p>
          <a:p>
            <a:pPr marL="274320" indent="-182880">
              <a:spcAft>
                <a:spcPts val="600"/>
              </a:spcAft>
              <a:buChar char="•"/>
            </a:pPr>
            <a:r>
              <a:rPr lang="en-US" sz="1200" b="0" dirty="0">
                <a:solidFill>
                  <a:srgbClr val="4A5668"/>
                </a:solidFill>
                <a:latin typeface="Calibri"/>
                <a:ea typeface="Calibri"/>
                <a:cs typeface="Calibri"/>
              </a:rPr>
              <a:t>Administrator features (Add/Update/Delete Staff </a:t>
            </a:r>
            <a:r>
              <a:rPr lang="en-US" sz="1200" dirty="0">
                <a:solidFill>
                  <a:srgbClr val="4A5668"/>
                </a:solidFill>
                <a:latin typeface="Calibri"/>
                <a:ea typeface="Calibri"/>
                <a:cs typeface="Calibri"/>
              </a:rPr>
              <a:t>information)</a:t>
            </a:r>
            <a:endParaRPr sz="1200" b="0" dirty="0">
              <a:solidFill>
                <a:srgbClr val="4A5668"/>
              </a:solidFill>
              <a:latin typeface="Calibri"/>
              <a:ea typeface="Calibri"/>
              <a:cs typeface="Calibri"/>
            </a:endParaRPr>
          </a:p>
        </p:txBody>
      </p:sp>
      <p:sp>
        <p:nvSpPr>
          <p:cNvPr id="15" name="Rounded Rectangle 14">
            <a:extLst>
              <a:ext uri="{FF2B5EF4-FFF2-40B4-BE49-F238E27FC236}">
                <a16:creationId xmlns:a16="http://schemas.microsoft.com/office/drawing/2014/main" id="{9A56ABC0-374D-460A-8B69-338F4A239355}"/>
              </a:ext>
            </a:extLst>
          </p:cNvPr>
          <p:cNvSpPr>
            <a:spLocks noGrp="1"/>
          </p:cNvSpPr>
          <p:nvPr/>
        </p:nvSpPr>
        <p:spPr>
          <a:xfrm>
            <a:off x="548640" y="4297680"/>
            <a:ext cx="5303520" cy="182880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3EAE3316-A133-4F0F-8C97-9D1AC125D1AB}"/>
              </a:ext>
            </a:extLst>
          </p:cNvPr>
          <p:cNvSpPr>
            <a:spLocks noGrp="1"/>
          </p:cNvSpPr>
          <p:nvPr/>
        </p:nvSpPr>
        <p:spPr>
          <a:xfrm>
            <a:off x="548640" y="4389120"/>
            <a:ext cx="54864" cy="1645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B5F229-ADC8-4BBD-BDC8-CB45AA2C124D}"/>
              </a:ext>
            </a:extLst>
          </p:cNvPr>
          <p:cNvSpPr>
            <a:spLocks noGrp="1"/>
          </p:cNvSpPr>
          <p:nvPr/>
        </p:nvSpPr>
        <p:spPr>
          <a:xfrm>
            <a:off x="731520" y="438912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Dual Interface</a:t>
            </a:r>
          </a:p>
        </p:txBody>
      </p:sp>
      <p:sp>
        <p:nvSpPr>
          <p:cNvPr id="18" name="TextBox 17">
            <a:extLst>
              <a:ext uri="{FF2B5EF4-FFF2-40B4-BE49-F238E27FC236}">
                <a16:creationId xmlns:a16="http://schemas.microsoft.com/office/drawing/2014/main" id="{34F46097-D5D4-4BB9-B535-A3AB06B2754E}"/>
              </a:ext>
            </a:extLst>
          </p:cNvPr>
          <p:cNvSpPr>
            <a:spLocks noGrp="1"/>
          </p:cNvSpPr>
          <p:nvPr/>
        </p:nvSpPr>
        <p:spPr>
          <a:xfrm>
            <a:off x="731520" y="4709160"/>
            <a:ext cx="5029200" cy="137160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Terminal-based CLI application (main.py)</a:t>
            </a:r>
          </a:p>
          <a:p>
            <a:pPr marL="274320" indent="-182880">
              <a:spcAft>
                <a:spcPts val="600"/>
              </a:spcAft>
              <a:buChar char="•"/>
            </a:pPr>
            <a:r>
              <a:rPr sz="1200" b="0">
                <a:solidFill>
                  <a:srgbClr val="4A5668"/>
                </a:solidFill>
                <a:latin typeface="Calibri"/>
                <a:ea typeface="Calibri"/>
                <a:cs typeface="Calibri"/>
              </a:rPr>
              <a:t>React web application (frontend/)</a:t>
            </a:r>
          </a:p>
          <a:p>
            <a:pPr marL="274320" indent="-182880">
              <a:spcAft>
                <a:spcPts val="600"/>
              </a:spcAft>
              <a:buChar char="•"/>
            </a:pPr>
            <a:r>
              <a:rPr sz="1200" b="0">
                <a:solidFill>
                  <a:srgbClr val="4A5668"/>
                </a:solidFill>
                <a:latin typeface="Calibri"/>
                <a:ea typeface="Calibri"/>
                <a:cs typeface="Calibri"/>
              </a:rPr>
              <a:t>Both interfaces share the exact same backend classes</a:t>
            </a:r>
          </a:p>
        </p:txBody>
      </p:sp>
      <p:sp>
        <p:nvSpPr>
          <p:cNvPr id="19" name="Rounded Rectangle 18">
            <a:extLst>
              <a:ext uri="{FF2B5EF4-FFF2-40B4-BE49-F238E27FC236}">
                <a16:creationId xmlns:a16="http://schemas.microsoft.com/office/drawing/2014/main" id="{B7601353-B5E4-4CFD-A687-7B6DB36292F8}"/>
              </a:ext>
            </a:extLst>
          </p:cNvPr>
          <p:cNvSpPr>
            <a:spLocks noGrp="1"/>
          </p:cNvSpPr>
          <p:nvPr/>
        </p:nvSpPr>
        <p:spPr>
          <a:xfrm>
            <a:off x="6217920" y="4297680"/>
            <a:ext cx="5303520" cy="182880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458D6BF9-8C45-4804-8956-89E06A86CF57}"/>
              </a:ext>
            </a:extLst>
          </p:cNvPr>
          <p:cNvSpPr>
            <a:spLocks noGrp="1"/>
          </p:cNvSpPr>
          <p:nvPr/>
        </p:nvSpPr>
        <p:spPr>
          <a:xfrm>
            <a:off x="6217920" y="4389120"/>
            <a:ext cx="54864" cy="1645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B21A514-8B39-468D-B143-9B709F24C16B}"/>
              </a:ext>
            </a:extLst>
          </p:cNvPr>
          <p:cNvSpPr>
            <a:spLocks noGrp="1"/>
          </p:cNvSpPr>
          <p:nvPr/>
        </p:nvSpPr>
        <p:spPr>
          <a:xfrm>
            <a:off x="6400800" y="438912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Data Persistence</a:t>
            </a:r>
          </a:p>
        </p:txBody>
      </p:sp>
      <p:sp>
        <p:nvSpPr>
          <p:cNvPr id="22" name="TextBox 21">
            <a:extLst>
              <a:ext uri="{FF2B5EF4-FFF2-40B4-BE49-F238E27FC236}">
                <a16:creationId xmlns:a16="http://schemas.microsoft.com/office/drawing/2014/main" id="{3D2E5E98-F219-42D3-AA4A-569EBFC23ADE}"/>
              </a:ext>
            </a:extLst>
          </p:cNvPr>
          <p:cNvSpPr>
            <a:spLocks noGrp="1"/>
          </p:cNvSpPr>
          <p:nvPr/>
        </p:nvSpPr>
        <p:spPr>
          <a:xfrm>
            <a:off x="6400800" y="4709160"/>
            <a:ext cx="5029200" cy="137160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All data stored in Excel (.xlsx) files</a:t>
            </a:r>
          </a:p>
          <a:p>
            <a:pPr marL="274320" indent="-182880">
              <a:spcAft>
                <a:spcPts val="600"/>
              </a:spcAft>
              <a:buChar char="•"/>
            </a:pPr>
            <a:r>
              <a:rPr sz="1200" b="0">
                <a:solidFill>
                  <a:srgbClr val="4A5668"/>
                </a:solidFill>
                <a:latin typeface="Calibri"/>
                <a:ea typeface="Calibri"/>
                <a:cs typeface="Calibri"/>
              </a:rPr>
              <a:t>Orders, customers, inventory, staff records</a:t>
            </a:r>
          </a:p>
          <a:p>
            <a:pPr marL="274320" indent="-182880">
              <a:spcAft>
                <a:spcPts val="600"/>
              </a:spcAft>
              <a:buChar char="•"/>
            </a:pPr>
            <a:r>
              <a:rPr sz="1200" b="0">
                <a:solidFill>
                  <a:srgbClr val="4A5668"/>
                </a:solidFill>
                <a:latin typeface="Calibri"/>
                <a:ea typeface="Calibri"/>
                <a:cs typeface="Calibri"/>
              </a:rPr>
              <a:t>Loyalty points accumulate across sessions</a:t>
            </a:r>
          </a:p>
        </p:txBody>
      </p:sp>
    </p:spTree>
    <p:extLst>
      <p:ext uri="{BB962C8B-B14F-4D97-AF65-F5344CB8AC3E}">
        <p14:creationId xmlns:p14="http://schemas.microsoft.com/office/powerpoint/2010/main" val="805569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25F3A3-F0EC-4828-86E9-EF79D23C3DE4}"/>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B5BA722D-06AF-4E56-BD78-9B1F5F8D21CF}"/>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System Architecture</a:t>
            </a:r>
          </a:p>
        </p:txBody>
      </p:sp>
      <p:sp>
        <p:nvSpPr>
          <p:cNvPr id="4" name="TextBox 3">
            <a:extLst>
              <a:ext uri="{FF2B5EF4-FFF2-40B4-BE49-F238E27FC236}">
                <a16:creationId xmlns:a16="http://schemas.microsoft.com/office/drawing/2014/main" id="{47697457-2D6E-4B99-8049-129A79A35848}"/>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How the pieces fit together</a:t>
            </a:r>
          </a:p>
        </p:txBody>
      </p:sp>
      <p:sp>
        <p:nvSpPr>
          <p:cNvPr id="5" name="TextBox 4">
            <a:extLst>
              <a:ext uri="{FF2B5EF4-FFF2-40B4-BE49-F238E27FC236}">
                <a16:creationId xmlns:a16="http://schemas.microsoft.com/office/drawing/2014/main" id="{FA65D7EB-6B6E-4F75-A2E0-A39869EBDD88}"/>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ounded Rectangle 5">
            <a:extLst>
              <a:ext uri="{FF2B5EF4-FFF2-40B4-BE49-F238E27FC236}">
                <a16:creationId xmlns:a16="http://schemas.microsoft.com/office/drawing/2014/main" id="{CD1EEC4D-E626-4542-B9E4-E30E247D8E4A}"/>
              </a:ext>
            </a:extLst>
          </p:cNvPr>
          <p:cNvSpPr>
            <a:spLocks noGrp="1"/>
          </p:cNvSpPr>
          <p:nvPr/>
        </p:nvSpPr>
        <p:spPr>
          <a:xfrm>
            <a:off x="274320" y="1828800"/>
            <a:ext cx="2286000" cy="1097280"/>
          </a:xfrm>
          <a:prstGeom prst="roundRect">
            <a:avLst/>
          </a:prstGeom>
          <a:solidFill>
            <a:srgbClr val="EBF4FF"/>
          </a:solidFill>
          <a:ln w="25400">
            <a:solidFill>
              <a:srgbClr val="3182C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094792-0EE6-4811-9281-94FD67025111}"/>
              </a:ext>
            </a:extLst>
          </p:cNvPr>
          <p:cNvSpPr>
            <a:spLocks noGrp="1"/>
          </p:cNvSpPr>
          <p:nvPr/>
        </p:nvSpPr>
        <p:spPr>
          <a:xfrm>
            <a:off x="411480" y="1920240"/>
            <a:ext cx="2011680" cy="320040"/>
          </a:xfrm>
          <a:prstGeom prst="rect">
            <a:avLst/>
          </a:prstGeom>
          <a:noFill/>
        </p:spPr>
        <p:txBody>
          <a:bodyPr wrap="square">
            <a:spAutoFit/>
          </a:bodyPr>
          <a:lstStyle/>
          <a:p>
            <a:pPr algn="ctr">
              <a:buNone/>
            </a:pPr>
            <a:r>
              <a:rPr sz="1300" b="1">
                <a:solidFill>
                  <a:srgbClr val="1A365D"/>
                </a:solidFill>
                <a:latin typeface="Calibri"/>
                <a:ea typeface="Calibri"/>
                <a:cs typeface="Calibri"/>
              </a:rPr>
              <a:t>Terminal CLI</a:t>
            </a:r>
          </a:p>
        </p:txBody>
      </p:sp>
      <p:sp>
        <p:nvSpPr>
          <p:cNvPr id="8" name="TextBox 7">
            <a:extLst>
              <a:ext uri="{FF2B5EF4-FFF2-40B4-BE49-F238E27FC236}">
                <a16:creationId xmlns:a16="http://schemas.microsoft.com/office/drawing/2014/main" id="{3F873DE8-91BC-499C-A507-E28371B5D561}"/>
              </a:ext>
            </a:extLst>
          </p:cNvPr>
          <p:cNvSpPr>
            <a:spLocks noGrp="1"/>
          </p:cNvSpPr>
          <p:nvPr/>
        </p:nvSpPr>
        <p:spPr>
          <a:xfrm>
            <a:off x="411480" y="2240280"/>
            <a:ext cx="2011680" cy="548640"/>
          </a:xfrm>
          <a:prstGeom prst="rect">
            <a:avLst/>
          </a:prstGeom>
          <a:noFill/>
        </p:spPr>
        <p:txBody>
          <a:bodyPr wrap="square">
            <a:spAutoFit/>
          </a:bodyPr>
          <a:lstStyle/>
          <a:p>
            <a:pPr algn="ctr">
              <a:buNone/>
            </a:pPr>
            <a:r>
              <a:rPr sz="1000" b="0">
                <a:solidFill>
                  <a:srgbClr val="718096"/>
                </a:solidFill>
                <a:latin typeface="Calibri"/>
                <a:ea typeface="Calibri"/>
                <a:cs typeface="Calibri"/>
              </a:rPr>
              <a:t>main.py</a:t>
            </a:r>
          </a:p>
        </p:txBody>
      </p:sp>
      <p:sp>
        <p:nvSpPr>
          <p:cNvPr id="9" name="Rounded Rectangle 8">
            <a:extLst>
              <a:ext uri="{FF2B5EF4-FFF2-40B4-BE49-F238E27FC236}">
                <a16:creationId xmlns:a16="http://schemas.microsoft.com/office/drawing/2014/main" id="{AB229E3F-C35E-46BF-91F3-D7D6009FAA48}"/>
              </a:ext>
            </a:extLst>
          </p:cNvPr>
          <p:cNvSpPr>
            <a:spLocks noGrp="1"/>
          </p:cNvSpPr>
          <p:nvPr/>
        </p:nvSpPr>
        <p:spPr>
          <a:xfrm>
            <a:off x="3017520" y="1828800"/>
            <a:ext cx="2286000" cy="1097280"/>
          </a:xfrm>
          <a:prstGeom prst="roundRect">
            <a:avLst/>
          </a:prstGeom>
          <a:solidFill>
            <a:srgbClr val="2B6CB0"/>
          </a:solidFill>
          <a:ln w="25400">
            <a:solidFill>
              <a:srgbClr val="3182C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01F99B8D-0B13-4D11-97F2-6449E93FE99C}"/>
              </a:ext>
            </a:extLst>
          </p:cNvPr>
          <p:cNvSpPr>
            <a:spLocks noGrp="1"/>
          </p:cNvSpPr>
          <p:nvPr/>
        </p:nvSpPr>
        <p:spPr>
          <a:xfrm>
            <a:off x="3154680" y="1920240"/>
            <a:ext cx="2011680" cy="320040"/>
          </a:xfrm>
          <a:prstGeom prst="rect">
            <a:avLst/>
          </a:prstGeom>
          <a:noFill/>
        </p:spPr>
        <p:txBody>
          <a:bodyPr wrap="square">
            <a:spAutoFit/>
          </a:bodyPr>
          <a:lstStyle/>
          <a:p>
            <a:pPr algn="ctr">
              <a:buNone/>
            </a:pPr>
            <a:r>
              <a:rPr sz="1300" b="1">
                <a:solidFill>
                  <a:srgbClr val="FFFFFF"/>
                </a:solidFill>
                <a:latin typeface="Calibri"/>
                <a:ea typeface="Calibri"/>
                <a:cs typeface="Calibri"/>
              </a:rPr>
              <a:t>Backend Classes</a:t>
            </a:r>
          </a:p>
        </p:txBody>
      </p:sp>
      <p:sp>
        <p:nvSpPr>
          <p:cNvPr id="11" name="TextBox 10">
            <a:extLst>
              <a:ext uri="{FF2B5EF4-FFF2-40B4-BE49-F238E27FC236}">
                <a16:creationId xmlns:a16="http://schemas.microsoft.com/office/drawing/2014/main" id="{F6FA0648-4547-4BB4-B4CC-371CC58EA5F7}"/>
              </a:ext>
            </a:extLst>
          </p:cNvPr>
          <p:cNvSpPr>
            <a:spLocks noGrp="1"/>
          </p:cNvSpPr>
          <p:nvPr/>
        </p:nvSpPr>
        <p:spPr>
          <a:xfrm>
            <a:off x="3154680" y="2240280"/>
            <a:ext cx="2011680" cy="400110"/>
          </a:xfrm>
          <a:prstGeom prst="rect">
            <a:avLst/>
          </a:prstGeom>
          <a:noFill/>
        </p:spPr>
        <p:txBody>
          <a:bodyPr wrap="square">
            <a:spAutoFit/>
          </a:bodyPr>
          <a:lstStyle/>
          <a:p>
            <a:pPr algn="ctr">
              <a:buNone/>
            </a:pPr>
            <a:r>
              <a:rPr sz="1000" b="0">
                <a:solidFill>
                  <a:srgbClr val="FFFFFF"/>
                </a:solidFill>
                <a:latin typeface="Calibri"/>
                <a:ea typeface="Calibri"/>
                <a:cs typeface="Calibri"/>
              </a:rPr>
              <a:t>Menu • Order • Inventory</a:t>
            </a:r>
            <a:br/>
            <a:r>
              <a:rPr sz="1000">
                <a:solidFill>
                  <a:schemeClr val="bg1"/>
                </a:solidFill>
              </a:rPr>
              <a:t>Customer • Staff</a:t>
            </a:r>
          </a:p>
        </p:txBody>
      </p:sp>
      <p:sp>
        <p:nvSpPr>
          <p:cNvPr id="12" name="Rounded Rectangle 11">
            <a:extLst>
              <a:ext uri="{FF2B5EF4-FFF2-40B4-BE49-F238E27FC236}">
                <a16:creationId xmlns:a16="http://schemas.microsoft.com/office/drawing/2014/main" id="{13FF7003-A0EF-460B-9854-988BFA06F639}"/>
              </a:ext>
            </a:extLst>
          </p:cNvPr>
          <p:cNvSpPr>
            <a:spLocks noGrp="1"/>
          </p:cNvSpPr>
          <p:nvPr/>
        </p:nvSpPr>
        <p:spPr>
          <a:xfrm>
            <a:off x="6400800" y="1828800"/>
            <a:ext cx="2286000" cy="1097280"/>
          </a:xfrm>
          <a:prstGeom prst="roundRect">
            <a:avLst/>
          </a:prstGeom>
          <a:solidFill>
            <a:srgbClr val="EBF4FF"/>
          </a:solidFill>
          <a:ln w="25400">
            <a:solidFill>
              <a:srgbClr val="3182C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7557B1A-8A14-4B6A-8A81-8C369F3C100E}"/>
              </a:ext>
            </a:extLst>
          </p:cNvPr>
          <p:cNvSpPr>
            <a:spLocks noGrp="1"/>
          </p:cNvSpPr>
          <p:nvPr/>
        </p:nvSpPr>
        <p:spPr>
          <a:xfrm>
            <a:off x="6537960" y="1920240"/>
            <a:ext cx="2011680" cy="320040"/>
          </a:xfrm>
          <a:prstGeom prst="rect">
            <a:avLst/>
          </a:prstGeom>
          <a:noFill/>
        </p:spPr>
        <p:txBody>
          <a:bodyPr wrap="square">
            <a:spAutoFit/>
          </a:bodyPr>
          <a:lstStyle/>
          <a:p>
            <a:pPr algn="ctr">
              <a:buNone/>
            </a:pPr>
            <a:r>
              <a:rPr sz="1300" b="1">
                <a:solidFill>
                  <a:srgbClr val="1A365D"/>
                </a:solidFill>
                <a:latin typeface="Calibri"/>
                <a:ea typeface="Calibri"/>
                <a:cs typeface="Calibri"/>
              </a:rPr>
              <a:t>FastAPI Server</a:t>
            </a:r>
          </a:p>
        </p:txBody>
      </p:sp>
      <p:sp>
        <p:nvSpPr>
          <p:cNvPr id="14" name="TextBox 13">
            <a:extLst>
              <a:ext uri="{FF2B5EF4-FFF2-40B4-BE49-F238E27FC236}">
                <a16:creationId xmlns:a16="http://schemas.microsoft.com/office/drawing/2014/main" id="{9A8E873F-ADE3-4F68-831C-8E9BD2F8052F}"/>
              </a:ext>
            </a:extLst>
          </p:cNvPr>
          <p:cNvSpPr>
            <a:spLocks noGrp="1"/>
          </p:cNvSpPr>
          <p:nvPr/>
        </p:nvSpPr>
        <p:spPr>
          <a:xfrm>
            <a:off x="6537960" y="2240280"/>
            <a:ext cx="2011680" cy="548640"/>
          </a:xfrm>
          <a:prstGeom prst="rect">
            <a:avLst/>
          </a:prstGeom>
          <a:noFill/>
        </p:spPr>
        <p:txBody>
          <a:bodyPr wrap="square">
            <a:spAutoFit/>
          </a:bodyPr>
          <a:lstStyle/>
          <a:p>
            <a:pPr algn="ctr">
              <a:buNone/>
            </a:pPr>
            <a:r>
              <a:rPr sz="1000" b="0">
                <a:solidFill>
                  <a:srgbClr val="718096"/>
                </a:solidFill>
                <a:latin typeface="Calibri"/>
                <a:ea typeface="Calibri"/>
                <a:cs typeface="Calibri"/>
              </a:rPr>
              <a:t>app.py (REST API)</a:t>
            </a:r>
          </a:p>
        </p:txBody>
      </p:sp>
      <p:sp>
        <p:nvSpPr>
          <p:cNvPr id="15" name="Rounded Rectangle 14">
            <a:extLst>
              <a:ext uri="{FF2B5EF4-FFF2-40B4-BE49-F238E27FC236}">
                <a16:creationId xmlns:a16="http://schemas.microsoft.com/office/drawing/2014/main" id="{5DA0019F-2555-4AE9-906B-81C900FCE577}"/>
              </a:ext>
            </a:extLst>
          </p:cNvPr>
          <p:cNvSpPr>
            <a:spLocks noGrp="1"/>
          </p:cNvSpPr>
          <p:nvPr/>
        </p:nvSpPr>
        <p:spPr>
          <a:xfrm>
            <a:off x="9326880" y="1828800"/>
            <a:ext cx="2286000" cy="1097280"/>
          </a:xfrm>
          <a:prstGeom prst="roundRect">
            <a:avLst/>
          </a:prstGeom>
          <a:solidFill>
            <a:srgbClr val="EBF4FF"/>
          </a:solidFill>
          <a:ln w="25400">
            <a:solidFill>
              <a:srgbClr val="3182C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80035F05-C5D1-4879-AB24-C40D5CD7B2F9}"/>
              </a:ext>
            </a:extLst>
          </p:cNvPr>
          <p:cNvSpPr>
            <a:spLocks noGrp="1"/>
          </p:cNvSpPr>
          <p:nvPr/>
        </p:nvSpPr>
        <p:spPr>
          <a:xfrm>
            <a:off x="9464040" y="1920240"/>
            <a:ext cx="2011680" cy="320040"/>
          </a:xfrm>
          <a:prstGeom prst="rect">
            <a:avLst/>
          </a:prstGeom>
          <a:noFill/>
        </p:spPr>
        <p:txBody>
          <a:bodyPr wrap="square">
            <a:spAutoFit/>
          </a:bodyPr>
          <a:lstStyle/>
          <a:p>
            <a:pPr algn="ctr">
              <a:buNone/>
            </a:pPr>
            <a:r>
              <a:rPr sz="1300" b="1">
                <a:solidFill>
                  <a:srgbClr val="1A365D"/>
                </a:solidFill>
                <a:latin typeface="Calibri"/>
                <a:ea typeface="Calibri"/>
                <a:cs typeface="Calibri"/>
              </a:rPr>
              <a:t>React Frontend</a:t>
            </a:r>
          </a:p>
        </p:txBody>
      </p:sp>
      <p:sp>
        <p:nvSpPr>
          <p:cNvPr id="17" name="TextBox 16">
            <a:extLst>
              <a:ext uri="{FF2B5EF4-FFF2-40B4-BE49-F238E27FC236}">
                <a16:creationId xmlns:a16="http://schemas.microsoft.com/office/drawing/2014/main" id="{DF40C53B-D103-484D-BB6B-FC5D87B34896}"/>
              </a:ext>
            </a:extLst>
          </p:cNvPr>
          <p:cNvSpPr>
            <a:spLocks noGrp="1"/>
          </p:cNvSpPr>
          <p:nvPr/>
        </p:nvSpPr>
        <p:spPr>
          <a:xfrm>
            <a:off x="9464040" y="2240280"/>
            <a:ext cx="2011680" cy="548640"/>
          </a:xfrm>
          <a:prstGeom prst="rect">
            <a:avLst/>
          </a:prstGeom>
          <a:noFill/>
        </p:spPr>
        <p:txBody>
          <a:bodyPr wrap="square">
            <a:spAutoFit/>
          </a:bodyPr>
          <a:lstStyle/>
          <a:p>
            <a:pPr algn="ctr">
              <a:buNone/>
            </a:pPr>
            <a:r>
              <a:rPr sz="1000" b="0">
                <a:solidFill>
                  <a:srgbClr val="718096"/>
                </a:solidFill>
                <a:latin typeface="Calibri"/>
                <a:ea typeface="Calibri"/>
                <a:cs typeface="Calibri"/>
              </a:rPr>
              <a:t>Vite + React Router</a:t>
            </a:r>
          </a:p>
        </p:txBody>
      </p:sp>
      <p:sp>
        <p:nvSpPr>
          <p:cNvPr id="18" name="TextBox 17">
            <a:extLst>
              <a:ext uri="{FF2B5EF4-FFF2-40B4-BE49-F238E27FC236}">
                <a16:creationId xmlns:a16="http://schemas.microsoft.com/office/drawing/2014/main" id="{033D2B9C-053F-4566-B26B-81F7C55B4A99}"/>
              </a:ext>
            </a:extLst>
          </p:cNvPr>
          <p:cNvSpPr>
            <a:spLocks noGrp="1"/>
          </p:cNvSpPr>
          <p:nvPr/>
        </p:nvSpPr>
        <p:spPr>
          <a:xfrm>
            <a:off x="2560320" y="2103120"/>
            <a:ext cx="457200" cy="457200"/>
          </a:xfrm>
          <a:prstGeom prst="rect">
            <a:avLst/>
          </a:prstGeom>
          <a:noFill/>
        </p:spPr>
        <p:txBody>
          <a:bodyPr wrap="square">
            <a:spAutoFit/>
          </a:bodyPr>
          <a:lstStyle/>
          <a:p>
            <a:pPr algn="ctr">
              <a:buNone/>
            </a:pPr>
            <a:r>
              <a:rPr sz="2400" b="1">
                <a:solidFill>
                  <a:srgbClr val="3182CE"/>
                </a:solidFill>
                <a:latin typeface="Calibri"/>
                <a:ea typeface="Calibri"/>
                <a:cs typeface="Calibri"/>
              </a:rPr>
              <a:t>→</a:t>
            </a:r>
          </a:p>
        </p:txBody>
      </p:sp>
      <p:sp>
        <p:nvSpPr>
          <p:cNvPr id="19" name="TextBox 18">
            <a:extLst>
              <a:ext uri="{FF2B5EF4-FFF2-40B4-BE49-F238E27FC236}">
                <a16:creationId xmlns:a16="http://schemas.microsoft.com/office/drawing/2014/main" id="{D7C31201-1A16-4F7D-A238-A1E947AC5FE9}"/>
              </a:ext>
            </a:extLst>
          </p:cNvPr>
          <p:cNvSpPr>
            <a:spLocks noGrp="1"/>
          </p:cNvSpPr>
          <p:nvPr/>
        </p:nvSpPr>
        <p:spPr>
          <a:xfrm>
            <a:off x="5303520" y="2103120"/>
            <a:ext cx="457200" cy="457200"/>
          </a:xfrm>
          <a:prstGeom prst="rect">
            <a:avLst/>
          </a:prstGeom>
          <a:noFill/>
        </p:spPr>
        <p:txBody>
          <a:bodyPr wrap="square">
            <a:spAutoFit/>
          </a:bodyPr>
          <a:lstStyle/>
          <a:p>
            <a:pPr algn="ctr">
              <a:buNone/>
            </a:pPr>
            <a:r>
              <a:rPr sz="2400" b="1">
                <a:solidFill>
                  <a:srgbClr val="3182CE"/>
                </a:solidFill>
                <a:latin typeface="Calibri"/>
                <a:ea typeface="Calibri"/>
                <a:cs typeface="Calibri"/>
              </a:rPr>
              <a:t>→</a:t>
            </a:r>
          </a:p>
        </p:txBody>
      </p:sp>
      <p:sp>
        <p:nvSpPr>
          <p:cNvPr id="20" name="TextBox 19">
            <a:extLst>
              <a:ext uri="{FF2B5EF4-FFF2-40B4-BE49-F238E27FC236}">
                <a16:creationId xmlns:a16="http://schemas.microsoft.com/office/drawing/2014/main" id="{39C97511-920C-482D-8A48-D7D80D5A4B4D}"/>
              </a:ext>
            </a:extLst>
          </p:cNvPr>
          <p:cNvSpPr>
            <a:spLocks noGrp="1"/>
          </p:cNvSpPr>
          <p:nvPr/>
        </p:nvSpPr>
        <p:spPr>
          <a:xfrm>
            <a:off x="8686800" y="2103120"/>
            <a:ext cx="457200" cy="457200"/>
          </a:xfrm>
          <a:prstGeom prst="rect">
            <a:avLst/>
          </a:prstGeom>
          <a:noFill/>
        </p:spPr>
        <p:txBody>
          <a:bodyPr wrap="square">
            <a:spAutoFit/>
          </a:bodyPr>
          <a:lstStyle/>
          <a:p>
            <a:pPr algn="ctr">
              <a:buNone/>
            </a:pPr>
            <a:r>
              <a:rPr sz="2400" b="1">
                <a:solidFill>
                  <a:srgbClr val="3182CE"/>
                </a:solidFill>
                <a:latin typeface="Calibri"/>
                <a:ea typeface="Calibri"/>
                <a:cs typeface="Calibri"/>
              </a:rPr>
              <a:t>→</a:t>
            </a:r>
          </a:p>
        </p:txBody>
      </p:sp>
      <p:sp>
        <p:nvSpPr>
          <p:cNvPr id="21" name="Rounded Rectangle 20">
            <a:extLst>
              <a:ext uri="{FF2B5EF4-FFF2-40B4-BE49-F238E27FC236}">
                <a16:creationId xmlns:a16="http://schemas.microsoft.com/office/drawing/2014/main" id="{66D766D3-E5F8-42E1-A20B-86A8E139D8DF}"/>
              </a:ext>
            </a:extLst>
          </p:cNvPr>
          <p:cNvSpPr>
            <a:spLocks noGrp="1"/>
          </p:cNvSpPr>
          <p:nvPr/>
        </p:nvSpPr>
        <p:spPr>
          <a:xfrm>
            <a:off x="3017520" y="3657600"/>
            <a:ext cx="5669280" cy="822960"/>
          </a:xfrm>
          <a:prstGeom prst="roundRect">
            <a:avLst/>
          </a:prstGeom>
          <a:solidFill>
            <a:srgbClr val="EBF4FF"/>
          </a:solidFill>
          <a:ln w="25400">
            <a:solidFill>
              <a:srgbClr val="3182C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6FE16AF8-0FFC-4B37-A616-7A9D52F47DB4}"/>
              </a:ext>
            </a:extLst>
          </p:cNvPr>
          <p:cNvSpPr>
            <a:spLocks noGrp="1"/>
          </p:cNvSpPr>
          <p:nvPr/>
        </p:nvSpPr>
        <p:spPr>
          <a:xfrm>
            <a:off x="3200400" y="3703320"/>
            <a:ext cx="5303520" cy="274320"/>
          </a:xfrm>
          <a:prstGeom prst="rect">
            <a:avLst/>
          </a:prstGeom>
          <a:noFill/>
        </p:spPr>
        <p:txBody>
          <a:bodyPr wrap="square">
            <a:spAutoFit/>
          </a:bodyPr>
          <a:lstStyle/>
          <a:p>
            <a:pPr algn="ctr">
              <a:buNone/>
            </a:pPr>
            <a:r>
              <a:rPr sz="1300" b="1">
                <a:solidFill>
                  <a:srgbClr val="1A365D"/>
                </a:solidFill>
                <a:latin typeface="Calibri"/>
                <a:ea typeface="Calibri"/>
                <a:cs typeface="Calibri"/>
              </a:rPr>
              <a:t>Excel Data Layer</a:t>
            </a:r>
          </a:p>
        </p:txBody>
      </p:sp>
      <p:sp>
        <p:nvSpPr>
          <p:cNvPr id="23" name="TextBox 22">
            <a:extLst>
              <a:ext uri="{FF2B5EF4-FFF2-40B4-BE49-F238E27FC236}">
                <a16:creationId xmlns:a16="http://schemas.microsoft.com/office/drawing/2014/main" id="{77A37F1F-2E1C-40DE-84A2-9A2432749DCC}"/>
              </a:ext>
            </a:extLst>
          </p:cNvPr>
          <p:cNvSpPr>
            <a:spLocks noGrp="1"/>
          </p:cNvSpPr>
          <p:nvPr/>
        </p:nvSpPr>
        <p:spPr>
          <a:xfrm>
            <a:off x="3200400" y="3977639"/>
            <a:ext cx="5303520" cy="365760"/>
          </a:xfrm>
          <a:prstGeom prst="rect">
            <a:avLst/>
          </a:prstGeom>
          <a:noFill/>
        </p:spPr>
        <p:txBody>
          <a:bodyPr wrap="square">
            <a:spAutoFit/>
          </a:bodyPr>
          <a:lstStyle/>
          <a:p>
            <a:pPr algn="ctr">
              <a:buNone/>
            </a:pPr>
            <a:r>
              <a:rPr sz="1000" b="0">
                <a:solidFill>
                  <a:srgbClr val="718096"/>
                </a:solidFill>
                <a:latin typeface="Calibri"/>
                <a:ea typeface="Calibri"/>
                <a:cs typeface="Calibri"/>
              </a:rPr>
              <a:t>Menu.xlsx  •  Orders.xlsx  •  Inventory.xlsx  •  Customers.xlsx  •  Staffs.xlsx</a:t>
            </a:r>
          </a:p>
        </p:txBody>
      </p:sp>
      <p:sp>
        <p:nvSpPr>
          <p:cNvPr id="24" name="TextBox 23">
            <a:extLst>
              <a:ext uri="{FF2B5EF4-FFF2-40B4-BE49-F238E27FC236}">
                <a16:creationId xmlns:a16="http://schemas.microsoft.com/office/drawing/2014/main" id="{55255A2D-86C1-4AA3-8A16-453EF0D48765}"/>
              </a:ext>
            </a:extLst>
          </p:cNvPr>
          <p:cNvSpPr>
            <a:spLocks noGrp="1"/>
          </p:cNvSpPr>
          <p:nvPr/>
        </p:nvSpPr>
        <p:spPr>
          <a:xfrm>
            <a:off x="5669280" y="2971800"/>
            <a:ext cx="457200" cy="457200"/>
          </a:xfrm>
          <a:prstGeom prst="rect">
            <a:avLst/>
          </a:prstGeom>
          <a:noFill/>
        </p:spPr>
        <p:txBody>
          <a:bodyPr wrap="square">
            <a:spAutoFit/>
          </a:bodyPr>
          <a:lstStyle/>
          <a:p>
            <a:pPr algn="ctr">
              <a:buNone/>
            </a:pPr>
            <a:r>
              <a:rPr sz="2400" b="1">
                <a:solidFill>
                  <a:srgbClr val="3182CE"/>
                </a:solidFill>
                <a:latin typeface="Calibri"/>
                <a:ea typeface="Calibri"/>
                <a:cs typeface="Calibri"/>
              </a:rPr>
              <a:t>↓</a:t>
            </a:r>
          </a:p>
        </p:txBody>
      </p:sp>
      <p:sp>
        <p:nvSpPr>
          <p:cNvPr id="25" name="Rounded Rectangle 24">
            <a:extLst>
              <a:ext uri="{FF2B5EF4-FFF2-40B4-BE49-F238E27FC236}">
                <a16:creationId xmlns:a16="http://schemas.microsoft.com/office/drawing/2014/main" id="{E81BDBE9-3AB7-4FE8-9967-91173CA3C785}"/>
              </a:ext>
            </a:extLst>
          </p:cNvPr>
          <p:cNvSpPr>
            <a:spLocks noGrp="1"/>
          </p:cNvSpPr>
          <p:nvPr/>
        </p:nvSpPr>
        <p:spPr>
          <a:xfrm>
            <a:off x="548640" y="493776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B9FED72-8FE9-435E-8C81-58D9BE91892A}"/>
              </a:ext>
            </a:extLst>
          </p:cNvPr>
          <p:cNvSpPr>
            <a:spLocks noGrp="1"/>
          </p:cNvSpPr>
          <p:nvPr/>
        </p:nvSpPr>
        <p:spPr>
          <a:xfrm>
            <a:off x="822960" y="5029200"/>
            <a:ext cx="10424160" cy="274320"/>
          </a:xfrm>
          <a:prstGeom prst="rect">
            <a:avLst/>
          </a:prstGeom>
          <a:noFill/>
        </p:spPr>
        <p:txBody>
          <a:bodyPr wrap="square">
            <a:spAutoFit/>
          </a:bodyPr>
          <a:lstStyle/>
          <a:p>
            <a:pPr algn="l">
              <a:buNone/>
            </a:pPr>
            <a:r>
              <a:rPr sz="1400" b="1">
                <a:solidFill>
                  <a:srgbClr val="1A365D"/>
                </a:solidFill>
                <a:latin typeface="Calibri"/>
                <a:ea typeface="Calibri"/>
                <a:cs typeface="Calibri"/>
              </a:rPr>
              <a:t>Design Principle</a:t>
            </a:r>
          </a:p>
        </p:txBody>
      </p:sp>
      <p:sp>
        <p:nvSpPr>
          <p:cNvPr id="27" name="TextBox 26">
            <a:extLst>
              <a:ext uri="{FF2B5EF4-FFF2-40B4-BE49-F238E27FC236}">
                <a16:creationId xmlns:a16="http://schemas.microsoft.com/office/drawing/2014/main" id="{5EC74643-E9F1-452D-9551-979783BCB7D4}"/>
              </a:ext>
            </a:extLst>
          </p:cNvPr>
          <p:cNvSpPr>
            <a:spLocks noGrp="1"/>
          </p:cNvSpPr>
          <p:nvPr/>
        </p:nvSpPr>
        <p:spPr>
          <a:xfrm>
            <a:off x="822960" y="5349240"/>
            <a:ext cx="10424160" cy="457200"/>
          </a:xfrm>
          <a:prstGeom prst="rect">
            <a:avLst/>
          </a:prstGeom>
          <a:noFill/>
        </p:spPr>
        <p:txBody>
          <a:bodyPr wrap="square">
            <a:spAutoFit/>
          </a:bodyPr>
          <a:lstStyle/>
          <a:p>
            <a:pPr algn="l">
              <a:buNone/>
            </a:pPr>
            <a:r>
              <a:rPr sz="1300" b="0">
                <a:solidFill>
                  <a:srgbClr val="4A5668"/>
                </a:solidFill>
                <a:latin typeface="Calibri"/>
                <a:ea typeface="Calibri"/>
                <a:cs typeface="Calibri"/>
              </a:rPr>
              <a:t>The backend classes are shared between the CLI and the web app. The FastAPI server wraps the same Python classes that main.py uses, ensuring consistent behavior across both interfaces.</a:t>
            </a:r>
          </a:p>
        </p:txBody>
      </p:sp>
    </p:spTree>
    <p:extLst>
      <p:ext uri="{BB962C8B-B14F-4D97-AF65-F5344CB8AC3E}">
        <p14:creationId xmlns:p14="http://schemas.microsoft.com/office/powerpoint/2010/main" val="362277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ADC738-8E14-69CA-B2F0-A1762FA0DD00}"/>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B4B9FE-115E-87D3-B626-FD3C948F3B71}"/>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pic>
        <p:nvPicPr>
          <p:cNvPr id="6" name="Picture 28"/>
          <p:cNvPicPr>
            <a:picLocks noChangeAspect="1"/>
          </p:cNvPicPr>
          <p:nvPr/>
        </p:nvPicPr>
        <p:blipFill>
          <a:blip r:embed="rId3"/>
          <a:stretch>
            <a:fillRect/>
          </a:stretch>
        </p:blipFill>
        <p:spPr>
          <a:xfrm>
            <a:off x="1435199" y="293146"/>
            <a:ext cx="9321295" cy="6564854"/>
          </a:xfrm>
          <a:prstGeom prst="rect">
            <a:avLst/>
          </a:prstGeom>
        </p:spPr>
      </p:pic>
    </p:spTree>
    <p:extLst>
      <p:ext uri="{BB962C8B-B14F-4D97-AF65-F5344CB8AC3E}">
        <p14:creationId xmlns:p14="http://schemas.microsoft.com/office/powerpoint/2010/main" val="4083206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02ED9B-6CBE-48B3-B2E8-8F1B7B9E9673}"/>
              </a:ext>
            </a:extLst>
          </p:cNvPr>
          <p:cNvSpPr>
            <a:spLocks noGrp="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5FCEFAB-4EAA-4D64-B285-AFFB1EC9F1EA}"/>
              </a:ext>
            </a:extLst>
          </p:cNvPr>
          <p:cNvSpPr>
            <a:spLocks noGrp="1"/>
          </p:cNvSpPr>
          <p:nvPr/>
        </p:nvSpPr>
        <p:spPr>
          <a:xfrm>
            <a:off x="0" y="1645920"/>
            <a:ext cx="12191695" cy="365760"/>
          </a:xfrm>
          <a:prstGeom prst="rect">
            <a:avLst/>
          </a:prstGeom>
          <a:noFill/>
        </p:spPr>
        <p:txBody>
          <a:bodyPr wrap="square">
            <a:spAutoFit/>
          </a:bodyPr>
          <a:lstStyle/>
          <a:p>
            <a:pPr algn="ctr">
              <a:buNone/>
            </a:pPr>
            <a:r>
              <a:rPr sz="1600" b="1">
                <a:solidFill>
                  <a:srgbClr val="6688BB"/>
                </a:solidFill>
                <a:latin typeface="Calibri"/>
                <a:ea typeface="Calibri"/>
                <a:cs typeface="Calibri"/>
              </a:rPr>
              <a:t>SECTION 1</a:t>
            </a:r>
          </a:p>
        </p:txBody>
      </p:sp>
      <p:sp>
        <p:nvSpPr>
          <p:cNvPr id="4" name="TextBox 3">
            <a:extLst>
              <a:ext uri="{FF2B5EF4-FFF2-40B4-BE49-F238E27FC236}">
                <a16:creationId xmlns:a16="http://schemas.microsoft.com/office/drawing/2014/main" id="{8BBEDEBB-E012-4F26-8667-8673379DE0CF}"/>
              </a:ext>
            </a:extLst>
          </p:cNvPr>
          <p:cNvSpPr>
            <a:spLocks noGrp="1"/>
          </p:cNvSpPr>
          <p:nvPr/>
        </p:nvSpPr>
        <p:spPr>
          <a:xfrm>
            <a:off x="0" y="2286000"/>
            <a:ext cx="12191695" cy="731520"/>
          </a:xfrm>
          <a:prstGeom prst="rect">
            <a:avLst/>
          </a:prstGeom>
          <a:noFill/>
        </p:spPr>
        <p:txBody>
          <a:bodyPr wrap="square">
            <a:spAutoFit/>
          </a:bodyPr>
          <a:lstStyle/>
          <a:p>
            <a:pPr algn="ctr">
              <a:buNone/>
            </a:pPr>
            <a:r>
              <a:rPr sz="4400" b="1">
                <a:solidFill>
                  <a:srgbClr val="FFFFFF"/>
                </a:solidFill>
                <a:latin typeface="Calibri"/>
                <a:ea typeface="Calibri"/>
                <a:cs typeface="Calibri"/>
              </a:rPr>
              <a:t>The Main Function</a:t>
            </a:r>
          </a:p>
        </p:txBody>
      </p:sp>
      <p:sp>
        <p:nvSpPr>
          <p:cNvPr id="5" name="TextBox 4">
            <a:extLst>
              <a:ext uri="{FF2B5EF4-FFF2-40B4-BE49-F238E27FC236}">
                <a16:creationId xmlns:a16="http://schemas.microsoft.com/office/drawing/2014/main" id="{38D4C5CC-1C35-4FBB-85B8-6E1701F3CA3D}"/>
              </a:ext>
            </a:extLst>
          </p:cNvPr>
          <p:cNvSpPr>
            <a:spLocks noGrp="1"/>
          </p:cNvSpPr>
          <p:nvPr/>
        </p:nvSpPr>
        <p:spPr>
          <a:xfrm>
            <a:off x="0" y="3200400"/>
            <a:ext cx="12191695" cy="365760"/>
          </a:xfrm>
          <a:prstGeom prst="rect">
            <a:avLst/>
          </a:prstGeom>
          <a:noFill/>
        </p:spPr>
        <p:txBody>
          <a:bodyPr wrap="square">
            <a:spAutoFit/>
          </a:bodyPr>
          <a:lstStyle/>
          <a:p>
            <a:pPr algn="ctr">
              <a:buNone/>
            </a:pPr>
            <a:r>
              <a:rPr sz="1800" b="0">
                <a:solidFill>
                  <a:srgbClr val="99BBDD"/>
                </a:solidFill>
                <a:latin typeface="Calibri"/>
                <a:ea typeface="Calibri"/>
                <a:cs typeface="Calibri"/>
              </a:rPr>
              <a:t>CLI application flow and thought process</a:t>
            </a:r>
          </a:p>
        </p:txBody>
      </p:sp>
    </p:spTree>
    <p:extLst>
      <p:ext uri="{BB962C8B-B14F-4D97-AF65-F5344CB8AC3E}">
        <p14:creationId xmlns:p14="http://schemas.microsoft.com/office/powerpoint/2010/main" val="1751833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29D2C1-7036-ACDD-E444-F0C0A5E07B47}"/>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F16FA120-F236-64E3-CDA1-81F6304AA149}"/>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Main Function — Application Flow</a:t>
            </a:r>
          </a:p>
        </p:txBody>
      </p:sp>
      <p:sp>
        <p:nvSpPr>
          <p:cNvPr id="4" name="TextBox 3">
            <a:extLst>
              <a:ext uri="{FF2B5EF4-FFF2-40B4-BE49-F238E27FC236}">
                <a16:creationId xmlns:a16="http://schemas.microsoft.com/office/drawing/2014/main" id="{2826A592-8FFA-B2C2-5311-FDAA22ED6D73}"/>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main.py: the entry point that orchestrates everything</a:t>
            </a:r>
          </a:p>
        </p:txBody>
      </p:sp>
      <p:sp>
        <p:nvSpPr>
          <p:cNvPr id="5" name="TextBox 4">
            <a:extLst>
              <a:ext uri="{FF2B5EF4-FFF2-40B4-BE49-F238E27FC236}">
                <a16:creationId xmlns:a16="http://schemas.microsoft.com/office/drawing/2014/main" id="{3A41E84D-F8B0-1EEE-3722-CA5676D11115}"/>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8C48E37C-44BA-B840-34E1-5D524D5DB0C1}"/>
              </a:ext>
            </a:extLst>
          </p:cNvPr>
          <p:cNvSpPr>
            <a:spLocks noGrp="1"/>
          </p:cNvSpPr>
          <p:nvPr/>
        </p:nvSpPr>
        <p:spPr>
          <a:xfrm>
            <a:off x="548640" y="1280160"/>
            <a:ext cx="10972800" cy="457200"/>
          </a:xfrm>
          <a:prstGeom prst="rect">
            <a:avLst/>
          </a:prstGeom>
          <a:noFill/>
        </p:spPr>
        <p:txBody>
          <a:bodyPr wrap="square">
            <a:spAutoFit/>
          </a:bodyPr>
          <a:lstStyle/>
          <a:p>
            <a:pPr algn="l">
              <a:buNone/>
            </a:pPr>
            <a:r>
              <a:rPr sz="1400" b="0">
                <a:solidFill>
                  <a:srgbClr val="4A5668"/>
                </a:solidFill>
                <a:latin typeface="Calibri"/>
                <a:ea typeface="Calibri"/>
                <a:cs typeface="Calibri"/>
              </a:rPr>
              <a:t>Thought Process: We designed main.py as a menu-driven loop. The user sees numbered options, picks one, and the program delegates to a dedicated function. This keeps each feature isolated and the main loop clean.</a:t>
            </a:r>
          </a:p>
        </p:txBody>
      </p:sp>
      <p:sp>
        <p:nvSpPr>
          <p:cNvPr id="7" name="TextBox 6">
            <a:extLst>
              <a:ext uri="{FF2B5EF4-FFF2-40B4-BE49-F238E27FC236}">
                <a16:creationId xmlns:a16="http://schemas.microsoft.com/office/drawing/2014/main" id="{217F387B-A838-E44F-0C46-19553024EF74}"/>
              </a:ext>
            </a:extLst>
          </p:cNvPr>
          <p:cNvSpPr>
            <a:spLocks noGrp="1"/>
          </p:cNvSpPr>
          <p:nvPr/>
        </p:nvSpPr>
        <p:spPr>
          <a:xfrm>
            <a:off x="548640" y="1920240"/>
            <a:ext cx="27432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ENTRY POINT &amp; GLOBAL STATE</a:t>
            </a:r>
          </a:p>
        </p:txBody>
      </p:sp>
      <p:sp>
        <p:nvSpPr>
          <p:cNvPr id="8" name="Rounded Rectangle 7">
            <a:extLst>
              <a:ext uri="{FF2B5EF4-FFF2-40B4-BE49-F238E27FC236}">
                <a16:creationId xmlns:a16="http://schemas.microsoft.com/office/drawing/2014/main" id="{AC99AFC6-DFB0-FCE9-1639-1FBB3699E1FC}"/>
              </a:ext>
            </a:extLst>
          </p:cNvPr>
          <p:cNvSpPr>
            <a:spLocks noGrp="1"/>
          </p:cNvSpPr>
          <p:nvPr/>
        </p:nvSpPr>
        <p:spPr>
          <a:xfrm>
            <a:off x="548640" y="2139576"/>
            <a:ext cx="10972800" cy="2569584"/>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anchor="ctr"/>
          <a:lstStyle/>
          <a:p>
            <a:pPr algn="ctr">
              <a:lnSpc>
                <a:spcPts val="1760"/>
              </a:lnSpc>
              <a:buNone/>
            </a:pPr>
            <a:endParaRPr/>
          </a:p>
          <a:p>
            <a:pPr algn="ctr">
              <a:lnSpc>
                <a:spcPts val="1760"/>
              </a:lnSpc>
              <a:buNone/>
            </a:pPr>
            <a:endParaRPr/>
          </a:p>
        </p:txBody>
      </p:sp>
      <p:sp>
        <p:nvSpPr>
          <p:cNvPr id="11" name="Rounded Rectangle 10">
            <a:extLst>
              <a:ext uri="{FF2B5EF4-FFF2-40B4-BE49-F238E27FC236}">
                <a16:creationId xmlns:a16="http://schemas.microsoft.com/office/drawing/2014/main" id="{2CB36B46-F204-236B-BA62-9FA721D92FCB}"/>
              </a:ext>
            </a:extLst>
          </p:cNvPr>
          <p:cNvSpPr>
            <a:spLocks noGrp="1"/>
          </p:cNvSpPr>
          <p:nvPr/>
        </p:nvSpPr>
        <p:spPr>
          <a:xfrm>
            <a:off x="548640" y="4846320"/>
            <a:ext cx="10972800" cy="118872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D910C7E-EC4B-6E71-BCB9-BC70C25FA17D}"/>
              </a:ext>
            </a:extLst>
          </p:cNvPr>
          <p:cNvSpPr>
            <a:spLocks noGrp="1"/>
          </p:cNvSpPr>
          <p:nvPr/>
        </p:nvSpPr>
        <p:spPr>
          <a:xfrm>
            <a:off x="822960" y="4937760"/>
            <a:ext cx="10424160" cy="274320"/>
          </a:xfrm>
          <a:prstGeom prst="rect">
            <a:avLst/>
          </a:prstGeom>
          <a:noFill/>
        </p:spPr>
        <p:txBody>
          <a:bodyPr wrap="square">
            <a:spAutoFit/>
          </a:bodyPr>
          <a:lstStyle/>
          <a:p>
            <a:pPr algn="l">
              <a:buNone/>
            </a:pPr>
            <a:r>
              <a:rPr sz="1400" b="1">
                <a:solidFill>
                  <a:srgbClr val="1A365D"/>
                </a:solidFill>
                <a:latin typeface="Calibri"/>
                <a:ea typeface="Calibri"/>
                <a:cs typeface="Calibri"/>
              </a:rPr>
              <a:t>Why This Design?</a:t>
            </a:r>
          </a:p>
        </p:txBody>
      </p:sp>
      <p:sp>
        <p:nvSpPr>
          <p:cNvPr id="13" name="TextBox 12">
            <a:extLst>
              <a:ext uri="{FF2B5EF4-FFF2-40B4-BE49-F238E27FC236}">
                <a16:creationId xmlns:a16="http://schemas.microsoft.com/office/drawing/2014/main" id="{8CFAE308-4577-164D-3997-30BF0B72B5A6}"/>
              </a:ext>
            </a:extLst>
          </p:cNvPr>
          <p:cNvSpPr>
            <a:spLocks noGrp="1"/>
          </p:cNvSpPr>
          <p:nvPr/>
        </p:nvSpPr>
        <p:spPr>
          <a:xfrm>
            <a:off x="822960" y="5257800"/>
            <a:ext cx="10424160" cy="640080"/>
          </a:xfrm>
          <a:prstGeom prst="rect">
            <a:avLst/>
          </a:prstGeom>
          <a:noFill/>
        </p:spPr>
        <p:txBody>
          <a:bodyPr wrap="square">
            <a:spAutoFit/>
          </a:bodyPr>
          <a:lstStyle/>
          <a:p>
            <a:pPr algn="l">
              <a:buNone/>
            </a:pPr>
            <a:r>
              <a:rPr sz="1300" b="0">
                <a:solidFill>
                  <a:srgbClr val="4A5668"/>
                </a:solidFill>
                <a:latin typeface="Calibri"/>
                <a:ea typeface="Calibri"/>
                <a:cs typeface="Calibri"/>
              </a:rPr>
              <a:t>Each function (view_menu, order_item, checkout, etc.) is self-contained with its own input loop and validation. Global state (MENU, order, session_orders) is initialized once at the top and shared across functions. This mirrors how a real POS works — one session, one shared order, one menu.</a:t>
            </a:r>
          </a:p>
        </p:txBody>
      </p:sp>
      <p:pic>
        <p:nvPicPr>
          <p:cNvPr id="14" name="Picture 13"/>
          <p:cNvPicPr>
            <a:picLocks noChangeAspect="1"/>
          </p:cNvPicPr>
          <p:nvPr/>
        </p:nvPicPr>
        <p:blipFill>
          <a:blip r:embed="rId3"/>
          <a:srcRect b="7120"/>
          <a:stretch>
            <a:fillRect/>
          </a:stretch>
        </p:blipFill>
        <p:spPr>
          <a:xfrm>
            <a:off x="3919753" y="2139576"/>
            <a:ext cx="4331618" cy="2572224"/>
          </a:xfrm>
          <a:prstGeom prst="rect">
            <a:avLst/>
          </a:prstGeom>
        </p:spPr>
      </p:pic>
    </p:spTree>
    <p:extLst>
      <p:ext uri="{BB962C8B-B14F-4D97-AF65-F5344CB8AC3E}">
        <p14:creationId xmlns:p14="http://schemas.microsoft.com/office/powerpoint/2010/main" val="3673587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FDAACA6-5678-1CBC-5514-C8B94A1AFCE3}"/>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A0F91D4D-0389-7CB7-E3CF-6F8B9883FE9A}"/>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Main Function — Application Flow</a:t>
            </a:r>
          </a:p>
        </p:txBody>
      </p:sp>
      <p:sp>
        <p:nvSpPr>
          <p:cNvPr id="4" name="TextBox 3">
            <a:extLst>
              <a:ext uri="{FF2B5EF4-FFF2-40B4-BE49-F238E27FC236}">
                <a16:creationId xmlns:a16="http://schemas.microsoft.com/office/drawing/2014/main" id="{DE6D9780-37A2-9EBD-214A-ED5D86995678}"/>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main.py: the entry point that orchestrates everything</a:t>
            </a:r>
          </a:p>
        </p:txBody>
      </p:sp>
      <p:sp>
        <p:nvSpPr>
          <p:cNvPr id="5" name="TextBox 4">
            <a:extLst>
              <a:ext uri="{FF2B5EF4-FFF2-40B4-BE49-F238E27FC236}">
                <a16:creationId xmlns:a16="http://schemas.microsoft.com/office/drawing/2014/main" id="{6244CD68-3035-F566-4155-5EEF0C646F10}"/>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3BC6EA48-2884-7929-6C1B-F73391506508}"/>
              </a:ext>
            </a:extLst>
          </p:cNvPr>
          <p:cNvSpPr>
            <a:spLocks noGrp="1"/>
          </p:cNvSpPr>
          <p:nvPr/>
        </p:nvSpPr>
        <p:spPr>
          <a:xfrm>
            <a:off x="548640" y="1280160"/>
            <a:ext cx="10972800" cy="457200"/>
          </a:xfrm>
          <a:prstGeom prst="rect">
            <a:avLst/>
          </a:prstGeom>
          <a:noFill/>
        </p:spPr>
        <p:txBody>
          <a:bodyPr wrap="square">
            <a:spAutoFit/>
          </a:bodyPr>
          <a:lstStyle/>
          <a:p>
            <a:pPr algn="l">
              <a:buNone/>
            </a:pPr>
            <a:r>
              <a:rPr sz="1400" b="0">
                <a:solidFill>
                  <a:srgbClr val="4A5668"/>
                </a:solidFill>
                <a:latin typeface="Calibri"/>
                <a:ea typeface="Calibri"/>
                <a:cs typeface="Calibri"/>
              </a:rPr>
              <a:t>Thought Process: We designed main.py as a menu-driven loop. The user sees numbered options, picks one, and the program delegates to a dedicated function. This keeps each feature isolated and the main loop clean.</a:t>
            </a:r>
          </a:p>
        </p:txBody>
      </p:sp>
      <p:sp>
        <p:nvSpPr>
          <p:cNvPr id="8" name="Rounded Rectangle 7">
            <a:extLst>
              <a:ext uri="{FF2B5EF4-FFF2-40B4-BE49-F238E27FC236}">
                <a16:creationId xmlns:a16="http://schemas.microsoft.com/office/drawing/2014/main" id="{D39B6AA2-6C52-AC0A-EAFA-7DF9697C1009}"/>
              </a:ext>
            </a:extLst>
          </p:cNvPr>
          <p:cNvSpPr>
            <a:spLocks noGrp="1"/>
          </p:cNvSpPr>
          <p:nvPr/>
        </p:nvSpPr>
        <p:spPr>
          <a:xfrm>
            <a:off x="548640" y="2139576"/>
            <a:ext cx="5303520" cy="2432424"/>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anchor="ctr"/>
          <a:lstStyle/>
          <a:p>
            <a:pPr algn="ctr">
              <a:lnSpc>
                <a:spcPts val="1760"/>
              </a:lnSpc>
              <a:buNone/>
            </a:pPr>
            <a:endParaRPr/>
          </a:p>
          <a:p>
            <a:pPr algn="ctr">
              <a:lnSpc>
                <a:spcPts val="1760"/>
              </a:lnSpc>
              <a:buNone/>
            </a:pPr>
            <a:endParaRPr/>
          </a:p>
        </p:txBody>
      </p:sp>
      <p:sp>
        <p:nvSpPr>
          <p:cNvPr id="9" name="TextBox 8">
            <a:extLst>
              <a:ext uri="{FF2B5EF4-FFF2-40B4-BE49-F238E27FC236}">
                <a16:creationId xmlns:a16="http://schemas.microsoft.com/office/drawing/2014/main" id="{5A8612B4-E74E-B465-4AD2-EA22BAF26E89}"/>
              </a:ext>
            </a:extLst>
          </p:cNvPr>
          <p:cNvSpPr>
            <a:spLocks noGrp="1"/>
          </p:cNvSpPr>
          <p:nvPr/>
        </p:nvSpPr>
        <p:spPr>
          <a:xfrm>
            <a:off x="822960" y="1850571"/>
            <a:ext cx="27432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MAIN_MENU() — THE DRIVING LOOP</a:t>
            </a:r>
          </a:p>
        </p:txBody>
      </p:sp>
      <p:sp>
        <p:nvSpPr>
          <p:cNvPr id="10" name="Rounded Rectangle 9">
            <a:extLst>
              <a:ext uri="{FF2B5EF4-FFF2-40B4-BE49-F238E27FC236}">
                <a16:creationId xmlns:a16="http://schemas.microsoft.com/office/drawing/2014/main" id="{C3ECF0EF-5319-7CC3-2ADA-EABE36CE38D4}"/>
              </a:ext>
            </a:extLst>
          </p:cNvPr>
          <p:cNvSpPr>
            <a:spLocks noGrp="1"/>
          </p:cNvSpPr>
          <p:nvPr/>
        </p:nvSpPr>
        <p:spPr>
          <a:xfrm>
            <a:off x="6217920" y="2194560"/>
            <a:ext cx="5425440" cy="23774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anchor="ctr"/>
          <a:lstStyle/>
          <a:p>
            <a:pPr>
              <a:lnSpc>
                <a:spcPts val="1760"/>
              </a:lnSpc>
              <a:buNone/>
            </a:pPr>
            <a:br/>
            <a:endParaRPr/>
          </a:p>
        </p:txBody>
      </p:sp>
      <p:sp>
        <p:nvSpPr>
          <p:cNvPr id="11" name="Rounded Rectangle 10">
            <a:extLst>
              <a:ext uri="{FF2B5EF4-FFF2-40B4-BE49-F238E27FC236}">
                <a16:creationId xmlns:a16="http://schemas.microsoft.com/office/drawing/2014/main" id="{D2A5BB2E-7C18-7FD0-787E-FC48B5E3C9B4}"/>
              </a:ext>
            </a:extLst>
          </p:cNvPr>
          <p:cNvSpPr>
            <a:spLocks noGrp="1"/>
          </p:cNvSpPr>
          <p:nvPr/>
        </p:nvSpPr>
        <p:spPr>
          <a:xfrm>
            <a:off x="548640" y="4846320"/>
            <a:ext cx="10972800" cy="118872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D496019-1193-4DC7-DB7A-5B8C4A245AAF}"/>
              </a:ext>
            </a:extLst>
          </p:cNvPr>
          <p:cNvSpPr>
            <a:spLocks noGrp="1"/>
          </p:cNvSpPr>
          <p:nvPr/>
        </p:nvSpPr>
        <p:spPr>
          <a:xfrm>
            <a:off x="822960" y="4937760"/>
            <a:ext cx="10424160" cy="274320"/>
          </a:xfrm>
          <a:prstGeom prst="rect">
            <a:avLst/>
          </a:prstGeom>
          <a:noFill/>
        </p:spPr>
        <p:txBody>
          <a:bodyPr wrap="square">
            <a:spAutoFit/>
          </a:bodyPr>
          <a:lstStyle/>
          <a:p>
            <a:pPr algn="l">
              <a:buNone/>
            </a:pPr>
            <a:r>
              <a:rPr sz="1400" b="1">
                <a:solidFill>
                  <a:srgbClr val="1A365D"/>
                </a:solidFill>
                <a:latin typeface="Calibri"/>
                <a:ea typeface="Calibri"/>
                <a:cs typeface="Calibri"/>
              </a:rPr>
              <a:t>Why This Design?</a:t>
            </a:r>
          </a:p>
        </p:txBody>
      </p:sp>
      <p:sp>
        <p:nvSpPr>
          <p:cNvPr id="13" name="TextBox 12">
            <a:extLst>
              <a:ext uri="{FF2B5EF4-FFF2-40B4-BE49-F238E27FC236}">
                <a16:creationId xmlns:a16="http://schemas.microsoft.com/office/drawing/2014/main" id="{1E9BB41C-D3DB-6D1D-13AA-51BF1FAACB00}"/>
              </a:ext>
            </a:extLst>
          </p:cNvPr>
          <p:cNvSpPr>
            <a:spLocks noGrp="1"/>
          </p:cNvSpPr>
          <p:nvPr/>
        </p:nvSpPr>
        <p:spPr>
          <a:xfrm>
            <a:off x="822960" y="5257800"/>
            <a:ext cx="10424160" cy="640080"/>
          </a:xfrm>
          <a:prstGeom prst="rect">
            <a:avLst/>
          </a:prstGeom>
          <a:noFill/>
        </p:spPr>
        <p:txBody>
          <a:bodyPr wrap="square">
            <a:spAutoFit/>
          </a:bodyPr>
          <a:lstStyle/>
          <a:p>
            <a:pPr algn="l">
              <a:buNone/>
            </a:pPr>
            <a:r>
              <a:rPr sz="1300" b="0">
                <a:solidFill>
                  <a:srgbClr val="4A5668"/>
                </a:solidFill>
                <a:latin typeface="Calibri"/>
                <a:ea typeface="Calibri"/>
                <a:cs typeface="Calibri"/>
              </a:rPr>
              <a:t>Each function (view_menu, order_item, checkout, etc.) is self-contained with its own input loop and validation. Global state (MENU, order, session_orders) is initialized once at the top and shared across functions. This mirrors how a real POS works — one session, one shared order, one menu.</a:t>
            </a:r>
          </a:p>
        </p:txBody>
      </p:sp>
      <p:pic>
        <p:nvPicPr>
          <p:cNvPr id="14" name="Picture 15"/>
          <p:cNvPicPr>
            <a:picLocks noChangeAspect="1"/>
          </p:cNvPicPr>
          <p:nvPr/>
        </p:nvPicPr>
        <p:blipFill>
          <a:blip r:embed="rId3"/>
          <a:stretch>
            <a:fillRect/>
          </a:stretch>
        </p:blipFill>
        <p:spPr>
          <a:xfrm>
            <a:off x="1508760" y="2470827"/>
            <a:ext cx="3309674" cy="1735414"/>
          </a:xfrm>
          <a:prstGeom prst="rect">
            <a:avLst/>
          </a:prstGeom>
        </p:spPr>
      </p:pic>
      <p:pic>
        <p:nvPicPr>
          <p:cNvPr id="15" name="Picture 16"/>
          <p:cNvPicPr>
            <a:picLocks noChangeAspect="1"/>
          </p:cNvPicPr>
          <p:nvPr/>
        </p:nvPicPr>
        <p:blipFill>
          <a:blip r:embed="rId4"/>
          <a:stretch>
            <a:fillRect/>
          </a:stretch>
        </p:blipFill>
        <p:spPr>
          <a:xfrm>
            <a:off x="7004563" y="2238832"/>
            <a:ext cx="3852153" cy="2233911"/>
          </a:xfrm>
          <a:prstGeom prst="rect">
            <a:avLst/>
          </a:prstGeom>
        </p:spPr>
      </p:pic>
    </p:spTree>
    <p:extLst>
      <p:ext uri="{BB962C8B-B14F-4D97-AF65-F5344CB8AC3E}">
        <p14:creationId xmlns:p14="http://schemas.microsoft.com/office/powerpoint/2010/main" val="1693956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BD0F02-34C3-4F08-B18C-D503E0ED42EB}"/>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184EF51-F569-47FA-9327-7676CC679047}"/>
              </a:ext>
            </a:extLst>
          </p:cNvPr>
          <p:cNvSpPr>
            <a:spLocks noGrp="1"/>
          </p:cNvSpPr>
          <p:nvPr/>
        </p:nvSpPr>
        <p:spPr>
          <a:xfrm>
            <a:off x="548640" y="16002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Main Function — Ordering &amp; Checkout</a:t>
            </a:r>
          </a:p>
        </p:txBody>
      </p:sp>
      <p:sp>
        <p:nvSpPr>
          <p:cNvPr id="4" name="TextBox 3">
            <a:extLst>
              <a:ext uri="{FF2B5EF4-FFF2-40B4-BE49-F238E27FC236}">
                <a16:creationId xmlns:a16="http://schemas.microsoft.com/office/drawing/2014/main" id="{31014419-483D-478D-B31B-0432ABA59134}"/>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Input validation, stock checking, and receipt generation</a:t>
            </a:r>
          </a:p>
        </p:txBody>
      </p:sp>
      <p:sp>
        <p:nvSpPr>
          <p:cNvPr id="5" name="TextBox 4">
            <a:extLst>
              <a:ext uri="{FF2B5EF4-FFF2-40B4-BE49-F238E27FC236}">
                <a16:creationId xmlns:a16="http://schemas.microsoft.com/office/drawing/2014/main" id="{278A8B36-4B7A-4A32-A483-F4881AB13151}"/>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971699B1-257B-4023-91E4-EE42F1D52314}"/>
              </a:ext>
            </a:extLst>
          </p:cNvPr>
          <p:cNvSpPr>
            <a:spLocks noGrp="1"/>
          </p:cNvSpPr>
          <p:nvPr/>
        </p:nvSpPr>
        <p:spPr>
          <a:xfrm>
            <a:off x="548640" y="1280160"/>
            <a:ext cx="27432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ORDER_ITEM() — WITH STOCK VALIDATION</a:t>
            </a:r>
          </a:p>
        </p:txBody>
      </p:sp>
      <p:sp>
        <p:nvSpPr>
          <p:cNvPr id="10" name="Rounded Rectangle 9">
            <a:extLst>
              <a:ext uri="{FF2B5EF4-FFF2-40B4-BE49-F238E27FC236}">
                <a16:creationId xmlns:a16="http://schemas.microsoft.com/office/drawing/2014/main" id="{414FC4E9-8715-446F-BA06-18DB49A7D8A0}"/>
              </a:ext>
            </a:extLst>
          </p:cNvPr>
          <p:cNvSpPr>
            <a:spLocks noGrp="1"/>
          </p:cNvSpPr>
          <p:nvPr/>
        </p:nvSpPr>
        <p:spPr>
          <a:xfrm>
            <a:off x="548640" y="4389120"/>
            <a:ext cx="5303520" cy="164592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BB503417-4B57-4089-8639-AD7F6220AC53}"/>
              </a:ext>
            </a:extLst>
          </p:cNvPr>
          <p:cNvSpPr>
            <a:spLocks noGrp="1"/>
          </p:cNvSpPr>
          <p:nvPr/>
        </p:nvSpPr>
        <p:spPr>
          <a:xfrm>
            <a:off x="822960" y="4480560"/>
            <a:ext cx="4754880" cy="274320"/>
          </a:xfrm>
          <a:prstGeom prst="rect">
            <a:avLst/>
          </a:prstGeom>
          <a:noFill/>
        </p:spPr>
        <p:txBody>
          <a:bodyPr wrap="square">
            <a:spAutoFit/>
          </a:bodyPr>
          <a:lstStyle/>
          <a:p>
            <a:pPr algn="l">
              <a:buNone/>
            </a:pPr>
            <a:r>
              <a:rPr sz="1300" b="1">
                <a:solidFill>
                  <a:srgbClr val="1A365D"/>
                </a:solidFill>
                <a:latin typeface="Calibri"/>
                <a:ea typeface="Calibri"/>
                <a:cs typeface="Calibri"/>
              </a:rPr>
              <a:t>Key Decision: Per-Unit Stock Check</a:t>
            </a:r>
          </a:p>
        </p:txBody>
      </p:sp>
      <p:sp>
        <p:nvSpPr>
          <p:cNvPr id="12" name="TextBox 11">
            <a:extLst>
              <a:ext uri="{FF2B5EF4-FFF2-40B4-BE49-F238E27FC236}">
                <a16:creationId xmlns:a16="http://schemas.microsoft.com/office/drawing/2014/main" id="{106602B1-7B40-452C-94C8-92EB8981EBFC}"/>
              </a:ext>
            </a:extLst>
          </p:cNvPr>
          <p:cNvSpPr>
            <a:spLocks noGrp="1"/>
          </p:cNvSpPr>
          <p:nvPr/>
        </p:nvSpPr>
        <p:spPr>
          <a:xfrm>
            <a:off x="822960" y="4800600"/>
            <a:ext cx="4754880" cy="914400"/>
          </a:xfrm>
          <a:prstGeom prst="rect">
            <a:avLst/>
          </a:prstGeom>
          <a:noFill/>
        </p:spPr>
        <p:txBody>
          <a:bodyPr wrap="square">
            <a:spAutoFit/>
          </a:bodyPr>
          <a:lstStyle/>
          <a:p>
            <a:pPr algn="l">
              <a:buNone/>
            </a:pPr>
            <a:r>
              <a:rPr sz="1200" b="0">
                <a:solidFill>
                  <a:srgbClr val="4A5668"/>
                </a:solidFill>
                <a:latin typeface="Calibri"/>
                <a:ea typeface="Calibri"/>
                <a:cs typeface="Calibri"/>
              </a:rPr>
              <a:t>We check stock per unit in a loop rather than checking total availability upfront. This enables partial fulfillment — if 3 are requested but only 2 remain, the customer gets 2 instead of 0.</a:t>
            </a:r>
          </a:p>
        </p:txBody>
      </p:sp>
      <p:pic>
        <p:nvPicPr>
          <p:cNvPr id="13" name="Picture 15"/>
          <p:cNvPicPr>
            <a:picLocks noChangeAspect="1"/>
          </p:cNvPicPr>
          <p:nvPr/>
        </p:nvPicPr>
        <p:blipFill>
          <a:blip r:embed="rId3"/>
          <a:stretch>
            <a:fillRect/>
          </a:stretch>
        </p:blipFill>
        <p:spPr>
          <a:xfrm>
            <a:off x="604075" y="1554480"/>
            <a:ext cx="5192649" cy="2710092"/>
          </a:xfrm>
          <a:prstGeom prst="rect">
            <a:avLst/>
          </a:prstGeom>
        </p:spPr>
      </p:pic>
      <p:pic>
        <p:nvPicPr>
          <p:cNvPr id="14" name="Picture 19"/>
          <p:cNvPicPr>
            <a:picLocks noChangeAspect="1"/>
          </p:cNvPicPr>
          <p:nvPr/>
        </p:nvPicPr>
        <p:blipFill>
          <a:blip r:embed="rId4"/>
          <a:stretch>
            <a:fillRect/>
          </a:stretch>
        </p:blipFill>
        <p:spPr>
          <a:xfrm>
            <a:off x="5986042" y="1554480"/>
            <a:ext cx="5745346" cy="2286000"/>
          </a:xfrm>
          <a:prstGeom prst="rect">
            <a:avLst/>
          </a:prstGeom>
        </p:spPr>
      </p:pic>
    </p:spTree>
    <p:extLst>
      <p:ext uri="{BB962C8B-B14F-4D97-AF65-F5344CB8AC3E}">
        <p14:creationId xmlns:p14="http://schemas.microsoft.com/office/powerpoint/2010/main" val="134378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125297-13A8-5483-CA2C-256227FC65E0}"/>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B26E956-EE9B-A90B-5B6F-79FAE46695F2}"/>
              </a:ext>
            </a:extLst>
          </p:cNvPr>
          <p:cNvSpPr>
            <a:spLocks noGrp="1"/>
          </p:cNvSpPr>
          <p:nvPr/>
        </p:nvSpPr>
        <p:spPr>
          <a:xfrm>
            <a:off x="548640" y="16002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Main Function — Ordering &amp; Checkout</a:t>
            </a:r>
          </a:p>
        </p:txBody>
      </p:sp>
      <p:sp>
        <p:nvSpPr>
          <p:cNvPr id="4" name="TextBox 3">
            <a:extLst>
              <a:ext uri="{FF2B5EF4-FFF2-40B4-BE49-F238E27FC236}">
                <a16:creationId xmlns:a16="http://schemas.microsoft.com/office/drawing/2014/main" id="{F13E7A77-357A-878A-59FE-C59134CE7F21}"/>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Input validation, stock checking, and receipt generation</a:t>
            </a:r>
          </a:p>
        </p:txBody>
      </p:sp>
      <p:sp>
        <p:nvSpPr>
          <p:cNvPr id="5" name="TextBox 4">
            <a:extLst>
              <a:ext uri="{FF2B5EF4-FFF2-40B4-BE49-F238E27FC236}">
                <a16:creationId xmlns:a16="http://schemas.microsoft.com/office/drawing/2014/main" id="{21EACEDF-B4D3-D3A9-A9F4-1BA56A85A989}"/>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D64E05FF-56B9-E2D0-0E5A-DC9DB3E82BF0}"/>
              </a:ext>
            </a:extLst>
          </p:cNvPr>
          <p:cNvSpPr>
            <a:spLocks noGrp="1"/>
          </p:cNvSpPr>
          <p:nvPr/>
        </p:nvSpPr>
        <p:spPr>
          <a:xfrm>
            <a:off x="548640" y="1188720"/>
            <a:ext cx="27432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CHECKOUT() — RECEIPT &amp; LOYALTY POINTS</a:t>
            </a:r>
          </a:p>
        </p:txBody>
      </p:sp>
      <p:sp>
        <p:nvSpPr>
          <p:cNvPr id="13" name="Rounded Rectangle 12">
            <a:extLst>
              <a:ext uri="{FF2B5EF4-FFF2-40B4-BE49-F238E27FC236}">
                <a16:creationId xmlns:a16="http://schemas.microsoft.com/office/drawing/2014/main" id="{5DC12FCA-FAB1-4FE3-81BA-6DABED3AB95A}"/>
              </a:ext>
            </a:extLst>
          </p:cNvPr>
          <p:cNvSpPr>
            <a:spLocks noGrp="1"/>
          </p:cNvSpPr>
          <p:nvPr/>
        </p:nvSpPr>
        <p:spPr>
          <a:xfrm>
            <a:off x="6217920" y="4389120"/>
            <a:ext cx="5303520" cy="164592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44A70DD4-5968-B4A3-BC4D-B7D77FC07691}"/>
              </a:ext>
            </a:extLst>
          </p:cNvPr>
          <p:cNvSpPr>
            <a:spLocks noGrp="1"/>
          </p:cNvSpPr>
          <p:nvPr/>
        </p:nvSpPr>
        <p:spPr>
          <a:xfrm>
            <a:off x="6492240" y="4480560"/>
            <a:ext cx="4754880" cy="274320"/>
          </a:xfrm>
          <a:prstGeom prst="rect">
            <a:avLst/>
          </a:prstGeom>
          <a:noFill/>
        </p:spPr>
        <p:txBody>
          <a:bodyPr wrap="square">
            <a:spAutoFit/>
          </a:bodyPr>
          <a:lstStyle/>
          <a:p>
            <a:pPr algn="l">
              <a:buNone/>
            </a:pPr>
            <a:r>
              <a:rPr sz="1300" b="1">
                <a:solidFill>
                  <a:srgbClr val="1A365D"/>
                </a:solidFill>
                <a:latin typeface="Calibri"/>
                <a:ea typeface="Calibri"/>
                <a:cs typeface="Calibri"/>
              </a:rPr>
              <a:t>Key Decision: Auto Customer Registration</a:t>
            </a:r>
          </a:p>
        </p:txBody>
      </p:sp>
      <p:sp>
        <p:nvSpPr>
          <p:cNvPr id="15" name="TextBox 14">
            <a:extLst>
              <a:ext uri="{FF2B5EF4-FFF2-40B4-BE49-F238E27FC236}">
                <a16:creationId xmlns:a16="http://schemas.microsoft.com/office/drawing/2014/main" id="{809B62DE-C5B5-F79B-E214-738CC92C26DE}"/>
              </a:ext>
            </a:extLst>
          </p:cNvPr>
          <p:cNvSpPr>
            <a:spLocks noGrp="1"/>
          </p:cNvSpPr>
          <p:nvPr/>
        </p:nvSpPr>
        <p:spPr>
          <a:xfrm>
            <a:off x="6492240" y="4800600"/>
            <a:ext cx="4754880" cy="914400"/>
          </a:xfrm>
          <a:prstGeom prst="rect">
            <a:avLst/>
          </a:prstGeom>
          <a:noFill/>
        </p:spPr>
        <p:txBody>
          <a:bodyPr wrap="square">
            <a:spAutoFit/>
          </a:bodyPr>
          <a:lstStyle/>
          <a:p>
            <a:pPr algn="l">
              <a:buNone/>
            </a:pPr>
            <a:r>
              <a:rPr sz="1200" b="0">
                <a:solidFill>
                  <a:srgbClr val="4A5668"/>
                </a:solidFill>
                <a:latin typeface="Calibri"/>
                <a:ea typeface="Calibri"/>
                <a:cs typeface="Calibri"/>
              </a:rPr>
              <a:t>At checkout, we check if the phone number exists. Returning customers earn more points; new customers are automatically registered. No signup flow needed — frictionless loyalty.</a:t>
            </a:r>
          </a:p>
        </p:txBody>
      </p:sp>
      <p:pic>
        <p:nvPicPr>
          <p:cNvPr id="16" name="Picture 16"/>
          <p:cNvPicPr>
            <a:picLocks noChangeAspect="1"/>
          </p:cNvPicPr>
          <p:nvPr/>
        </p:nvPicPr>
        <p:blipFill>
          <a:blip r:embed="rId3"/>
          <a:stretch>
            <a:fillRect/>
          </a:stretch>
        </p:blipFill>
        <p:spPr>
          <a:xfrm>
            <a:off x="548640" y="1463040"/>
            <a:ext cx="5010912" cy="4886554"/>
          </a:xfrm>
          <a:prstGeom prst="rect">
            <a:avLst/>
          </a:prstGeom>
        </p:spPr>
      </p:pic>
      <p:pic>
        <p:nvPicPr>
          <p:cNvPr id="17" name="Picture 17"/>
          <p:cNvPicPr>
            <a:picLocks noChangeAspect="1"/>
          </p:cNvPicPr>
          <p:nvPr/>
        </p:nvPicPr>
        <p:blipFill>
          <a:blip r:embed="rId4"/>
          <a:stretch>
            <a:fillRect/>
          </a:stretch>
        </p:blipFill>
        <p:spPr>
          <a:xfrm>
            <a:off x="6217920" y="1255946"/>
            <a:ext cx="5303520" cy="2974507"/>
          </a:xfrm>
          <a:prstGeom prst="rect">
            <a:avLst/>
          </a:prstGeom>
        </p:spPr>
      </p:pic>
    </p:spTree>
    <p:extLst>
      <p:ext uri="{BB962C8B-B14F-4D97-AF65-F5344CB8AC3E}">
        <p14:creationId xmlns:p14="http://schemas.microsoft.com/office/powerpoint/2010/main" val="3760111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37742B-F7F8-4562-BEDB-2899EBD97539}"/>
              </a:ext>
            </a:extLst>
          </p:cNvPr>
          <p:cNvSpPr>
            <a:spLocks noGrp="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5D1D2002-6E78-4F21-850F-93A96952B1F9}"/>
              </a:ext>
            </a:extLst>
          </p:cNvPr>
          <p:cNvSpPr>
            <a:spLocks noGrp="1"/>
          </p:cNvSpPr>
          <p:nvPr/>
        </p:nvSpPr>
        <p:spPr>
          <a:xfrm>
            <a:off x="0" y="1645920"/>
            <a:ext cx="12191695" cy="365760"/>
          </a:xfrm>
          <a:prstGeom prst="rect">
            <a:avLst/>
          </a:prstGeom>
          <a:noFill/>
        </p:spPr>
        <p:txBody>
          <a:bodyPr wrap="square">
            <a:spAutoFit/>
          </a:bodyPr>
          <a:lstStyle/>
          <a:p>
            <a:pPr algn="ctr">
              <a:buNone/>
            </a:pPr>
            <a:r>
              <a:rPr sz="1600" b="1">
                <a:solidFill>
                  <a:srgbClr val="6688BB"/>
                </a:solidFill>
                <a:latin typeface="Calibri"/>
                <a:ea typeface="Calibri"/>
                <a:cs typeface="Calibri"/>
              </a:rPr>
              <a:t>SECTION 2</a:t>
            </a:r>
          </a:p>
        </p:txBody>
      </p:sp>
      <p:sp>
        <p:nvSpPr>
          <p:cNvPr id="4" name="TextBox 3">
            <a:extLst>
              <a:ext uri="{FF2B5EF4-FFF2-40B4-BE49-F238E27FC236}">
                <a16:creationId xmlns:a16="http://schemas.microsoft.com/office/drawing/2014/main" id="{1A91B3E9-D62B-4BB1-BA92-8B2557B37D97}"/>
              </a:ext>
            </a:extLst>
          </p:cNvPr>
          <p:cNvSpPr>
            <a:spLocks noGrp="1"/>
          </p:cNvSpPr>
          <p:nvPr/>
        </p:nvSpPr>
        <p:spPr>
          <a:xfrm>
            <a:off x="0" y="2286000"/>
            <a:ext cx="12191695" cy="731520"/>
          </a:xfrm>
          <a:prstGeom prst="rect">
            <a:avLst/>
          </a:prstGeom>
          <a:noFill/>
        </p:spPr>
        <p:txBody>
          <a:bodyPr wrap="square">
            <a:spAutoFit/>
          </a:bodyPr>
          <a:lstStyle/>
          <a:p>
            <a:pPr algn="ctr">
              <a:buNone/>
            </a:pPr>
            <a:r>
              <a:rPr sz="4400" b="1">
                <a:solidFill>
                  <a:srgbClr val="FFFFFF"/>
                </a:solidFill>
                <a:latin typeface="Calibri"/>
                <a:ea typeface="Calibri"/>
                <a:cs typeface="Calibri"/>
              </a:rPr>
              <a:t>Class Design Deep Dive</a:t>
            </a:r>
          </a:p>
        </p:txBody>
      </p:sp>
      <p:sp>
        <p:nvSpPr>
          <p:cNvPr id="5" name="TextBox 4">
            <a:extLst>
              <a:ext uri="{FF2B5EF4-FFF2-40B4-BE49-F238E27FC236}">
                <a16:creationId xmlns:a16="http://schemas.microsoft.com/office/drawing/2014/main" id="{B21E1C27-4477-4B14-ABAE-811B3953BD14}"/>
              </a:ext>
            </a:extLst>
          </p:cNvPr>
          <p:cNvSpPr>
            <a:spLocks noGrp="1"/>
          </p:cNvSpPr>
          <p:nvPr/>
        </p:nvSpPr>
        <p:spPr>
          <a:xfrm>
            <a:off x="0" y="3200400"/>
            <a:ext cx="12191695" cy="365760"/>
          </a:xfrm>
          <a:prstGeom prst="rect">
            <a:avLst/>
          </a:prstGeom>
          <a:noFill/>
        </p:spPr>
        <p:txBody>
          <a:bodyPr wrap="square">
            <a:spAutoFit/>
          </a:bodyPr>
          <a:lstStyle/>
          <a:p>
            <a:pPr algn="ctr">
              <a:buNone/>
            </a:pPr>
            <a:r>
              <a:rPr sz="1800" b="0">
                <a:solidFill>
                  <a:srgbClr val="99BBDD"/>
                </a:solidFill>
                <a:latin typeface="Calibri"/>
                <a:ea typeface="Calibri"/>
                <a:cs typeface="Calibri"/>
              </a:rPr>
              <a:t>Object-oriented design for Menu, Order, Inventory, Customer, and Staff</a:t>
            </a:r>
          </a:p>
        </p:txBody>
      </p:sp>
    </p:spTree>
    <p:extLst>
      <p:ext uri="{BB962C8B-B14F-4D97-AF65-F5344CB8AC3E}">
        <p14:creationId xmlns:p14="http://schemas.microsoft.com/office/powerpoint/2010/main" val="33114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CC6836-2AA8-40D3-B9C8-070CAA8525C7}"/>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9E8F447A-F35E-43D5-925B-9D21359C4982}"/>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Menu &amp; MenuItem</a:t>
            </a:r>
          </a:p>
        </p:txBody>
      </p:sp>
      <p:sp>
        <p:nvSpPr>
          <p:cNvPr id="4" name="TextBox 3">
            <a:extLst>
              <a:ext uri="{FF2B5EF4-FFF2-40B4-BE49-F238E27FC236}">
                <a16:creationId xmlns:a16="http://schemas.microsoft.com/office/drawing/2014/main" id="{BBE76882-F94A-4984-9741-92C4D4D24985}"/>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backend/menu.py — Menu management with daily specials</a:t>
            </a:r>
          </a:p>
        </p:txBody>
      </p:sp>
      <p:sp>
        <p:nvSpPr>
          <p:cNvPr id="5" name="TextBox 4">
            <a:extLst>
              <a:ext uri="{FF2B5EF4-FFF2-40B4-BE49-F238E27FC236}">
                <a16:creationId xmlns:a16="http://schemas.microsoft.com/office/drawing/2014/main" id="{630CB580-9334-4638-B097-FA4367E712BF}"/>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8CC42168-AD6F-438F-8274-1FBF19033BF1}"/>
              </a:ext>
            </a:extLst>
          </p:cNvPr>
          <p:cNvSpPr>
            <a:spLocks noGrp="1"/>
          </p:cNvSpPr>
          <p:nvPr/>
        </p:nvSpPr>
        <p:spPr>
          <a:xfrm>
            <a:off x="548640" y="1280160"/>
            <a:ext cx="5029200" cy="274320"/>
          </a:xfrm>
          <a:prstGeom prst="rect">
            <a:avLst/>
          </a:prstGeom>
          <a:noFill/>
        </p:spPr>
        <p:txBody>
          <a:bodyPr wrap="square">
            <a:spAutoFit/>
          </a:bodyPr>
          <a:lstStyle/>
          <a:p>
            <a:pPr algn="l">
              <a:buNone/>
            </a:pPr>
            <a:r>
              <a:rPr sz="1800" b="1">
                <a:solidFill>
                  <a:srgbClr val="1A365D"/>
                </a:solidFill>
                <a:latin typeface="Calibri"/>
                <a:ea typeface="Calibri"/>
                <a:cs typeface="Calibri"/>
              </a:rPr>
              <a:t>Design Decisions</a:t>
            </a:r>
          </a:p>
        </p:txBody>
      </p:sp>
      <p:sp>
        <p:nvSpPr>
          <p:cNvPr id="7" name="TextBox 6">
            <a:extLst>
              <a:ext uri="{FF2B5EF4-FFF2-40B4-BE49-F238E27FC236}">
                <a16:creationId xmlns:a16="http://schemas.microsoft.com/office/drawing/2014/main" id="{F8A5C85F-4DA9-4ACC-9D0A-D2FE072031B9}"/>
              </a:ext>
            </a:extLst>
          </p:cNvPr>
          <p:cNvSpPr>
            <a:spLocks noGrp="1"/>
          </p:cNvSpPr>
          <p:nvPr/>
        </p:nvSpPr>
        <p:spPr>
          <a:xfrm>
            <a:off x="548640" y="1645920"/>
            <a:ext cx="5029200" cy="3200400"/>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MenuItem is a simple data class — name, price, category</a:t>
            </a:r>
          </a:p>
          <a:p>
            <a:pPr marL="274320" indent="-182880">
              <a:spcAft>
                <a:spcPts val="600"/>
              </a:spcAft>
              <a:buChar char="•"/>
            </a:pPr>
            <a:r>
              <a:rPr sz="1400" b="0">
                <a:solidFill>
                  <a:srgbClr val="4A5668"/>
                </a:solidFill>
                <a:latin typeface="Calibri"/>
                <a:ea typeface="Calibri"/>
                <a:cs typeface="Calibri"/>
              </a:rPr>
              <a:t>Menu loads all items from Menu.xlsx on initialization</a:t>
            </a:r>
          </a:p>
          <a:p>
            <a:pPr marL="274320" indent="-182880">
              <a:spcAft>
                <a:spcPts val="600"/>
              </a:spcAft>
              <a:buChar char="•"/>
            </a:pPr>
            <a:r>
              <a:rPr sz="1400" b="0">
                <a:solidFill>
                  <a:srgbClr val="4A5668"/>
                </a:solidFill>
                <a:latin typeface="Calibri"/>
                <a:ea typeface="Calibri"/>
                <a:cs typeface="Calibri"/>
              </a:rPr>
              <a:t>Daily Special randomly chosen via random.choice() each session, with configurable discount rate (default 20%)</a:t>
            </a:r>
          </a:p>
          <a:p>
            <a:pPr marL="274320" indent="-182880">
              <a:spcAft>
                <a:spcPts val="600"/>
              </a:spcAft>
              <a:buChar char="•"/>
            </a:pPr>
            <a:r>
              <a:rPr sz="1400" b="0">
                <a:solidFill>
                  <a:srgbClr val="4A5668"/>
                </a:solidFill>
                <a:latin typeface="Calibri"/>
                <a:ea typeface="Calibri"/>
                <a:cs typeface="Calibri"/>
              </a:rPr>
              <a:t>Fuzzy search: get_item() ignores case and spaces, so "fruitsalad" matches "Fruit Salad"</a:t>
            </a:r>
          </a:p>
        </p:txBody>
      </p:sp>
      <p:sp>
        <p:nvSpPr>
          <p:cNvPr id="8" name="TextBox 7">
            <a:extLst>
              <a:ext uri="{FF2B5EF4-FFF2-40B4-BE49-F238E27FC236}">
                <a16:creationId xmlns:a16="http://schemas.microsoft.com/office/drawing/2014/main" id="{FC491F0E-B537-4BB0-BBFA-D85BDC11DE3D}"/>
              </a:ext>
            </a:extLst>
          </p:cNvPr>
          <p:cNvSpPr>
            <a:spLocks noGrp="1"/>
          </p:cNvSpPr>
          <p:nvPr/>
        </p:nvSpPr>
        <p:spPr>
          <a:xfrm>
            <a:off x="5462286" y="1276109"/>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9"/>
          <p:cNvPicPr>
            <a:picLocks noChangeAspect="1"/>
          </p:cNvPicPr>
          <p:nvPr/>
        </p:nvPicPr>
        <p:blipFill>
          <a:blip r:embed="rId3"/>
          <a:stretch>
            <a:fillRect/>
          </a:stretch>
        </p:blipFill>
        <p:spPr>
          <a:xfrm>
            <a:off x="5462286" y="1554480"/>
            <a:ext cx="6386326" cy="4220602"/>
          </a:xfrm>
          <a:prstGeom prst="rect">
            <a:avLst/>
          </a:prstGeom>
        </p:spPr>
      </p:pic>
    </p:spTree>
    <p:extLst>
      <p:ext uri="{BB962C8B-B14F-4D97-AF65-F5344CB8AC3E}">
        <p14:creationId xmlns:p14="http://schemas.microsoft.com/office/powerpoint/2010/main" val="195985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55D9C6-1FA6-BC25-C94C-F0019C11F7D7}"/>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E8023E7-31B1-8C60-0F0E-AFD7C1E0BBD8}"/>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Menu &amp; MenuItem</a:t>
            </a:r>
          </a:p>
        </p:txBody>
      </p:sp>
      <p:sp>
        <p:nvSpPr>
          <p:cNvPr id="4" name="TextBox 3">
            <a:extLst>
              <a:ext uri="{FF2B5EF4-FFF2-40B4-BE49-F238E27FC236}">
                <a16:creationId xmlns:a16="http://schemas.microsoft.com/office/drawing/2014/main" id="{32443FB2-839B-91C5-BB45-46442CBA6996}"/>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backend/menu.py — Menu management with daily specials</a:t>
            </a:r>
          </a:p>
        </p:txBody>
      </p:sp>
      <p:sp>
        <p:nvSpPr>
          <p:cNvPr id="5" name="TextBox 4">
            <a:extLst>
              <a:ext uri="{FF2B5EF4-FFF2-40B4-BE49-F238E27FC236}">
                <a16:creationId xmlns:a16="http://schemas.microsoft.com/office/drawing/2014/main" id="{73B9AC77-B452-28ED-DFAF-86A70AC3DB67}"/>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03E3F846-86C4-EB91-F2B0-1DC64E5D724F}"/>
              </a:ext>
            </a:extLst>
          </p:cNvPr>
          <p:cNvSpPr>
            <a:spLocks noGrp="1"/>
          </p:cNvSpPr>
          <p:nvPr/>
        </p:nvSpPr>
        <p:spPr>
          <a:xfrm>
            <a:off x="548640" y="1280160"/>
            <a:ext cx="5029200" cy="274320"/>
          </a:xfrm>
          <a:prstGeom prst="rect">
            <a:avLst/>
          </a:prstGeom>
          <a:noFill/>
        </p:spPr>
        <p:txBody>
          <a:bodyPr wrap="square">
            <a:spAutoFit/>
          </a:bodyPr>
          <a:lstStyle/>
          <a:p>
            <a:pPr algn="l">
              <a:buNone/>
            </a:pPr>
            <a:r>
              <a:rPr sz="1800" b="1">
                <a:solidFill>
                  <a:srgbClr val="1A365D"/>
                </a:solidFill>
                <a:latin typeface="Calibri"/>
                <a:ea typeface="Calibri"/>
                <a:cs typeface="Calibri"/>
              </a:rPr>
              <a:t>Design Decisions</a:t>
            </a:r>
          </a:p>
        </p:txBody>
      </p:sp>
      <p:sp>
        <p:nvSpPr>
          <p:cNvPr id="7" name="TextBox 6">
            <a:extLst>
              <a:ext uri="{FF2B5EF4-FFF2-40B4-BE49-F238E27FC236}">
                <a16:creationId xmlns:a16="http://schemas.microsoft.com/office/drawing/2014/main" id="{BDD6F61D-379A-3762-7EF0-D753B6F3179D}"/>
              </a:ext>
            </a:extLst>
          </p:cNvPr>
          <p:cNvSpPr>
            <a:spLocks noGrp="1"/>
          </p:cNvSpPr>
          <p:nvPr/>
        </p:nvSpPr>
        <p:spPr>
          <a:xfrm>
            <a:off x="548640" y="1645920"/>
            <a:ext cx="5029200" cy="3200400"/>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MenuItem is a simple data class — name, price, category</a:t>
            </a:r>
          </a:p>
          <a:p>
            <a:pPr marL="274320" indent="-182880">
              <a:spcAft>
                <a:spcPts val="600"/>
              </a:spcAft>
              <a:buChar char="•"/>
            </a:pPr>
            <a:r>
              <a:rPr sz="1400" b="0">
                <a:solidFill>
                  <a:srgbClr val="4A5668"/>
                </a:solidFill>
                <a:latin typeface="Calibri"/>
                <a:ea typeface="Calibri"/>
                <a:cs typeface="Calibri"/>
              </a:rPr>
              <a:t>Menu loads all items from Menu.xlsx on initialization</a:t>
            </a:r>
          </a:p>
          <a:p>
            <a:pPr marL="274320" indent="-182880">
              <a:spcAft>
                <a:spcPts val="600"/>
              </a:spcAft>
              <a:buChar char="•"/>
            </a:pPr>
            <a:r>
              <a:rPr sz="1400" b="0">
                <a:solidFill>
                  <a:srgbClr val="4A5668"/>
                </a:solidFill>
                <a:latin typeface="Calibri"/>
                <a:ea typeface="Calibri"/>
                <a:cs typeface="Calibri"/>
              </a:rPr>
              <a:t>Daily Special randomly chosen via random.choice() each session, with configurable discount rate (default 20%)</a:t>
            </a:r>
          </a:p>
          <a:p>
            <a:pPr marL="274320" indent="-182880">
              <a:spcAft>
                <a:spcPts val="600"/>
              </a:spcAft>
              <a:buChar char="•"/>
            </a:pPr>
            <a:r>
              <a:rPr sz="1400" b="0">
                <a:solidFill>
                  <a:srgbClr val="4A5668"/>
                </a:solidFill>
                <a:latin typeface="Calibri"/>
                <a:ea typeface="Calibri"/>
                <a:cs typeface="Calibri"/>
              </a:rPr>
              <a:t>Fuzzy search: get_item() ignores case and spaces, so "fruitsalad" matches "Fruit Salad"</a:t>
            </a:r>
          </a:p>
        </p:txBody>
      </p:sp>
      <p:sp>
        <p:nvSpPr>
          <p:cNvPr id="8" name="TextBox 7">
            <a:extLst>
              <a:ext uri="{FF2B5EF4-FFF2-40B4-BE49-F238E27FC236}">
                <a16:creationId xmlns:a16="http://schemas.microsoft.com/office/drawing/2014/main" id="{B2C86CF7-1BC0-C682-6AD7-7F57FD9C1CEF}"/>
              </a:ext>
            </a:extLst>
          </p:cNvPr>
          <p:cNvSpPr>
            <a:spLocks noGrp="1"/>
          </p:cNvSpPr>
          <p:nvPr/>
        </p:nvSpPr>
        <p:spPr>
          <a:xfrm>
            <a:off x="5462286" y="1276109"/>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8"/>
          <p:cNvPicPr>
            <a:picLocks noChangeAspect="1"/>
          </p:cNvPicPr>
          <p:nvPr/>
        </p:nvPicPr>
        <p:blipFill>
          <a:blip r:embed="rId3"/>
          <a:stretch>
            <a:fillRect/>
          </a:stretch>
        </p:blipFill>
        <p:spPr>
          <a:xfrm>
            <a:off x="5564760" y="1558531"/>
            <a:ext cx="6161304" cy="2178582"/>
          </a:xfrm>
          <a:prstGeom prst="rect">
            <a:avLst/>
          </a:prstGeom>
        </p:spPr>
      </p:pic>
      <p:pic>
        <p:nvPicPr>
          <p:cNvPr id="10" name="Picture 10"/>
          <p:cNvPicPr>
            <a:picLocks noChangeAspect="1"/>
          </p:cNvPicPr>
          <p:nvPr/>
        </p:nvPicPr>
        <p:blipFill>
          <a:blip r:embed="rId4"/>
          <a:stretch>
            <a:fillRect/>
          </a:stretch>
        </p:blipFill>
        <p:spPr>
          <a:xfrm>
            <a:off x="548640" y="3514472"/>
            <a:ext cx="4945157" cy="2663696"/>
          </a:xfrm>
          <a:prstGeom prst="rect">
            <a:avLst/>
          </a:prstGeom>
        </p:spPr>
      </p:pic>
    </p:spTree>
    <p:extLst>
      <p:ext uri="{BB962C8B-B14F-4D97-AF65-F5344CB8AC3E}">
        <p14:creationId xmlns:p14="http://schemas.microsoft.com/office/powerpoint/2010/main" val="1466915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F2F50D-2188-66B5-1134-C46930D9B327}"/>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B4D7854E-3102-5887-25F4-7DA454585627}"/>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Menu &amp; MenuItem</a:t>
            </a:r>
          </a:p>
        </p:txBody>
      </p:sp>
      <p:sp>
        <p:nvSpPr>
          <p:cNvPr id="4" name="TextBox 3">
            <a:extLst>
              <a:ext uri="{FF2B5EF4-FFF2-40B4-BE49-F238E27FC236}">
                <a16:creationId xmlns:a16="http://schemas.microsoft.com/office/drawing/2014/main" id="{150F2D8E-9BDC-B437-199D-969CF9EFAEAD}"/>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backend/menu.py — Menu management with daily specials</a:t>
            </a:r>
          </a:p>
        </p:txBody>
      </p:sp>
      <p:sp>
        <p:nvSpPr>
          <p:cNvPr id="5" name="TextBox 4">
            <a:extLst>
              <a:ext uri="{FF2B5EF4-FFF2-40B4-BE49-F238E27FC236}">
                <a16:creationId xmlns:a16="http://schemas.microsoft.com/office/drawing/2014/main" id="{E4CCEF85-C2D4-E326-5236-28D92956608C}"/>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55008D8B-6C17-7683-D27C-6BA6A05A5A63}"/>
              </a:ext>
            </a:extLst>
          </p:cNvPr>
          <p:cNvSpPr>
            <a:spLocks noGrp="1"/>
          </p:cNvSpPr>
          <p:nvPr/>
        </p:nvSpPr>
        <p:spPr>
          <a:xfrm>
            <a:off x="548640" y="1232414"/>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14"/>
          <p:cNvPicPr>
            <a:picLocks noChangeAspect="1"/>
          </p:cNvPicPr>
          <p:nvPr/>
        </p:nvPicPr>
        <p:blipFill>
          <a:blip r:embed="rId3"/>
          <a:stretch>
            <a:fillRect/>
          </a:stretch>
        </p:blipFill>
        <p:spPr>
          <a:xfrm>
            <a:off x="548640" y="1641868"/>
            <a:ext cx="6440680" cy="1805894"/>
          </a:xfrm>
          <a:prstGeom prst="rect">
            <a:avLst/>
          </a:prstGeom>
        </p:spPr>
      </p:pic>
      <p:pic>
        <p:nvPicPr>
          <p:cNvPr id="10" name="Picture 15"/>
          <p:cNvPicPr>
            <a:picLocks noChangeAspect="1"/>
          </p:cNvPicPr>
          <p:nvPr/>
        </p:nvPicPr>
        <p:blipFill>
          <a:blip r:embed="rId4"/>
          <a:stretch>
            <a:fillRect/>
          </a:stretch>
        </p:blipFill>
        <p:spPr>
          <a:xfrm>
            <a:off x="548640" y="3582896"/>
            <a:ext cx="7917443" cy="2937966"/>
          </a:xfrm>
          <a:prstGeom prst="rect">
            <a:avLst/>
          </a:prstGeom>
        </p:spPr>
      </p:pic>
    </p:spTree>
    <p:extLst>
      <p:ext uri="{BB962C8B-B14F-4D97-AF65-F5344CB8AC3E}">
        <p14:creationId xmlns:p14="http://schemas.microsoft.com/office/powerpoint/2010/main" val="2639388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ECB51D-D4E1-6826-6896-A395F8FC7EF6}"/>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585F73F3-3F1F-910E-8E5A-A64E83B645E6}"/>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Menu &amp; MenuItem</a:t>
            </a:r>
          </a:p>
        </p:txBody>
      </p:sp>
      <p:sp>
        <p:nvSpPr>
          <p:cNvPr id="4" name="TextBox 3">
            <a:extLst>
              <a:ext uri="{FF2B5EF4-FFF2-40B4-BE49-F238E27FC236}">
                <a16:creationId xmlns:a16="http://schemas.microsoft.com/office/drawing/2014/main" id="{C22D2CF4-BC34-7296-FBDB-F347A1F02F80}"/>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backend/menu.py — Menu management with daily specials</a:t>
            </a:r>
          </a:p>
        </p:txBody>
      </p:sp>
      <p:sp>
        <p:nvSpPr>
          <p:cNvPr id="5" name="TextBox 4">
            <a:extLst>
              <a:ext uri="{FF2B5EF4-FFF2-40B4-BE49-F238E27FC236}">
                <a16:creationId xmlns:a16="http://schemas.microsoft.com/office/drawing/2014/main" id="{70616761-102D-800B-C31A-AB21D85EE6C1}"/>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B61A305E-5AC3-0446-E228-F56EE94EE6EF}"/>
              </a:ext>
            </a:extLst>
          </p:cNvPr>
          <p:cNvSpPr>
            <a:spLocks noGrp="1"/>
          </p:cNvSpPr>
          <p:nvPr/>
        </p:nvSpPr>
        <p:spPr>
          <a:xfrm>
            <a:off x="548640" y="128016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9"/>
          <p:cNvPicPr>
            <a:picLocks noChangeAspect="1"/>
          </p:cNvPicPr>
          <p:nvPr/>
        </p:nvPicPr>
        <p:blipFill>
          <a:blip r:embed="rId3"/>
          <a:stretch>
            <a:fillRect/>
          </a:stretch>
        </p:blipFill>
        <p:spPr>
          <a:xfrm>
            <a:off x="548640" y="1667365"/>
            <a:ext cx="8075098" cy="4550555"/>
          </a:xfrm>
          <a:prstGeom prst="rect">
            <a:avLst/>
          </a:prstGeom>
        </p:spPr>
      </p:pic>
    </p:spTree>
    <p:extLst>
      <p:ext uri="{BB962C8B-B14F-4D97-AF65-F5344CB8AC3E}">
        <p14:creationId xmlns:p14="http://schemas.microsoft.com/office/powerpoint/2010/main" val="631334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FEB9CF-6869-B7F2-1D4C-835346728683}"/>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8F4707CA-A5D1-DFF5-1E64-72481A43AEB2}"/>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Order</a:t>
            </a:r>
          </a:p>
        </p:txBody>
      </p:sp>
      <p:sp>
        <p:nvSpPr>
          <p:cNvPr id="4" name="TextBox 3">
            <a:extLst>
              <a:ext uri="{FF2B5EF4-FFF2-40B4-BE49-F238E27FC236}">
                <a16:creationId xmlns:a16="http://schemas.microsoft.com/office/drawing/2014/main" id="{F74802CC-B104-8265-ED8F-EB3CA31D2C89}"/>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backend/order.py — Cart management, pricing, and tax calculation</a:t>
            </a:r>
          </a:p>
        </p:txBody>
      </p:sp>
      <p:sp>
        <p:nvSpPr>
          <p:cNvPr id="5" name="TextBox 4">
            <a:extLst>
              <a:ext uri="{FF2B5EF4-FFF2-40B4-BE49-F238E27FC236}">
                <a16:creationId xmlns:a16="http://schemas.microsoft.com/office/drawing/2014/main" id="{476EDBA2-D3EE-57DA-428A-700265B86D5C}"/>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007810A6-7AC8-BEC9-233C-04495C38F4C1}"/>
              </a:ext>
            </a:extLst>
          </p:cNvPr>
          <p:cNvSpPr>
            <a:spLocks noGrp="1"/>
          </p:cNvSpPr>
          <p:nvPr/>
        </p:nvSpPr>
        <p:spPr>
          <a:xfrm>
            <a:off x="548640" y="1280160"/>
            <a:ext cx="5029200" cy="274320"/>
          </a:xfrm>
          <a:prstGeom prst="rect">
            <a:avLst/>
          </a:prstGeom>
          <a:noFill/>
        </p:spPr>
        <p:txBody>
          <a:bodyPr wrap="square">
            <a:spAutoFit/>
          </a:bodyPr>
          <a:lstStyle/>
          <a:p>
            <a:pPr algn="l">
              <a:buNone/>
            </a:pPr>
            <a:r>
              <a:rPr sz="1800" b="1">
                <a:solidFill>
                  <a:srgbClr val="1A365D"/>
                </a:solidFill>
                <a:latin typeface="Calibri"/>
                <a:ea typeface="Calibri"/>
                <a:cs typeface="Calibri"/>
              </a:rPr>
              <a:t>Design Decisions</a:t>
            </a:r>
          </a:p>
        </p:txBody>
      </p:sp>
      <p:sp>
        <p:nvSpPr>
          <p:cNvPr id="7" name="TextBox 6">
            <a:extLst>
              <a:ext uri="{FF2B5EF4-FFF2-40B4-BE49-F238E27FC236}">
                <a16:creationId xmlns:a16="http://schemas.microsoft.com/office/drawing/2014/main" id="{6B6977B7-8A1E-360C-B063-806D426C5B3A}"/>
              </a:ext>
            </a:extLst>
          </p:cNvPr>
          <p:cNvSpPr>
            <a:spLocks noGrp="1"/>
          </p:cNvSpPr>
          <p:nvPr/>
        </p:nvSpPr>
        <p:spPr>
          <a:xfrm>
            <a:off x="548640" y="1645920"/>
            <a:ext cx="5029200" cy="3200400"/>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Items stored as a list (not dict) — each instance individually, making add/remove simple</a:t>
            </a:r>
          </a:p>
          <a:p>
            <a:pPr marL="274320" indent="-182880">
              <a:spcAft>
                <a:spcPts val="600"/>
              </a:spcAft>
              <a:buChar char="•"/>
            </a:pPr>
            <a:r>
              <a:rPr sz="1400" b="0">
                <a:solidFill>
                  <a:srgbClr val="4A5668"/>
                </a:solidFill>
                <a:latin typeface="Calibri"/>
                <a:ea typeface="Calibri"/>
                <a:cs typeface="Calibri"/>
              </a:rPr>
              <a:t>Discount logic in get_total_after_discount() — only the daily special gets the discount</a:t>
            </a:r>
          </a:p>
          <a:p>
            <a:pPr marL="274320" indent="-182880">
              <a:spcAft>
                <a:spcPts val="600"/>
              </a:spcAft>
              <a:buChar char="•"/>
            </a:pPr>
            <a:r>
              <a:rPr sz="1400" b="0">
                <a:solidFill>
                  <a:srgbClr val="4A5668"/>
                </a:solidFill>
                <a:latin typeface="Calibri"/>
                <a:ea typeface="Calibri"/>
                <a:cs typeface="Calibri"/>
              </a:rPr>
              <a:t>Tax rate is a class constant (0.1 = 10%), easy to adjust</a:t>
            </a:r>
          </a:p>
          <a:p>
            <a:pPr marL="274320" indent="-182880">
              <a:spcAft>
                <a:spcPts val="600"/>
              </a:spcAft>
              <a:buChar char="•"/>
            </a:pPr>
            <a:r>
              <a:rPr sz="1400" b="0">
                <a:solidFill>
                  <a:srgbClr val="4A5668"/>
                </a:solidFill>
                <a:latin typeface="Calibri"/>
                <a:ea typeface="Calibri"/>
                <a:cs typeface="Calibri"/>
              </a:rPr>
              <a:t>save_to_excel() auto-increments order_id and appends to Orders.xlsx with timestamps</a:t>
            </a:r>
          </a:p>
        </p:txBody>
      </p:sp>
      <p:sp>
        <p:nvSpPr>
          <p:cNvPr id="8" name="TextBox 7">
            <a:extLst>
              <a:ext uri="{FF2B5EF4-FFF2-40B4-BE49-F238E27FC236}">
                <a16:creationId xmlns:a16="http://schemas.microsoft.com/office/drawing/2014/main" id="{923591AB-D186-4AEA-B5C2-F213B68143C4}"/>
              </a:ext>
            </a:extLst>
          </p:cNvPr>
          <p:cNvSpPr>
            <a:spLocks noGrp="1"/>
          </p:cNvSpPr>
          <p:nvPr/>
        </p:nvSpPr>
        <p:spPr>
          <a:xfrm>
            <a:off x="5502188" y="128016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9"/>
          <p:cNvPicPr>
            <a:picLocks noChangeAspect="1"/>
          </p:cNvPicPr>
          <p:nvPr/>
        </p:nvPicPr>
        <p:blipFill>
          <a:blip r:embed="rId3"/>
          <a:stretch>
            <a:fillRect/>
          </a:stretch>
        </p:blipFill>
        <p:spPr>
          <a:xfrm>
            <a:off x="5577840" y="1554480"/>
            <a:ext cx="6307465" cy="3789779"/>
          </a:xfrm>
          <a:prstGeom prst="rect">
            <a:avLst/>
          </a:prstGeom>
        </p:spPr>
      </p:pic>
    </p:spTree>
    <p:extLst>
      <p:ext uri="{BB962C8B-B14F-4D97-AF65-F5344CB8AC3E}">
        <p14:creationId xmlns:p14="http://schemas.microsoft.com/office/powerpoint/2010/main" val="1424406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A8CC66-8D3E-4C4E-8ABA-42651D5CE44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F7F77BFB-5F30-4316-B6D4-84262FE7014A}"/>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Order</a:t>
            </a:r>
          </a:p>
        </p:txBody>
      </p:sp>
      <p:sp>
        <p:nvSpPr>
          <p:cNvPr id="4" name="TextBox 3">
            <a:extLst>
              <a:ext uri="{FF2B5EF4-FFF2-40B4-BE49-F238E27FC236}">
                <a16:creationId xmlns:a16="http://schemas.microsoft.com/office/drawing/2014/main" id="{D31759F0-B1C6-4696-BF56-7BAC363A9B91}"/>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backend/order.py — Cart management, pricing, and tax calculation</a:t>
            </a:r>
          </a:p>
        </p:txBody>
      </p:sp>
      <p:sp>
        <p:nvSpPr>
          <p:cNvPr id="5" name="TextBox 4">
            <a:extLst>
              <a:ext uri="{FF2B5EF4-FFF2-40B4-BE49-F238E27FC236}">
                <a16:creationId xmlns:a16="http://schemas.microsoft.com/office/drawing/2014/main" id="{2AB3A407-AD49-41F0-8C55-DCF4D2A67870}"/>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7178CD53-450E-4E34-8333-076B29F089D4}"/>
              </a:ext>
            </a:extLst>
          </p:cNvPr>
          <p:cNvSpPr>
            <a:spLocks noGrp="1"/>
          </p:cNvSpPr>
          <p:nvPr/>
        </p:nvSpPr>
        <p:spPr>
          <a:xfrm>
            <a:off x="548640" y="118872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9"/>
          <p:cNvPicPr>
            <a:picLocks noChangeAspect="1"/>
          </p:cNvPicPr>
          <p:nvPr/>
        </p:nvPicPr>
        <p:blipFill>
          <a:blip r:embed="rId3"/>
          <a:stretch>
            <a:fillRect/>
          </a:stretch>
        </p:blipFill>
        <p:spPr>
          <a:xfrm>
            <a:off x="644135" y="1463040"/>
            <a:ext cx="4664647" cy="3459919"/>
          </a:xfrm>
          <a:prstGeom prst="rect">
            <a:avLst/>
          </a:prstGeom>
        </p:spPr>
      </p:pic>
      <p:pic>
        <p:nvPicPr>
          <p:cNvPr id="10" name="Picture 10"/>
          <p:cNvPicPr>
            <a:picLocks noChangeAspect="1"/>
          </p:cNvPicPr>
          <p:nvPr/>
        </p:nvPicPr>
        <p:blipFill>
          <a:blip r:embed="rId4"/>
          <a:stretch>
            <a:fillRect/>
          </a:stretch>
        </p:blipFill>
        <p:spPr>
          <a:xfrm>
            <a:off x="5839289" y="1463040"/>
            <a:ext cx="5429935" cy="4594054"/>
          </a:xfrm>
          <a:prstGeom prst="rect">
            <a:avLst/>
          </a:prstGeom>
        </p:spPr>
      </p:pic>
    </p:spTree>
    <p:extLst>
      <p:ext uri="{BB962C8B-B14F-4D97-AF65-F5344CB8AC3E}">
        <p14:creationId xmlns:p14="http://schemas.microsoft.com/office/powerpoint/2010/main" val="1879959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E16E12-FD13-B1D1-3D74-EADF0A109333}"/>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33ECD2A0-46DE-9E5E-7B6F-410EFD5810A0}"/>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Order</a:t>
            </a:r>
          </a:p>
        </p:txBody>
      </p:sp>
      <p:sp>
        <p:nvSpPr>
          <p:cNvPr id="4" name="TextBox 3">
            <a:extLst>
              <a:ext uri="{FF2B5EF4-FFF2-40B4-BE49-F238E27FC236}">
                <a16:creationId xmlns:a16="http://schemas.microsoft.com/office/drawing/2014/main" id="{46346EC1-CCA2-9C0A-2219-F7854331BBF6}"/>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backend/order.py — Cart management, pricing, and tax calculation</a:t>
            </a:r>
          </a:p>
        </p:txBody>
      </p:sp>
      <p:sp>
        <p:nvSpPr>
          <p:cNvPr id="5" name="TextBox 4">
            <a:extLst>
              <a:ext uri="{FF2B5EF4-FFF2-40B4-BE49-F238E27FC236}">
                <a16:creationId xmlns:a16="http://schemas.microsoft.com/office/drawing/2014/main" id="{49702DEC-2AFD-341D-CA84-B5CCC03B3D09}"/>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FB533385-360F-B8B2-43C8-B94DEA119DC3}"/>
              </a:ext>
            </a:extLst>
          </p:cNvPr>
          <p:cNvSpPr>
            <a:spLocks noGrp="1"/>
          </p:cNvSpPr>
          <p:nvPr/>
        </p:nvSpPr>
        <p:spPr>
          <a:xfrm>
            <a:off x="548640" y="118872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5"/>
          <p:cNvPicPr>
            <a:picLocks noChangeAspect="1"/>
          </p:cNvPicPr>
          <p:nvPr/>
        </p:nvPicPr>
        <p:blipFill>
          <a:blip r:embed="rId3"/>
          <a:stretch>
            <a:fillRect/>
          </a:stretch>
        </p:blipFill>
        <p:spPr>
          <a:xfrm>
            <a:off x="614154" y="1463040"/>
            <a:ext cx="4110430" cy="4779220"/>
          </a:xfrm>
          <a:prstGeom prst="rect">
            <a:avLst/>
          </a:prstGeom>
        </p:spPr>
      </p:pic>
      <p:pic>
        <p:nvPicPr>
          <p:cNvPr id="10" name="Picture 6"/>
          <p:cNvPicPr>
            <a:picLocks noChangeAspect="1"/>
          </p:cNvPicPr>
          <p:nvPr/>
        </p:nvPicPr>
        <p:blipFill>
          <a:blip r:embed="rId4"/>
          <a:stretch>
            <a:fillRect/>
          </a:stretch>
        </p:blipFill>
        <p:spPr>
          <a:xfrm>
            <a:off x="4905614" y="1463040"/>
            <a:ext cx="6672232" cy="2076148"/>
          </a:xfrm>
          <a:prstGeom prst="rect">
            <a:avLst/>
          </a:prstGeom>
        </p:spPr>
      </p:pic>
    </p:spTree>
    <p:extLst>
      <p:ext uri="{BB962C8B-B14F-4D97-AF65-F5344CB8AC3E}">
        <p14:creationId xmlns:p14="http://schemas.microsoft.com/office/powerpoint/2010/main" val="3809044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E5292A-FF11-4FD2-A1B2-F204803BD818}"/>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73DE5080-ACC4-4AF0-BF08-3D88C74B9C38}"/>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Class: Inventory</a:t>
            </a:r>
          </a:p>
        </p:txBody>
      </p:sp>
      <p:sp>
        <p:nvSpPr>
          <p:cNvPr id="4" name="TextBox 3">
            <a:extLst>
              <a:ext uri="{FF2B5EF4-FFF2-40B4-BE49-F238E27FC236}">
                <a16:creationId xmlns:a16="http://schemas.microsoft.com/office/drawing/2014/main" id="{ACCD7D30-A5FA-48CA-BE3E-636B16085225}"/>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backend/inventory_ShuranRyu.py — adapted from Shuran and Ryu's Week 1 inventory class</a:t>
            </a:r>
          </a:p>
        </p:txBody>
      </p:sp>
      <p:sp>
        <p:nvSpPr>
          <p:cNvPr id="5" name="TextBox 4">
            <a:extLst>
              <a:ext uri="{FF2B5EF4-FFF2-40B4-BE49-F238E27FC236}">
                <a16:creationId xmlns:a16="http://schemas.microsoft.com/office/drawing/2014/main" id="{747F9288-80BE-4878-BE98-B7ADB8BB5FFC}"/>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ounded Rectangle 5">
            <a:extLst>
              <a:ext uri="{FF2B5EF4-FFF2-40B4-BE49-F238E27FC236}">
                <a16:creationId xmlns:a16="http://schemas.microsoft.com/office/drawing/2014/main" id="{86DE73E2-5B0A-4702-99DA-09EED700B252}"/>
              </a:ext>
            </a:extLst>
          </p:cNvPr>
          <p:cNvSpPr>
            <a:spLocks noGrp="1"/>
          </p:cNvSpPr>
          <p:nvPr/>
        </p:nvSpPr>
        <p:spPr>
          <a:xfrm>
            <a:off x="548640" y="1280160"/>
            <a:ext cx="10972800" cy="82296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5B002E12-5BDD-4F1C-B6F3-21726DDED17F}"/>
              </a:ext>
            </a:extLst>
          </p:cNvPr>
          <p:cNvSpPr>
            <a:spLocks noGrp="1"/>
          </p:cNvSpPr>
          <p:nvPr/>
        </p:nvSpPr>
        <p:spPr>
          <a:xfrm>
            <a:off x="822960" y="137160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Why We Chose This Class</a:t>
            </a:r>
          </a:p>
        </p:txBody>
      </p:sp>
      <p:sp>
        <p:nvSpPr>
          <p:cNvPr id="8" name="TextBox 7">
            <a:extLst>
              <a:ext uri="{FF2B5EF4-FFF2-40B4-BE49-F238E27FC236}">
                <a16:creationId xmlns:a16="http://schemas.microsoft.com/office/drawing/2014/main" id="{5C959335-84D8-474D-8F1F-E0110937F7D6}"/>
              </a:ext>
            </a:extLst>
          </p:cNvPr>
          <p:cNvSpPr>
            <a:spLocks noGrp="1"/>
          </p:cNvSpPr>
          <p:nvPr/>
        </p:nvSpPr>
        <p:spPr>
          <a:xfrm>
            <a:off x="822960" y="1645920"/>
            <a:ext cx="10424160" cy="636876"/>
          </a:xfrm>
          <a:prstGeom prst="rect">
            <a:avLst/>
          </a:prstGeom>
          <a:noFill/>
        </p:spPr>
        <p:txBody>
          <a:bodyPr wrap="square">
            <a:spAutoFit/>
          </a:bodyPr>
          <a:lstStyle/>
          <a:p>
            <a:pPr algn="l">
              <a:buNone/>
            </a:pPr>
            <a:r>
              <a:rPr sz="1200" b="0">
                <a:solidFill>
                  <a:srgbClr val="4A5668"/>
                </a:solidFill>
                <a:latin typeface="Calibri"/>
                <a:ea typeface="Calibri"/>
                <a:cs typeface="Calibri"/>
              </a:rPr>
              <a:t>We selected Shuran and Ryu's Inventory class because it followed the shared contract closely and kept the stock logic simple: a dictionary keyed by item name plus clear methods for checking, deducting, and restocking inventory. That made it the easiest Week 1 class to trust, extend, and wire into our Week 2 app controller.</a:t>
            </a:r>
          </a:p>
        </p:txBody>
      </p:sp>
      <p:sp>
        <p:nvSpPr>
          <p:cNvPr id="9" name="TextBox 8">
            <a:extLst>
              <a:ext uri="{FF2B5EF4-FFF2-40B4-BE49-F238E27FC236}">
                <a16:creationId xmlns:a16="http://schemas.microsoft.com/office/drawing/2014/main" id="{FA5DAA10-59C3-4281-840A-3FDD6BCD31A9}"/>
              </a:ext>
            </a:extLst>
          </p:cNvPr>
          <p:cNvSpPr>
            <a:spLocks noGrp="1"/>
          </p:cNvSpPr>
          <p:nvPr/>
        </p:nvSpPr>
        <p:spPr>
          <a:xfrm>
            <a:off x="548640" y="2377440"/>
            <a:ext cx="5029200" cy="370562"/>
          </a:xfrm>
          <a:prstGeom prst="rect">
            <a:avLst/>
          </a:prstGeom>
          <a:noFill/>
        </p:spPr>
        <p:txBody>
          <a:bodyPr wrap="square">
            <a:spAutoFit/>
          </a:bodyPr>
          <a:lstStyle/>
          <a:p>
            <a:pPr algn="l">
              <a:buNone/>
            </a:pPr>
            <a:r>
              <a:rPr sz="1800" b="1">
                <a:solidFill>
                  <a:srgbClr val="1A365D"/>
                </a:solidFill>
                <a:latin typeface="Calibri"/>
                <a:ea typeface="Calibri"/>
                <a:cs typeface="Calibri"/>
              </a:rPr>
              <a:t>What We Reused</a:t>
            </a:r>
          </a:p>
        </p:txBody>
      </p:sp>
      <p:sp>
        <p:nvSpPr>
          <p:cNvPr id="10" name="TextBox 9">
            <a:extLst>
              <a:ext uri="{FF2B5EF4-FFF2-40B4-BE49-F238E27FC236}">
                <a16:creationId xmlns:a16="http://schemas.microsoft.com/office/drawing/2014/main" id="{299B29F9-5EEF-4DAF-BA5B-9695E9B72937}"/>
              </a:ext>
            </a:extLst>
          </p:cNvPr>
          <p:cNvSpPr>
            <a:spLocks noGrp="1"/>
          </p:cNvSpPr>
          <p:nvPr/>
        </p:nvSpPr>
        <p:spPr>
          <a:xfrm>
            <a:off x="548640" y="2743200"/>
            <a:ext cx="5029200" cy="2093153"/>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check_stock(item) returns a clean True/False guard before ordering</a:t>
            </a:r>
          </a:p>
          <a:p>
            <a:pPr marL="274320" indent="-182880">
              <a:spcAft>
                <a:spcPts val="600"/>
              </a:spcAft>
              <a:buChar char="•"/>
            </a:pPr>
            <a:r>
              <a:rPr sz="1400" b="0">
                <a:solidFill>
                  <a:srgbClr val="4A5668"/>
                </a:solidFill>
                <a:latin typeface="Calibri"/>
                <a:ea typeface="Calibri"/>
                <a:cs typeface="Calibri"/>
              </a:rPr>
              <a:t>deduct_stock(item) reduces one unit at a time for accurate quantity loops</a:t>
            </a:r>
          </a:p>
          <a:p>
            <a:pPr marL="274320" indent="-182880">
              <a:spcAft>
                <a:spcPts val="600"/>
              </a:spcAft>
              <a:buChar char="•"/>
            </a:pPr>
            <a:r>
              <a:rPr sz="1400" b="0">
                <a:solidFill>
                  <a:srgbClr val="4A5668"/>
                </a:solidFill>
                <a:latin typeface="Calibri"/>
                <a:ea typeface="Calibri"/>
                <a:cs typeface="Calibri"/>
              </a:rPr>
              <a:t>restock(name, amount) already matched the staff restock workflow</a:t>
            </a:r>
          </a:p>
          <a:p>
            <a:pPr marL="274320" indent="-182880">
              <a:spcAft>
                <a:spcPts val="600"/>
              </a:spcAft>
              <a:buChar char="•"/>
            </a:pPr>
            <a:r>
              <a:rPr sz="1400" b="0">
                <a:solidFill>
                  <a:srgbClr val="4A5668"/>
                </a:solidFill>
                <a:latin typeface="Calibri"/>
                <a:ea typeface="Calibri"/>
                <a:cs typeface="Calibri"/>
              </a:rPr>
              <a:t>stock_report() gave us a solid foundation for the staff inventory view</a:t>
            </a:r>
          </a:p>
        </p:txBody>
      </p:sp>
      <p:sp>
        <p:nvSpPr>
          <p:cNvPr id="11" name="TextBox 10">
            <a:extLst>
              <a:ext uri="{FF2B5EF4-FFF2-40B4-BE49-F238E27FC236}">
                <a16:creationId xmlns:a16="http://schemas.microsoft.com/office/drawing/2014/main" id="{724FA0A0-4A88-40DE-A56C-0AE262398D31}"/>
              </a:ext>
            </a:extLst>
          </p:cNvPr>
          <p:cNvSpPr>
            <a:spLocks noGrp="1"/>
          </p:cNvSpPr>
          <p:nvPr/>
        </p:nvSpPr>
        <p:spPr>
          <a:xfrm>
            <a:off x="5492978" y="228600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COLLABORATIVE INTEGRATION</a:t>
            </a:r>
          </a:p>
        </p:txBody>
      </p:sp>
      <p:pic>
        <p:nvPicPr>
          <p:cNvPr id="12" name="Picture 12"/>
          <p:cNvPicPr>
            <a:picLocks noChangeAspect="1"/>
          </p:cNvPicPr>
          <p:nvPr/>
        </p:nvPicPr>
        <p:blipFill>
          <a:blip r:embed="rId3"/>
          <a:stretch>
            <a:fillRect/>
          </a:stretch>
        </p:blipFill>
        <p:spPr>
          <a:xfrm>
            <a:off x="5492978" y="2560320"/>
            <a:ext cx="6150382" cy="3402017"/>
          </a:xfrm>
          <a:prstGeom prst="rect">
            <a:avLst/>
          </a:prstGeom>
        </p:spPr>
      </p:pic>
    </p:spTree>
    <p:extLst>
      <p:ext uri="{BB962C8B-B14F-4D97-AF65-F5344CB8AC3E}">
        <p14:creationId xmlns:p14="http://schemas.microsoft.com/office/powerpoint/2010/main" val="1103873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60432A-8723-E631-5A37-0F1CD2B1F582}"/>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BE804E3-C499-9D08-C66A-13D23BAE81A9}"/>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Class: Inventory</a:t>
            </a:r>
          </a:p>
        </p:txBody>
      </p:sp>
      <p:sp>
        <p:nvSpPr>
          <p:cNvPr id="4" name="TextBox 3">
            <a:extLst>
              <a:ext uri="{FF2B5EF4-FFF2-40B4-BE49-F238E27FC236}">
                <a16:creationId xmlns:a16="http://schemas.microsoft.com/office/drawing/2014/main" id="{81606DDF-7CCB-05D0-B003-749D4E5BE106}"/>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backend/inventory_ShuranRyu.py — compatibility changes for our full app</a:t>
            </a:r>
          </a:p>
        </p:txBody>
      </p:sp>
      <p:sp>
        <p:nvSpPr>
          <p:cNvPr id="5" name="TextBox 4">
            <a:extLst>
              <a:ext uri="{FF2B5EF4-FFF2-40B4-BE49-F238E27FC236}">
                <a16:creationId xmlns:a16="http://schemas.microsoft.com/office/drawing/2014/main" id="{A30168ED-B298-4CE9-103B-475A63B56590}"/>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ounded Rectangle 5">
            <a:extLst>
              <a:ext uri="{FF2B5EF4-FFF2-40B4-BE49-F238E27FC236}">
                <a16:creationId xmlns:a16="http://schemas.microsoft.com/office/drawing/2014/main" id="{F6BC2638-78D4-CD1D-06A0-FA25227F49EB}"/>
              </a:ext>
            </a:extLst>
          </p:cNvPr>
          <p:cNvSpPr>
            <a:spLocks noGrp="1"/>
          </p:cNvSpPr>
          <p:nvPr/>
        </p:nvSpPr>
        <p:spPr>
          <a:xfrm>
            <a:off x="548640" y="1280160"/>
            <a:ext cx="10972800" cy="1002636"/>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A2105CC-FF6E-5C47-69A1-CA869427F2F0}"/>
              </a:ext>
            </a:extLst>
          </p:cNvPr>
          <p:cNvSpPr>
            <a:spLocks noGrp="1"/>
          </p:cNvSpPr>
          <p:nvPr/>
        </p:nvSpPr>
        <p:spPr>
          <a:xfrm>
            <a:off x="822960" y="137160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Compatibility Changes We Made</a:t>
            </a:r>
          </a:p>
        </p:txBody>
      </p:sp>
      <p:sp>
        <p:nvSpPr>
          <p:cNvPr id="8" name="TextBox 7">
            <a:extLst>
              <a:ext uri="{FF2B5EF4-FFF2-40B4-BE49-F238E27FC236}">
                <a16:creationId xmlns:a16="http://schemas.microsoft.com/office/drawing/2014/main" id="{0CBA71ED-AAB1-0FFB-510F-A57DFB8EF755}"/>
              </a:ext>
            </a:extLst>
          </p:cNvPr>
          <p:cNvSpPr>
            <a:spLocks noGrp="1"/>
          </p:cNvSpPr>
          <p:nvPr/>
        </p:nvSpPr>
        <p:spPr>
          <a:xfrm>
            <a:off x="822960" y="1645920"/>
            <a:ext cx="10424160" cy="636876"/>
          </a:xfrm>
          <a:prstGeom prst="rect">
            <a:avLst/>
          </a:prstGeom>
          <a:noFill/>
        </p:spPr>
        <p:txBody>
          <a:bodyPr wrap="square">
            <a:spAutoFit/>
          </a:bodyPr>
          <a:lstStyle/>
          <a:p>
            <a:pPr algn="l">
              <a:buNone/>
            </a:pPr>
            <a:r>
              <a:rPr sz="1200" b="0">
                <a:solidFill>
                  <a:srgbClr val="4A5668"/>
                </a:solidFill>
                <a:latin typeface="Calibri"/>
                <a:ea typeface="Calibri"/>
                <a:cs typeface="Calibri"/>
              </a:rPr>
              <a:t>Shuran and Ryu's original version used a hard-coded stock dictionary and a local test Item class. We preserved the required stock contract, then connected inventory to real MenuItem objects, Excel persistence, restore-on-delete behavior, and the shared data_file() helper used by both the CLI and the deployed app.</a:t>
            </a:r>
          </a:p>
        </p:txBody>
      </p:sp>
      <p:sp>
        <p:nvSpPr>
          <p:cNvPr id="11" name="TextBox 10">
            <a:extLst>
              <a:ext uri="{FF2B5EF4-FFF2-40B4-BE49-F238E27FC236}">
                <a16:creationId xmlns:a16="http://schemas.microsoft.com/office/drawing/2014/main" id="{19D04F1D-A5CC-5E70-8ED0-3E2A8B12125B}"/>
              </a:ext>
            </a:extLst>
          </p:cNvPr>
          <p:cNvSpPr>
            <a:spLocks noGrp="1"/>
          </p:cNvSpPr>
          <p:nvPr/>
        </p:nvSpPr>
        <p:spPr>
          <a:xfrm>
            <a:off x="548640" y="228600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COMPATIBILITY LAYER</a:t>
            </a:r>
          </a:p>
        </p:txBody>
      </p:sp>
      <p:pic>
        <p:nvPicPr>
          <p:cNvPr id="12" name="Picture 12"/>
          <p:cNvPicPr>
            <a:picLocks noChangeAspect="1"/>
          </p:cNvPicPr>
          <p:nvPr/>
        </p:nvPicPr>
        <p:blipFill>
          <a:blip r:embed="rId3"/>
          <a:stretch>
            <a:fillRect/>
          </a:stretch>
        </p:blipFill>
        <p:spPr>
          <a:xfrm>
            <a:off x="637559" y="2560320"/>
            <a:ext cx="5092243" cy="3854498"/>
          </a:xfrm>
          <a:prstGeom prst="rect">
            <a:avLst/>
          </a:prstGeom>
        </p:spPr>
      </p:pic>
      <p:pic>
        <p:nvPicPr>
          <p:cNvPr id="13" name="Picture 13"/>
          <p:cNvPicPr>
            <a:picLocks noChangeAspect="1"/>
          </p:cNvPicPr>
          <p:nvPr/>
        </p:nvPicPr>
        <p:blipFill>
          <a:blip r:embed="rId4"/>
          <a:stretch>
            <a:fillRect/>
          </a:stretch>
        </p:blipFill>
        <p:spPr>
          <a:xfrm>
            <a:off x="6035040" y="2332408"/>
            <a:ext cx="5486400" cy="4296992"/>
          </a:xfrm>
          <a:prstGeom prst="rect">
            <a:avLst/>
          </a:prstGeom>
        </p:spPr>
      </p:pic>
    </p:spTree>
    <p:extLst>
      <p:ext uri="{BB962C8B-B14F-4D97-AF65-F5344CB8AC3E}">
        <p14:creationId xmlns:p14="http://schemas.microsoft.com/office/powerpoint/2010/main" val="2935713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A8340D-FFFF-CCEB-F435-45663974D48B}"/>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5E252472-3B33-BE56-A747-A220BFE118BC}"/>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Class: Inventory</a:t>
            </a:r>
          </a:p>
        </p:txBody>
      </p:sp>
      <p:sp>
        <p:nvSpPr>
          <p:cNvPr id="4" name="TextBox 3">
            <a:extLst>
              <a:ext uri="{FF2B5EF4-FFF2-40B4-BE49-F238E27FC236}">
                <a16:creationId xmlns:a16="http://schemas.microsoft.com/office/drawing/2014/main" id="{1CB537D3-F8FD-C68A-EC85-6096CAC43562}"/>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backend/inventory_ShuranRyu.py — debugging lessons and integration challenges</a:t>
            </a:r>
          </a:p>
        </p:txBody>
      </p:sp>
      <p:sp>
        <p:nvSpPr>
          <p:cNvPr id="5" name="TextBox 4">
            <a:extLst>
              <a:ext uri="{FF2B5EF4-FFF2-40B4-BE49-F238E27FC236}">
                <a16:creationId xmlns:a16="http://schemas.microsoft.com/office/drawing/2014/main" id="{D3BDCD98-8EED-61BD-F081-44C51A04FA59}"/>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ounded Rectangle 5">
            <a:extLst>
              <a:ext uri="{FF2B5EF4-FFF2-40B4-BE49-F238E27FC236}">
                <a16:creationId xmlns:a16="http://schemas.microsoft.com/office/drawing/2014/main" id="{4CF17F8B-371F-388D-796B-F40C79849F13}"/>
              </a:ext>
            </a:extLst>
          </p:cNvPr>
          <p:cNvSpPr>
            <a:spLocks noGrp="1"/>
          </p:cNvSpPr>
          <p:nvPr/>
        </p:nvSpPr>
        <p:spPr>
          <a:xfrm>
            <a:off x="548640" y="1280160"/>
            <a:ext cx="10972800" cy="1002636"/>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82623D1-E035-0D3A-7061-0CB72728C347}"/>
              </a:ext>
            </a:extLst>
          </p:cNvPr>
          <p:cNvSpPr>
            <a:spLocks noGrp="1"/>
          </p:cNvSpPr>
          <p:nvPr/>
        </p:nvSpPr>
        <p:spPr>
          <a:xfrm>
            <a:off x="822960" y="137160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Challenges We Faced</a:t>
            </a:r>
          </a:p>
        </p:txBody>
      </p:sp>
      <p:sp>
        <p:nvSpPr>
          <p:cNvPr id="8" name="TextBox 7">
            <a:extLst>
              <a:ext uri="{FF2B5EF4-FFF2-40B4-BE49-F238E27FC236}">
                <a16:creationId xmlns:a16="http://schemas.microsoft.com/office/drawing/2014/main" id="{99E169CC-7AEF-6898-B9CD-418B829B9523}"/>
              </a:ext>
            </a:extLst>
          </p:cNvPr>
          <p:cNvSpPr>
            <a:spLocks noGrp="1"/>
          </p:cNvSpPr>
          <p:nvPr/>
        </p:nvSpPr>
        <p:spPr>
          <a:xfrm>
            <a:off x="822960" y="1645920"/>
            <a:ext cx="10424160" cy="646331"/>
          </a:xfrm>
          <a:prstGeom prst="rect">
            <a:avLst/>
          </a:prstGeom>
          <a:noFill/>
        </p:spPr>
        <p:txBody>
          <a:bodyPr wrap="square">
            <a:spAutoFit/>
          </a:bodyPr>
          <a:lstStyle/>
          <a:p>
            <a:pPr algn="l">
              <a:buNone/>
            </a:pPr>
            <a:r>
              <a:rPr sz="1200" b="0">
                <a:solidFill>
                  <a:srgbClr val="4A5668"/>
                </a:solidFill>
                <a:latin typeface="Calibri"/>
                <a:ea typeface="Calibri"/>
                <a:cs typeface="Calibri"/>
              </a:rPr>
              <a:t>The hardest part was interface mismatch and state synchronization. The original code printed stock messages directly, stored data only in memory, and assumed a local data/ path. We moved user-facing messages into the controller/API, matched stock keys to MenuItem.name, restored stock on cart deletion, and centralized file access through data_file().</a:t>
            </a:r>
          </a:p>
        </p:txBody>
      </p:sp>
      <p:sp>
        <p:nvSpPr>
          <p:cNvPr id="11" name="TextBox 10">
            <a:extLst>
              <a:ext uri="{FF2B5EF4-FFF2-40B4-BE49-F238E27FC236}">
                <a16:creationId xmlns:a16="http://schemas.microsoft.com/office/drawing/2014/main" id="{6ABDCFD0-D27A-B910-4DB6-EE0E4574B89C}"/>
              </a:ext>
            </a:extLst>
          </p:cNvPr>
          <p:cNvSpPr>
            <a:spLocks noGrp="1"/>
          </p:cNvSpPr>
          <p:nvPr/>
        </p:nvSpPr>
        <p:spPr>
          <a:xfrm>
            <a:off x="548640" y="228600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ADAPTATION &amp; DEBUGGING</a:t>
            </a:r>
          </a:p>
        </p:txBody>
      </p:sp>
      <p:pic>
        <p:nvPicPr>
          <p:cNvPr id="12" name="Picture 8"/>
          <p:cNvPicPr>
            <a:picLocks noChangeAspect="1"/>
          </p:cNvPicPr>
          <p:nvPr/>
        </p:nvPicPr>
        <p:blipFill>
          <a:blip r:embed="rId3"/>
          <a:stretch>
            <a:fillRect/>
          </a:stretch>
        </p:blipFill>
        <p:spPr>
          <a:xfrm>
            <a:off x="634160" y="2560320"/>
            <a:ext cx="6659079" cy="3871399"/>
          </a:xfrm>
          <a:prstGeom prst="rect">
            <a:avLst/>
          </a:prstGeom>
        </p:spPr>
      </p:pic>
    </p:spTree>
    <p:extLst>
      <p:ext uri="{BB962C8B-B14F-4D97-AF65-F5344CB8AC3E}">
        <p14:creationId xmlns:p14="http://schemas.microsoft.com/office/powerpoint/2010/main" val="1910192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FD50D4-6215-4D05-B2F5-7FAECC92797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60333A9-4C9B-482A-BB24-9543D5FC661F}"/>
              </a:ext>
            </a:extLst>
          </p:cNvPr>
          <p:cNvSpPr>
            <a:spLocks noGrp="1"/>
          </p:cNvSpPr>
          <p:nvPr/>
        </p:nvSpPr>
        <p:spPr>
          <a:xfrm>
            <a:off x="548640" y="182880"/>
            <a:ext cx="9144000" cy="959821"/>
          </a:xfrm>
          <a:prstGeom prst="rect">
            <a:avLst/>
          </a:prstGeom>
          <a:noFill/>
        </p:spPr>
        <p:txBody>
          <a:bodyPr wrap="square">
            <a:spAutoFit/>
          </a:bodyPr>
          <a:lstStyle/>
          <a:p>
            <a:pPr algn="l">
              <a:buNone/>
            </a:pPr>
            <a:r>
              <a:rPr sz="2800" b="1">
                <a:solidFill>
                  <a:srgbClr val="FFFFFF"/>
                </a:solidFill>
                <a:latin typeface="Calibri"/>
                <a:ea typeface="Calibri"/>
                <a:cs typeface="Calibri"/>
              </a:rPr>
              <a:t>Inventory Integration — What Broke And What We Fixed</a:t>
            </a:r>
          </a:p>
        </p:txBody>
      </p:sp>
      <p:sp>
        <p:nvSpPr>
          <p:cNvPr id="4" name="TextBox 3">
            <a:extLst>
              <a:ext uri="{FF2B5EF4-FFF2-40B4-BE49-F238E27FC236}">
                <a16:creationId xmlns:a16="http://schemas.microsoft.com/office/drawing/2014/main" id="{C58BAA1E-8A5D-47AF-884A-74CECB2280AA}"/>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5" name="Rounded Rectangle 4">
            <a:extLst>
              <a:ext uri="{FF2B5EF4-FFF2-40B4-BE49-F238E27FC236}">
                <a16:creationId xmlns:a16="http://schemas.microsoft.com/office/drawing/2014/main" id="{F8E59D4B-2A8A-4772-90F3-E5B820B9D47A}"/>
              </a:ext>
            </a:extLst>
          </p:cNvPr>
          <p:cNvSpPr>
            <a:spLocks noGrp="1"/>
          </p:cNvSpPr>
          <p:nvPr/>
        </p:nvSpPr>
        <p:spPr>
          <a:xfrm>
            <a:off x="54864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292BC5B1-FBA3-4941-B692-D695ACE9DAB8}"/>
              </a:ext>
            </a:extLst>
          </p:cNvPr>
          <p:cNvSpPr>
            <a:spLocks noGrp="1"/>
          </p:cNvSpPr>
          <p:nvPr/>
        </p:nvSpPr>
        <p:spPr>
          <a:xfrm>
            <a:off x="54864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5A1483D-1109-4284-8E93-BE24C4E0B91D}"/>
              </a:ext>
            </a:extLst>
          </p:cNvPr>
          <p:cNvSpPr>
            <a:spLocks noGrp="1"/>
          </p:cNvSpPr>
          <p:nvPr/>
        </p:nvSpPr>
        <p:spPr>
          <a:xfrm>
            <a:off x="73152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Original Assumptions</a:t>
            </a:r>
          </a:p>
        </p:txBody>
      </p:sp>
      <p:sp>
        <p:nvSpPr>
          <p:cNvPr id="8" name="TextBox 7">
            <a:extLst>
              <a:ext uri="{FF2B5EF4-FFF2-40B4-BE49-F238E27FC236}">
                <a16:creationId xmlns:a16="http://schemas.microsoft.com/office/drawing/2014/main" id="{263D54C9-A53E-4210-BF09-F682CBBBDF5E}"/>
              </a:ext>
            </a:extLst>
          </p:cNvPr>
          <p:cNvSpPr>
            <a:spLocks noGrp="1"/>
          </p:cNvSpPr>
          <p:nvPr/>
        </p:nvSpPr>
        <p:spPr>
          <a:xfrm>
            <a:off x="731520" y="1783080"/>
            <a:ext cx="5029200" cy="1123489"/>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Stock lived in a hard-coded dictionary</a:t>
            </a:r>
          </a:p>
          <a:p>
            <a:pPr marL="274320" indent="-182880">
              <a:spcAft>
                <a:spcPts val="600"/>
              </a:spcAft>
              <a:buChar char="•"/>
            </a:pPr>
            <a:r>
              <a:rPr sz="1200" b="0">
                <a:solidFill>
                  <a:srgbClr val="4A5668"/>
                </a:solidFill>
                <a:latin typeface="Calibri"/>
                <a:ea typeface="Calibri"/>
                <a:cs typeface="Calibri"/>
              </a:rPr>
              <a:t>A local Item test class stood in for real menu items</a:t>
            </a:r>
          </a:p>
          <a:p>
            <a:pPr marL="274320" indent="-182880">
              <a:spcAft>
                <a:spcPts val="600"/>
              </a:spcAft>
              <a:buChar char="•"/>
            </a:pPr>
            <a:r>
              <a:rPr sz="1200" b="0">
                <a:solidFill>
                  <a:srgbClr val="4A5668"/>
                </a:solidFill>
                <a:latin typeface="Calibri"/>
                <a:ea typeface="Calibri"/>
                <a:cs typeface="Calibri"/>
              </a:rPr>
              <a:t>check_stock() handled user messaging itself</a:t>
            </a:r>
          </a:p>
          <a:p>
            <a:pPr marL="274320" indent="-182880">
              <a:spcAft>
                <a:spcPts val="600"/>
              </a:spcAft>
              <a:buChar char="•"/>
            </a:pPr>
            <a:r>
              <a:rPr sz="1200" b="0">
                <a:solidFill>
                  <a:srgbClr val="4A5668"/>
                </a:solidFill>
                <a:latin typeface="Calibri"/>
                <a:ea typeface="Calibri"/>
                <a:cs typeface="Calibri"/>
              </a:rPr>
              <a:t>No Excel persistence or cart-delete restore path</a:t>
            </a:r>
          </a:p>
        </p:txBody>
      </p:sp>
      <p:sp>
        <p:nvSpPr>
          <p:cNvPr id="9" name="Rounded Rectangle 8">
            <a:extLst>
              <a:ext uri="{FF2B5EF4-FFF2-40B4-BE49-F238E27FC236}">
                <a16:creationId xmlns:a16="http://schemas.microsoft.com/office/drawing/2014/main" id="{EB5EE14A-2A93-41F2-8E3D-D72BE75ED947}"/>
              </a:ext>
            </a:extLst>
          </p:cNvPr>
          <p:cNvSpPr>
            <a:spLocks noGrp="1"/>
          </p:cNvSpPr>
          <p:nvPr/>
        </p:nvSpPr>
        <p:spPr>
          <a:xfrm>
            <a:off x="621792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17AD7560-F8F0-403C-92FD-1DDB598ECB3B}"/>
              </a:ext>
            </a:extLst>
          </p:cNvPr>
          <p:cNvSpPr>
            <a:spLocks noGrp="1"/>
          </p:cNvSpPr>
          <p:nvPr/>
        </p:nvSpPr>
        <p:spPr>
          <a:xfrm>
            <a:off x="621792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B42F5C-1DBA-4C16-8368-93C4829F08B5}"/>
              </a:ext>
            </a:extLst>
          </p:cNvPr>
          <p:cNvSpPr>
            <a:spLocks noGrp="1"/>
          </p:cNvSpPr>
          <p:nvPr/>
        </p:nvSpPr>
        <p:spPr>
          <a:xfrm>
            <a:off x="640080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Integration Problems</a:t>
            </a:r>
          </a:p>
        </p:txBody>
      </p:sp>
      <p:sp>
        <p:nvSpPr>
          <p:cNvPr id="12" name="TextBox 11">
            <a:extLst>
              <a:ext uri="{FF2B5EF4-FFF2-40B4-BE49-F238E27FC236}">
                <a16:creationId xmlns:a16="http://schemas.microsoft.com/office/drawing/2014/main" id="{D3EFCEA9-EDE0-42C1-9FE1-AB1855FC4B4B}"/>
              </a:ext>
            </a:extLst>
          </p:cNvPr>
          <p:cNvSpPr>
            <a:spLocks noGrp="1"/>
          </p:cNvSpPr>
          <p:nvPr/>
        </p:nvSpPr>
        <p:spPr>
          <a:xfrm>
            <a:off x="6400800" y="1783080"/>
            <a:ext cx="5029200" cy="1123489"/>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main.py and app.py needed silent True/False stock checks</a:t>
            </a:r>
          </a:p>
          <a:p>
            <a:pPr marL="274320" indent="-182880">
              <a:spcAft>
                <a:spcPts val="600"/>
              </a:spcAft>
              <a:buChar char="•"/>
            </a:pPr>
            <a:r>
              <a:rPr sz="1200" b="0">
                <a:solidFill>
                  <a:srgbClr val="4A5668"/>
                </a:solidFill>
                <a:latin typeface="Calibri"/>
                <a:ea typeface="Calibri"/>
                <a:cs typeface="Calibri"/>
              </a:rPr>
              <a:t>Deleting cart items had to put stock back immediately</a:t>
            </a:r>
          </a:p>
          <a:p>
            <a:pPr marL="274320" indent="-182880">
              <a:spcAft>
                <a:spcPts val="600"/>
              </a:spcAft>
              <a:buChar char="•"/>
            </a:pPr>
            <a:r>
              <a:rPr sz="1200" b="0">
                <a:solidFill>
                  <a:srgbClr val="4A5668"/>
                </a:solidFill>
                <a:latin typeface="Calibri"/>
                <a:ea typeface="Calibri"/>
                <a:cs typeface="Calibri"/>
              </a:rPr>
              <a:t>CLI and frontend both needed the same inventory source</a:t>
            </a:r>
          </a:p>
          <a:p>
            <a:pPr marL="274320" indent="-182880">
              <a:spcAft>
                <a:spcPts val="600"/>
              </a:spcAft>
              <a:buChar char="•"/>
            </a:pPr>
            <a:r>
              <a:rPr sz="1200" b="0">
                <a:solidFill>
                  <a:srgbClr val="4A5668"/>
                </a:solidFill>
                <a:latin typeface="Calibri"/>
                <a:ea typeface="Calibri"/>
                <a:cs typeface="Calibri"/>
              </a:rPr>
              <a:t>Raw data/ paths were fragile in deployment</a:t>
            </a:r>
          </a:p>
        </p:txBody>
      </p:sp>
      <p:sp>
        <p:nvSpPr>
          <p:cNvPr id="13" name="Rounded Rectangle 12">
            <a:extLst>
              <a:ext uri="{FF2B5EF4-FFF2-40B4-BE49-F238E27FC236}">
                <a16:creationId xmlns:a16="http://schemas.microsoft.com/office/drawing/2014/main" id="{F2EDFD79-56AB-4F50-9A00-C463946FD00D}"/>
              </a:ext>
            </a:extLst>
          </p:cNvPr>
          <p:cNvSpPr>
            <a:spLocks noGrp="1"/>
          </p:cNvSpPr>
          <p:nvPr/>
        </p:nvSpPr>
        <p:spPr>
          <a:xfrm>
            <a:off x="548640" y="32004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25049077-1266-482F-823F-62C49D3E7B25}"/>
              </a:ext>
            </a:extLst>
          </p:cNvPr>
          <p:cNvSpPr>
            <a:spLocks noGrp="1"/>
          </p:cNvSpPr>
          <p:nvPr/>
        </p:nvSpPr>
        <p:spPr>
          <a:xfrm>
            <a:off x="54864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D7BF154-4B86-4671-B978-C8439C441956}"/>
              </a:ext>
            </a:extLst>
          </p:cNvPr>
          <p:cNvSpPr>
            <a:spLocks noGrp="1"/>
          </p:cNvSpPr>
          <p:nvPr/>
        </p:nvSpPr>
        <p:spPr>
          <a:xfrm>
            <a:off x="731520" y="32918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Changes We Made</a:t>
            </a:r>
          </a:p>
        </p:txBody>
      </p:sp>
      <p:sp>
        <p:nvSpPr>
          <p:cNvPr id="16" name="TextBox 15">
            <a:extLst>
              <a:ext uri="{FF2B5EF4-FFF2-40B4-BE49-F238E27FC236}">
                <a16:creationId xmlns:a16="http://schemas.microsoft.com/office/drawing/2014/main" id="{30B8D732-45D1-429A-B567-90AF9FC992A7}"/>
              </a:ext>
            </a:extLst>
          </p:cNvPr>
          <p:cNvSpPr>
            <a:spLocks noGrp="1"/>
          </p:cNvSpPr>
          <p:nvPr/>
        </p:nvSpPr>
        <p:spPr>
          <a:xfrm>
            <a:off x="731520" y="3611880"/>
            <a:ext cx="5029200" cy="1123489"/>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Imported the real Menu/MenuItem workflow</a:t>
            </a:r>
          </a:p>
          <a:p>
            <a:pPr marL="274320" indent="-182880">
              <a:spcAft>
                <a:spcPts val="600"/>
              </a:spcAft>
              <a:buChar char="•"/>
            </a:pPr>
            <a:r>
              <a:rPr sz="1200" b="0">
                <a:solidFill>
                  <a:srgbClr val="4A5668"/>
                </a:solidFill>
                <a:latin typeface="Calibri"/>
                <a:ea typeface="Calibri"/>
                <a:cs typeface="Calibri"/>
              </a:rPr>
              <a:t>Added restore_stock(item), load_from_excel(), and save_to_excel()</a:t>
            </a:r>
          </a:p>
          <a:p>
            <a:pPr marL="274320" indent="-182880">
              <a:spcAft>
                <a:spcPts val="600"/>
              </a:spcAft>
              <a:buChar char="•"/>
            </a:pPr>
            <a:r>
              <a:rPr sz="1200" b="0">
                <a:solidFill>
                  <a:srgbClr val="4A5668"/>
                </a:solidFill>
                <a:latin typeface="Calibri"/>
                <a:ea typeface="Calibri"/>
                <a:cs typeface="Calibri"/>
              </a:rPr>
              <a:t>Routed all file access through data_file()</a:t>
            </a:r>
          </a:p>
          <a:p>
            <a:pPr marL="274320" indent="-182880">
              <a:spcAft>
                <a:spcPts val="600"/>
              </a:spcAft>
              <a:buChar char="•"/>
            </a:pPr>
            <a:r>
              <a:rPr sz="1200" b="0">
                <a:solidFill>
                  <a:srgbClr val="4A5668"/>
                </a:solidFill>
                <a:latin typeface="Calibri"/>
                <a:ea typeface="Calibri"/>
                <a:cs typeface="Calibri"/>
              </a:rPr>
              <a:t>Saved inventory after order, delete, and restock actions</a:t>
            </a:r>
          </a:p>
        </p:txBody>
      </p:sp>
      <p:sp>
        <p:nvSpPr>
          <p:cNvPr id="17" name="Rounded Rectangle 16">
            <a:extLst>
              <a:ext uri="{FF2B5EF4-FFF2-40B4-BE49-F238E27FC236}">
                <a16:creationId xmlns:a16="http://schemas.microsoft.com/office/drawing/2014/main" id="{285EC263-D971-481A-8AAA-BD30791076B9}"/>
              </a:ext>
            </a:extLst>
          </p:cNvPr>
          <p:cNvSpPr>
            <a:spLocks noGrp="1"/>
          </p:cNvSpPr>
          <p:nvPr/>
        </p:nvSpPr>
        <p:spPr>
          <a:xfrm>
            <a:off x="6217920" y="32004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65761B04-2E13-43E8-A6D4-1A41E9F6452F}"/>
              </a:ext>
            </a:extLst>
          </p:cNvPr>
          <p:cNvSpPr>
            <a:spLocks noGrp="1"/>
          </p:cNvSpPr>
          <p:nvPr/>
        </p:nvSpPr>
        <p:spPr>
          <a:xfrm>
            <a:off x="621792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7E204C5-7C2B-4751-95C2-9B0C6588D52D}"/>
              </a:ext>
            </a:extLst>
          </p:cNvPr>
          <p:cNvSpPr>
            <a:spLocks noGrp="1"/>
          </p:cNvSpPr>
          <p:nvPr/>
        </p:nvSpPr>
        <p:spPr>
          <a:xfrm>
            <a:off x="6400800" y="32918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Why It Matters</a:t>
            </a:r>
          </a:p>
        </p:txBody>
      </p:sp>
      <p:sp>
        <p:nvSpPr>
          <p:cNvPr id="20" name="TextBox 19">
            <a:extLst>
              <a:ext uri="{FF2B5EF4-FFF2-40B4-BE49-F238E27FC236}">
                <a16:creationId xmlns:a16="http://schemas.microsoft.com/office/drawing/2014/main" id="{47FCFC0D-92D0-492B-AD82-BF6979FCA104}"/>
              </a:ext>
            </a:extLst>
          </p:cNvPr>
          <p:cNvSpPr>
            <a:spLocks noGrp="1"/>
          </p:cNvSpPr>
          <p:nvPr/>
        </p:nvSpPr>
        <p:spPr>
          <a:xfrm>
            <a:off x="6400800" y="36118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We extended the reused class without breaking its public contract methods</a:t>
            </a:r>
          </a:p>
          <a:p>
            <a:pPr marL="274320" indent="-182880">
              <a:spcAft>
                <a:spcPts val="600"/>
              </a:spcAft>
              <a:buChar char="•"/>
            </a:pPr>
            <a:r>
              <a:rPr sz="1200" b="0">
                <a:solidFill>
                  <a:srgbClr val="4A5668"/>
                </a:solidFill>
                <a:latin typeface="Calibri"/>
                <a:ea typeface="Calibri"/>
                <a:cs typeface="Calibri"/>
              </a:rPr>
              <a:t>That made the inventory code judge-ready for Week 2 integration and Week 3 edge-case testing</a:t>
            </a:r>
          </a:p>
        </p:txBody>
      </p:sp>
      <p:sp>
        <p:nvSpPr>
          <p:cNvPr id="21" name="Rounded Rectangle 20">
            <a:extLst>
              <a:ext uri="{FF2B5EF4-FFF2-40B4-BE49-F238E27FC236}">
                <a16:creationId xmlns:a16="http://schemas.microsoft.com/office/drawing/2014/main" id="{8C626BE2-F4EF-4751-9A7B-50C53114FC2F}"/>
              </a:ext>
            </a:extLst>
          </p:cNvPr>
          <p:cNvSpPr>
            <a:spLocks noGrp="1"/>
          </p:cNvSpPr>
          <p:nvPr/>
        </p:nvSpPr>
        <p:spPr>
          <a:xfrm>
            <a:off x="548640" y="502920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259BBD1F-0479-4882-AFB8-8A7220FAE466}"/>
              </a:ext>
            </a:extLst>
          </p:cNvPr>
          <p:cNvSpPr>
            <a:spLocks noGrp="1"/>
          </p:cNvSpPr>
          <p:nvPr/>
        </p:nvSpPr>
        <p:spPr>
          <a:xfrm>
            <a:off x="822960" y="512064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Contract Impact</a:t>
            </a:r>
          </a:p>
        </p:txBody>
      </p:sp>
      <p:sp>
        <p:nvSpPr>
          <p:cNvPr id="23" name="TextBox 22">
            <a:extLst>
              <a:ext uri="{FF2B5EF4-FFF2-40B4-BE49-F238E27FC236}">
                <a16:creationId xmlns:a16="http://schemas.microsoft.com/office/drawing/2014/main" id="{9EA2C632-8233-44BA-899C-165050E3D4D2}"/>
              </a:ext>
            </a:extLst>
          </p:cNvPr>
          <p:cNvSpPr>
            <a:spLocks noGrp="1"/>
          </p:cNvSpPr>
          <p:nvPr/>
        </p:nvSpPr>
        <p:spPr>
          <a:xfrm>
            <a:off x="822960" y="5394960"/>
            <a:ext cx="10424160" cy="485366"/>
          </a:xfrm>
          <a:prstGeom prst="rect">
            <a:avLst/>
          </a:prstGeom>
          <a:noFill/>
        </p:spPr>
        <p:txBody>
          <a:bodyPr wrap="square">
            <a:spAutoFit/>
          </a:bodyPr>
          <a:lstStyle/>
          <a:p>
            <a:pPr algn="l">
              <a:buNone/>
            </a:pPr>
            <a:r>
              <a:rPr sz="1300" b="0">
                <a:solidFill>
                  <a:srgbClr val="4A5668"/>
                </a:solidFill>
                <a:latin typeface="Calibri"/>
                <a:ea typeface="Calibri"/>
                <a:cs typeface="Calibri"/>
              </a:rPr>
              <a:t>The final version still exposes check_stock(item), deduct_stock(item), restock(item_name, amount), and stock_report(), but now it also supports persistence, cart deletion, and the public frontend.</a:t>
            </a:r>
          </a:p>
        </p:txBody>
      </p:sp>
    </p:spTree>
    <p:extLst>
      <p:ext uri="{BB962C8B-B14F-4D97-AF65-F5344CB8AC3E}">
        <p14:creationId xmlns:p14="http://schemas.microsoft.com/office/powerpoint/2010/main" val="1975424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E0C6F2-B04B-4F62-814D-6DED188874F4}"/>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616702BC-ECA3-4146-8DB0-BDF01F95F3E6}"/>
              </a:ext>
            </a:extLst>
          </p:cNvPr>
          <p:cNvSpPr>
            <a:spLocks noGrp="1"/>
          </p:cNvSpPr>
          <p:nvPr/>
        </p:nvSpPr>
        <p:spPr>
          <a:xfrm>
            <a:off x="548640" y="182880"/>
            <a:ext cx="9144000" cy="523220"/>
          </a:xfrm>
          <a:prstGeom prst="rect">
            <a:avLst/>
          </a:prstGeom>
          <a:noFill/>
        </p:spPr>
        <p:txBody>
          <a:bodyPr wrap="square">
            <a:spAutoFit/>
          </a:bodyPr>
          <a:lstStyle/>
          <a:p>
            <a:pPr algn="l">
              <a:buNone/>
            </a:pPr>
            <a:r>
              <a:rPr sz="2800" b="1">
                <a:solidFill>
                  <a:srgbClr val="FFFFFF"/>
                </a:solidFill>
                <a:latin typeface="Calibri"/>
                <a:ea typeface="Calibri"/>
                <a:cs typeface="Calibri"/>
              </a:rPr>
              <a:t>Class: Customer &amp; Customers</a:t>
            </a:r>
          </a:p>
        </p:txBody>
      </p:sp>
      <p:sp>
        <p:nvSpPr>
          <p:cNvPr id="4" name="TextBox 3">
            <a:extLst>
              <a:ext uri="{FF2B5EF4-FFF2-40B4-BE49-F238E27FC236}">
                <a16:creationId xmlns:a16="http://schemas.microsoft.com/office/drawing/2014/main" id="{296E9327-64B3-4657-A095-EB3970BC8B2E}"/>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backend/customer.py — Loyalty program with automatic point tracking</a:t>
            </a:r>
          </a:p>
        </p:txBody>
      </p:sp>
      <p:sp>
        <p:nvSpPr>
          <p:cNvPr id="5" name="TextBox 4">
            <a:extLst>
              <a:ext uri="{FF2B5EF4-FFF2-40B4-BE49-F238E27FC236}">
                <a16:creationId xmlns:a16="http://schemas.microsoft.com/office/drawing/2014/main" id="{3A72F7A9-EB5B-47AD-8B1B-6471EC535967}"/>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A73BA02F-B31C-4E9C-AC10-6246F4BA4D96}"/>
              </a:ext>
            </a:extLst>
          </p:cNvPr>
          <p:cNvSpPr>
            <a:spLocks noGrp="1"/>
          </p:cNvSpPr>
          <p:nvPr/>
        </p:nvSpPr>
        <p:spPr>
          <a:xfrm>
            <a:off x="548640" y="1280160"/>
            <a:ext cx="5029200" cy="274320"/>
          </a:xfrm>
          <a:prstGeom prst="rect">
            <a:avLst/>
          </a:prstGeom>
          <a:noFill/>
        </p:spPr>
        <p:txBody>
          <a:bodyPr wrap="square">
            <a:spAutoFit/>
          </a:bodyPr>
          <a:lstStyle/>
          <a:p>
            <a:pPr algn="l">
              <a:buNone/>
            </a:pPr>
            <a:r>
              <a:rPr sz="1800" b="1">
                <a:solidFill>
                  <a:srgbClr val="1A365D"/>
                </a:solidFill>
                <a:latin typeface="Calibri"/>
                <a:ea typeface="Calibri"/>
                <a:cs typeface="Calibri"/>
              </a:rPr>
              <a:t>Design Decisions</a:t>
            </a:r>
          </a:p>
        </p:txBody>
      </p:sp>
      <p:sp>
        <p:nvSpPr>
          <p:cNvPr id="7" name="TextBox 6">
            <a:extLst>
              <a:ext uri="{FF2B5EF4-FFF2-40B4-BE49-F238E27FC236}">
                <a16:creationId xmlns:a16="http://schemas.microsoft.com/office/drawing/2014/main" id="{3F2873CC-B5F2-4ED5-99B9-1DFAB8DA7F6A}"/>
              </a:ext>
            </a:extLst>
          </p:cNvPr>
          <p:cNvSpPr>
            <a:spLocks noGrp="1"/>
          </p:cNvSpPr>
          <p:nvPr/>
        </p:nvSpPr>
        <p:spPr>
          <a:xfrm>
            <a:off x="548640" y="1645920"/>
            <a:ext cx="5029200" cy="3200400"/>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Auto-generated IDs: class-level counter produces unique 9-digit IDs (e.g., 000000001)</a:t>
            </a:r>
          </a:p>
          <a:p>
            <a:pPr marL="274320" indent="-182880">
              <a:spcAft>
                <a:spcPts val="600"/>
              </a:spcAft>
              <a:buChar char="•"/>
            </a:pPr>
            <a:r>
              <a:rPr sz="1400" b="0">
                <a:solidFill>
                  <a:srgbClr val="4A5668"/>
                </a:solidFill>
                <a:latin typeface="Calibri"/>
                <a:ea typeface="Calibri"/>
                <a:cs typeface="Calibri"/>
              </a:rPr>
              <a:t>Phone as identifier: customers looked up by phone number; duplicate prevention built in</a:t>
            </a:r>
          </a:p>
          <a:p>
            <a:pPr marL="274320" indent="-182880">
              <a:spcAft>
                <a:spcPts val="600"/>
              </a:spcAft>
              <a:buChar char="•"/>
            </a:pPr>
            <a:r>
              <a:rPr sz="1400" b="0">
                <a:solidFill>
                  <a:srgbClr val="4A5668"/>
                </a:solidFill>
                <a:latin typeface="Calibri"/>
                <a:ea typeface="Calibri"/>
                <a:cs typeface="Calibri"/>
              </a:rPr>
              <a:t>Points policy: earn 1 point per $5 spent — clear, simple, configurable</a:t>
            </a:r>
          </a:p>
          <a:p>
            <a:pPr marL="274320" indent="-182880">
              <a:spcAft>
                <a:spcPts val="600"/>
              </a:spcAft>
              <a:buChar char="•"/>
            </a:pPr>
            <a:r>
              <a:rPr sz="1400" b="0">
                <a:solidFill>
                  <a:srgbClr val="4A5668"/>
                </a:solidFill>
                <a:latin typeface="Calibri"/>
                <a:ea typeface="Calibri"/>
                <a:cs typeface="Calibri"/>
              </a:rPr>
              <a:t>Customers class manages the collection — CRUD operations + Excel persistence</a:t>
            </a:r>
          </a:p>
          <a:p>
            <a:pPr marL="274320" indent="-182880">
              <a:spcAft>
                <a:spcPts val="600"/>
              </a:spcAft>
              <a:buChar char="•"/>
            </a:pPr>
            <a:r>
              <a:rPr sz="1400" b="0">
                <a:solidFill>
                  <a:srgbClr val="4A5668"/>
                </a:solidFill>
                <a:latin typeface="Calibri"/>
                <a:ea typeface="Calibri"/>
                <a:cs typeface="Calibri"/>
              </a:rPr>
              <a:t>Counter syncs with max existing ID on load to prevent duplicates</a:t>
            </a:r>
          </a:p>
        </p:txBody>
      </p:sp>
      <p:sp>
        <p:nvSpPr>
          <p:cNvPr id="8" name="TextBox 7">
            <a:extLst>
              <a:ext uri="{FF2B5EF4-FFF2-40B4-BE49-F238E27FC236}">
                <a16:creationId xmlns:a16="http://schemas.microsoft.com/office/drawing/2014/main" id="{C7EB8EC9-90ED-4FA6-A467-EC291B93083E}"/>
              </a:ext>
            </a:extLst>
          </p:cNvPr>
          <p:cNvSpPr>
            <a:spLocks noGrp="1"/>
          </p:cNvSpPr>
          <p:nvPr/>
        </p:nvSpPr>
        <p:spPr>
          <a:xfrm>
            <a:off x="6035040" y="128016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9"/>
          <p:cNvPicPr>
            <a:picLocks noChangeAspect="1"/>
          </p:cNvPicPr>
          <p:nvPr/>
        </p:nvPicPr>
        <p:blipFill>
          <a:blip r:embed="rId3"/>
          <a:stretch>
            <a:fillRect/>
          </a:stretch>
        </p:blipFill>
        <p:spPr>
          <a:xfrm>
            <a:off x="6095847" y="1554480"/>
            <a:ext cx="5361415" cy="2783278"/>
          </a:xfrm>
          <a:prstGeom prst="rect">
            <a:avLst/>
          </a:prstGeom>
        </p:spPr>
      </p:pic>
    </p:spTree>
    <p:extLst>
      <p:ext uri="{BB962C8B-B14F-4D97-AF65-F5344CB8AC3E}">
        <p14:creationId xmlns:p14="http://schemas.microsoft.com/office/powerpoint/2010/main" val="1213143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F5B03D-0A2A-6461-0E84-31026640C9FF}"/>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2F0F0AD-D62F-FF8C-AD2A-106D75DA35D1}"/>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Customer &amp; Customers</a:t>
            </a:r>
          </a:p>
        </p:txBody>
      </p:sp>
      <p:sp>
        <p:nvSpPr>
          <p:cNvPr id="4" name="TextBox 3">
            <a:extLst>
              <a:ext uri="{FF2B5EF4-FFF2-40B4-BE49-F238E27FC236}">
                <a16:creationId xmlns:a16="http://schemas.microsoft.com/office/drawing/2014/main" id="{B0803E60-ECCD-889A-0961-4AE53F920C50}"/>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backend/customer.py — Loyalty program with automatic point tracking</a:t>
            </a:r>
          </a:p>
        </p:txBody>
      </p:sp>
      <p:sp>
        <p:nvSpPr>
          <p:cNvPr id="5" name="TextBox 4">
            <a:extLst>
              <a:ext uri="{FF2B5EF4-FFF2-40B4-BE49-F238E27FC236}">
                <a16:creationId xmlns:a16="http://schemas.microsoft.com/office/drawing/2014/main" id="{B812B2BB-5557-79A2-9923-09400847F96B}"/>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9E61A6A4-4EC3-F783-243B-62453CD31A5E}"/>
              </a:ext>
            </a:extLst>
          </p:cNvPr>
          <p:cNvSpPr>
            <a:spLocks noGrp="1"/>
          </p:cNvSpPr>
          <p:nvPr/>
        </p:nvSpPr>
        <p:spPr>
          <a:xfrm>
            <a:off x="548640" y="132588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9"/>
          <p:cNvPicPr>
            <a:picLocks noChangeAspect="1"/>
          </p:cNvPicPr>
          <p:nvPr/>
        </p:nvPicPr>
        <p:blipFill>
          <a:blip r:embed="rId3"/>
          <a:stretch>
            <a:fillRect/>
          </a:stretch>
        </p:blipFill>
        <p:spPr>
          <a:xfrm>
            <a:off x="627581" y="1600200"/>
            <a:ext cx="4674623" cy="3159250"/>
          </a:xfrm>
          <a:prstGeom prst="rect">
            <a:avLst/>
          </a:prstGeom>
        </p:spPr>
      </p:pic>
      <p:pic>
        <p:nvPicPr>
          <p:cNvPr id="10" name="Picture 10"/>
          <p:cNvPicPr>
            <a:picLocks noChangeAspect="1"/>
          </p:cNvPicPr>
          <p:nvPr/>
        </p:nvPicPr>
        <p:blipFill>
          <a:blip r:embed="rId4"/>
          <a:stretch>
            <a:fillRect/>
          </a:stretch>
        </p:blipFill>
        <p:spPr>
          <a:xfrm>
            <a:off x="5831766" y="1600200"/>
            <a:ext cx="5598233" cy="4967968"/>
          </a:xfrm>
          <a:prstGeom prst="rect">
            <a:avLst/>
          </a:prstGeom>
        </p:spPr>
      </p:pic>
    </p:spTree>
    <p:extLst>
      <p:ext uri="{BB962C8B-B14F-4D97-AF65-F5344CB8AC3E}">
        <p14:creationId xmlns:p14="http://schemas.microsoft.com/office/powerpoint/2010/main" val="3410004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7183F5-D1BE-83C8-7843-2F28E3F55089}"/>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0627BE12-2732-01F4-2847-0DE6C6D4EEDD}"/>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Customer &amp; Customers</a:t>
            </a:r>
          </a:p>
        </p:txBody>
      </p:sp>
      <p:sp>
        <p:nvSpPr>
          <p:cNvPr id="4" name="TextBox 3">
            <a:extLst>
              <a:ext uri="{FF2B5EF4-FFF2-40B4-BE49-F238E27FC236}">
                <a16:creationId xmlns:a16="http://schemas.microsoft.com/office/drawing/2014/main" id="{27610470-6C76-0622-81A2-82856CAD97A2}"/>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backend/customer.py — Loyalty program with automatic point tracking</a:t>
            </a:r>
          </a:p>
        </p:txBody>
      </p:sp>
      <p:sp>
        <p:nvSpPr>
          <p:cNvPr id="5" name="TextBox 4">
            <a:extLst>
              <a:ext uri="{FF2B5EF4-FFF2-40B4-BE49-F238E27FC236}">
                <a16:creationId xmlns:a16="http://schemas.microsoft.com/office/drawing/2014/main" id="{D16E0C5F-2895-FE95-A6F2-48AB7D509552}"/>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8" name="TextBox 7">
            <a:extLst>
              <a:ext uri="{FF2B5EF4-FFF2-40B4-BE49-F238E27FC236}">
                <a16:creationId xmlns:a16="http://schemas.microsoft.com/office/drawing/2014/main" id="{129F9D14-5DBE-6E4F-67A6-6E931F33E4A0}"/>
              </a:ext>
            </a:extLst>
          </p:cNvPr>
          <p:cNvSpPr>
            <a:spLocks noGrp="1"/>
          </p:cNvSpPr>
          <p:nvPr/>
        </p:nvSpPr>
        <p:spPr>
          <a:xfrm>
            <a:off x="548640" y="128016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KEY METHODS</a:t>
            </a:r>
          </a:p>
        </p:txBody>
      </p:sp>
      <p:pic>
        <p:nvPicPr>
          <p:cNvPr id="9" name="Picture 10"/>
          <p:cNvPicPr>
            <a:picLocks noChangeAspect="1"/>
          </p:cNvPicPr>
          <p:nvPr/>
        </p:nvPicPr>
        <p:blipFill>
          <a:blip r:embed="rId3"/>
          <a:stretch>
            <a:fillRect/>
          </a:stretch>
        </p:blipFill>
        <p:spPr>
          <a:xfrm>
            <a:off x="548640" y="1554480"/>
            <a:ext cx="10192260" cy="4280576"/>
          </a:xfrm>
          <a:prstGeom prst="rect">
            <a:avLst/>
          </a:prstGeom>
        </p:spPr>
      </p:pic>
    </p:spTree>
    <p:extLst>
      <p:ext uri="{BB962C8B-B14F-4D97-AF65-F5344CB8AC3E}">
        <p14:creationId xmlns:p14="http://schemas.microsoft.com/office/powerpoint/2010/main" val="14851340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E8F022-0005-4195-B6C8-7E152E4BCFD4}"/>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6B437EFB-3F8C-47DD-9FAF-64A041D75EF8}"/>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Staff &amp; Staffs</a:t>
            </a:r>
          </a:p>
        </p:txBody>
      </p:sp>
      <p:sp>
        <p:nvSpPr>
          <p:cNvPr id="4" name="TextBox 3">
            <a:extLst>
              <a:ext uri="{FF2B5EF4-FFF2-40B4-BE49-F238E27FC236}">
                <a16:creationId xmlns:a16="http://schemas.microsoft.com/office/drawing/2014/main" id="{40BBCC9D-AC4A-448C-85E5-4F0E28F9A81F}"/>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backend/staff.py — Secure staff authentication and management</a:t>
            </a:r>
          </a:p>
        </p:txBody>
      </p:sp>
      <p:sp>
        <p:nvSpPr>
          <p:cNvPr id="5" name="TextBox 4">
            <a:extLst>
              <a:ext uri="{FF2B5EF4-FFF2-40B4-BE49-F238E27FC236}">
                <a16:creationId xmlns:a16="http://schemas.microsoft.com/office/drawing/2014/main" id="{D901835A-FFA1-488E-B50B-1495B35E301B}"/>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BC9A6BC7-DB8F-49BA-ADC7-C0F1864A8C76}"/>
              </a:ext>
            </a:extLst>
          </p:cNvPr>
          <p:cNvSpPr>
            <a:spLocks noGrp="1"/>
          </p:cNvSpPr>
          <p:nvPr/>
        </p:nvSpPr>
        <p:spPr>
          <a:xfrm>
            <a:off x="548640" y="1280160"/>
            <a:ext cx="5029200" cy="274320"/>
          </a:xfrm>
          <a:prstGeom prst="rect">
            <a:avLst/>
          </a:prstGeom>
          <a:noFill/>
        </p:spPr>
        <p:txBody>
          <a:bodyPr wrap="square">
            <a:spAutoFit/>
          </a:bodyPr>
          <a:lstStyle/>
          <a:p>
            <a:pPr algn="l">
              <a:buNone/>
            </a:pPr>
            <a:r>
              <a:rPr sz="1800" b="1">
                <a:solidFill>
                  <a:srgbClr val="1A365D"/>
                </a:solidFill>
                <a:latin typeface="Calibri"/>
                <a:ea typeface="Calibri"/>
                <a:cs typeface="Calibri"/>
              </a:rPr>
              <a:t>Design Decisions</a:t>
            </a:r>
          </a:p>
        </p:txBody>
      </p:sp>
      <p:sp>
        <p:nvSpPr>
          <p:cNvPr id="7" name="TextBox 6">
            <a:extLst>
              <a:ext uri="{FF2B5EF4-FFF2-40B4-BE49-F238E27FC236}">
                <a16:creationId xmlns:a16="http://schemas.microsoft.com/office/drawing/2014/main" id="{056B8153-BCE1-4297-8955-3C7148844A8E}"/>
              </a:ext>
            </a:extLst>
          </p:cNvPr>
          <p:cNvSpPr>
            <a:spLocks noGrp="1"/>
          </p:cNvSpPr>
          <p:nvPr/>
        </p:nvSpPr>
        <p:spPr>
          <a:xfrm>
            <a:off x="548640" y="1645920"/>
            <a:ext cx="5029200" cy="2286000"/>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Same ID pattern as Customer — 9-digit auto-increment with class-level counter</a:t>
            </a:r>
          </a:p>
          <a:p>
            <a:pPr marL="274320" indent="-182880">
              <a:spcAft>
                <a:spcPts val="600"/>
              </a:spcAft>
              <a:buChar char="•"/>
            </a:pPr>
            <a:r>
              <a:rPr sz="1400" b="0">
                <a:solidFill>
                  <a:srgbClr val="4A5668"/>
                </a:solidFill>
                <a:latin typeface="Calibri"/>
                <a:ea typeface="Calibri"/>
                <a:cs typeface="Calibri"/>
              </a:rPr>
              <a:t>Password-protected: staff must enter both ID and password to access</a:t>
            </a:r>
          </a:p>
          <a:p>
            <a:pPr marL="274320" indent="-182880">
              <a:spcAft>
                <a:spcPts val="600"/>
              </a:spcAft>
              <a:buChar char="•"/>
            </a:pPr>
            <a:r>
              <a:rPr sz="1400" b="0">
                <a:solidFill>
                  <a:srgbClr val="4A5668"/>
                </a:solidFill>
                <a:latin typeface="Calibri"/>
                <a:ea typeface="Calibri"/>
                <a:cs typeface="Calibri"/>
              </a:rPr>
              <a:t>In the CLI, getpass hides password input for security</a:t>
            </a:r>
          </a:p>
          <a:p>
            <a:pPr marL="274320" indent="-182880">
              <a:spcAft>
                <a:spcPts val="600"/>
              </a:spcAft>
              <a:buChar char="•"/>
            </a:pPr>
            <a:r>
              <a:rPr sz="1400" b="0">
                <a:solidFill>
                  <a:srgbClr val="4A5668"/>
                </a:solidFill>
                <a:latin typeface="Calibri"/>
                <a:ea typeface="Calibri"/>
                <a:cs typeface="Calibri"/>
              </a:rPr>
              <a:t>Staffs collection mirrors the Customers pattern: check, get, add, delete, update + Excel I/O</a:t>
            </a:r>
          </a:p>
        </p:txBody>
      </p:sp>
      <p:sp>
        <p:nvSpPr>
          <p:cNvPr id="8" name="Rounded Rectangle 7">
            <a:extLst>
              <a:ext uri="{FF2B5EF4-FFF2-40B4-BE49-F238E27FC236}">
                <a16:creationId xmlns:a16="http://schemas.microsoft.com/office/drawing/2014/main" id="{AC08D20E-F875-4DAE-9BF3-3C62095ACFE3}"/>
              </a:ext>
            </a:extLst>
          </p:cNvPr>
          <p:cNvSpPr>
            <a:spLocks noGrp="1"/>
          </p:cNvSpPr>
          <p:nvPr/>
        </p:nvSpPr>
        <p:spPr>
          <a:xfrm>
            <a:off x="548640" y="4114800"/>
            <a:ext cx="50292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B0A8F23-7E70-44CF-A434-6B78BEF6C6C7}"/>
              </a:ext>
            </a:extLst>
          </p:cNvPr>
          <p:cNvSpPr>
            <a:spLocks noGrp="1"/>
          </p:cNvSpPr>
          <p:nvPr/>
        </p:nvSpPr>
        <p:spPr>
          <a:xfrm>
            <a:off x="822960" y="4206240"/>
            <a:ext cx="4572000" cy="228600"/>
          </a:xfrm>
          <a:prstGeom prst="rect">
            <a:avLst/>
          </a:prstGeom>
          <a:noFill/>
        </p:spPr>
        <p:txBody>
          <a:bodyPr wrap="square">
            <a:spAutoFit/>
          </a:bodyPr>
          <a:lstStyle/>
          <a:p>
            <a:pPr algn="l">
              <a:buNone/>
            </a:pPr>
            <a:r>
              <a:rPr sz="1300" b="1">
                <a:solidFill>
                  <a:srgbClr val="1A365D"/>
                </a:solidFill>
                <a:latin typeface="Calibri"/>
                <a:ea typeface="Calibri"/>
                <a:cs typeface="Calibri"/>
              </a:rPr>
              <a:t>Consistent Patterns</a:t>
            </a:r>
          </a:p>
        </p:txBody>
      </p:sp>
      <p:sp>
        <p:nvSpPr>
          <p:cNvPr id="10" name="TextBox 9">
            <a:extLst>
              <a:ext uri="{FF2B5EF4-FFF2-40B4-BE49-F238E27FC236}">
                <a16:creationId xmlns:a16="http://schemas.microsoft.com/office/drawing/2014/main" id="{AF005EB0-0370-40CC-9DF5-8C64C89F0D82}"/>
              </a:ext>
            </a:extLst>
          </p:cNvPr>
          <p:cNvSpPr>
            <a:spLocks noGrp="1"/>
          </p:cNvSpPr>
          <p:nvPr/>
        </p:nvSpPr>
        <p:spPr>
          <a:xfrm>
            <a:off x="822960" y="4480560"/>
            <a:ext cx="4572000" cy="548640"/>
          </a:xfrm>
          <a:prstGeom prst="rect">
            <a:avLst/>
          </a:prstGeom>
          <a:noFill/>
        </p:spPr>
        <p:txBody>
          <a:bodyPr wrap="square">
            <a:spAutoFit/>
          </a:bodyPr>
          <a:lstStyle/>
          <a:p>
            <a:pPr algn="l">
              <a:buNone/>
            </a:pPr>
            <a:r>
              <a:rPr sz="1200" b="0">
                <a:solidFill>
                  <a:srgbClr val="4A5668"/>
                </a:solidFill>
                <a:latin typeface="Calibri"/>
                <a:ea typeface="Calibri"/>
                <a:cs typeface="Calibri"/>
              </a:rPr>
              <a:t>Customer and Staff follow the same architectural template — entity class + collection class + Excel persistence. This makes the codebase predictable and easy to extend.</a:t>
            </a:r>
          </a:p>
        </p:txBody>
      </p:sp>
      <p:sp>
        <p:nvSpPr>
          <p:cNvPr id="11" name="TextBox 10">
            <a:extLst>
              <a:ext uri="{FF2B5EF4-FFF2-40B4-BE49-F238E27FC236}">
                <a16:creationId xmlns:a16="http://schemas.microsoft.com/office/drawing/2014/main" id="{34DAAB5F-4BD2-44D3-BC97-8AC9868C33E3}"/>
              </a:ext>
            </a:extLst>
          </p:cNvPr>
          <p:cNvSpPr>
            <a:spLocks noGrp="1"/>
          </p:cNvSpPr>
          <p:nvPr/>
        </p:nvSpPr>
        <p:spPr>
          <a:xfrm>
            <a:off x="6035040" y="128016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STAFF LOGIN FLOW (MAIN.PY)</a:t>
            </a:r>
          </a:p>
        </p:txBody>
      </p:sp>
      <p:pic>
        <p:nvPicPr>
          <p:cNvPr id="12" name="Picture 15"/>
          <p:cNvPicPr>
            <a:picLocks noChangeAspect="1"/>
          </p:cNvPicPr>
          <p:nvPr/>
        </p:nvPicPr>
        <p:blipFill>
          <a:blip r:embed="rId3"/>
          <a:stretch>
            <a:fillRect/>
          </a:stretch>
        </p:blipFill>
        <p:spPr>
          <a:xfrm>
            <a:off x="6095847" y="1554480"/>
            <a:ext cx="5648527" cy="4603453"/>
          </a:xfrm>
          <a:prstGeom prst="rect">
            <a:avLst/>
          </a:prstGeom>
        </p:spPr>
      </p:pic>
    </p:spTree>
    <p:extLst>
      <p:ext uri="{BB962C8B-B14F-4D97-AF65-F5344CB8AC3E}">
        <p14:creationId xmlns:p14="http://schemas.microsoft.com/office/powerpoint/2010/main" val="1557087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F2D98DA-42AF-40DA-7ABD-4C25B129BFF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B3671182-1E5C-B075-3426-E9BF439DB670}"/>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Class: Staff &amp; Staffs</a:t>
            </a:r>
          </a:p>
        </p:txBody>
      </p:sp>
      <p:sp>
        <p:nvSpPr>
          <p:cNvPr id="4" name="TextBox 3">
            <a:extLst>
              <a:ext uri="{FF2B5EF4-FFF2-40B4-BE49-F238E27FC236}">
                <a16:creationId xmlns:a16="http://schemas.microsoft.com/office/drawing/2014/main" id="{477A1976-DD52-B9FA-8953-8CE5E68A0914}"/>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backend/staff.py — Secure staff authentication and management</a:t>
            </a:r>
          </a:p>
        </p:txBody>
      </p:sp>
      <p:sp>
        <p:nvSpPr>
          <p:cNvPr id="5" name="TextBox 4">
            <a:extLst>
              <a:ext uri="{FF2B5EF4-FFF2-40B4-BE49-F238E27FC236}">
                <a16:creationId xmlns:a16="http://schemas.microsoft.com/office/drawing/2014/main" id="{3D4276C9-D37D-C767-EB33-56387AE5F956}"/>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9B7C3A45-BA37-F703-BAD2-19BDF74546B5}"/>
              </a:ext>
            </a:extLst>
          </p:cNvPr>
          <p:cNvSpPr>
            <a:spLocks noGrp="1"/>
          </p:cNvSpPr>
          <p:nvPr/>
        </p:nvSpPr>
        <p:spPr>
          <a:xfrm>
            <a:off x="548640" y="1280160"/>
            <a:ext cx="5029200" cy="274320"/>
          </a:xfrm>
          <a:prstGeom prst="rect">
            <a:avLst/>
          </a:prstGeom>
          <a:noFill/>
        </p:spPr>
        <p:txBody>
          <a:bodyPr wrap="square">
            <a:spAutoFit/>
          </a:bodyPr>
          <a:lstStyle/>
          <a:p>
            <a:pPr algn="l">
              <a:buNone/>
            </a:pPr>
            <a:r>
              <a:rPr sz="1800" b="1">
                <a:solidFill>
                  <a:srgbClr val="1A365D"/>
                </a:solidFill>
                <a:latin typeface="Calibri"/>
                <a:ea typeface="Calibri"/>
                <a:cs typeface="Calibri"/>
              </a:rPr>
              <a:t>Design Decisions</a:t>
            </a:r>
          </a:p>
        </p:txBody>
      </p:sp>
      <p:sp>
        <p:nvSpPr>
          <p:cNvPr id="7" name="TextBox 6">
            <a:extLst>
              <a:ext uri="{FF2B5EF4-FFF2-40B4-BE49-F238E27FC236}">
                <a16:creationId xmlns:a16="http://schemas.microsoft.com/office/drawing/2014/main" id="{CB781AE5-E3EB-7A5F-C6D7-67566DA0AE2D}"/>
              </a:ext>
            </a:extLst>
          </p:cNvPr>
          <p:cNvSpPr>
            <a:spLocks noGrp="1"/>
          </p:cNvSpPr>
          <p:nvPr/>
        </p:nvSpPr>
        <p:spPr>
          <a:xfrm>
            <a:off x="548640" y="1645920"/>
            <a:ext cx="5029200" cy="2286000"/>
          </a:xfrm>
          <a:prstGeom prst="rect">
            <a:avLst/>
          </a:prstGeom>
          <a:noFill/>
        </p:spPr>
        <p:txBody>
          <a:bodyPr wrap="square">
            <a:spAutoFit/>
          </a:bodyPr>
          <a:lstStyle/>
          <a:p>
            <a:pPr marL="274320" indent="-182880">
              <a:spcAft>
                <a:spcPts val="600"/>
              </a:spcAft>
              <a:buChar char="•"/>
            </a:pPr>
            <a:r>
              <a:rPr sz="1400" b="0">
                <a:solidFill>
                  <a:srgbClr val="4A5668"/>
                </a:solidFill>
                <a:latin typeface="Calibri"/>
                <a:ea typeface="Calibri"/>
                <a:cs typeface="Calibri"/>
              </a:rPr>
              <a:t>Same ID pattern as Customer — 9-digit auto-increment with class-level counter</a:t>
            </a:r>
          </a:p>
          <a:p>
            <a:pPr marL="274320" indent="-182880">
              <a:spcAft>
                <a:spcPts val="600"/>
              </a:spcAft>
              <a:buChar char="•"/>
            </a:pPr>
            <a:r>
              <a:rPr sz="1400" b="0">
                <a:solidFill>
                  <a:srgbClr val="4A5668"/>
                </a:solidFill>
                <a:latin typeface="Calibri"/>
                <a:ea typeface="Calibri"/>
                <a:cs typeface="Calibri"/>
              </a:rPr>
              <a:t>Password-protected: staff must enter both ID and password to access</a:t>
            </a:r>
          </a:p>
          <a:p>
            <a:pPr marL="274320" indent="-182880">
              <a:spcAft>
                <a:spcPts val="600"/>
              </a:spcAft>
              <a:buChar char="•"/>
            </a:pPr>
            <a:r>
              <a:rPr sz="1400" b="0">
                <a:solidFill>
                  <a:srgbClr val="4A5668"/>
                </a:solidFill>
                <a:latin typeface="Calibri"/>
                <a:ea typeface="Calibri"/>
                <a:cs typeface="Calibri"/>
              </a:rPr>
              <a:t>In the CLI, getpass hides password input for security</a:t>
            </a:r>
          </a:p>
          <a:p>
            <a:pPr marL="274320" indent="-182880">
              <a:spcAft>
                <a:spcPts val="600"/>
              </a:spcAft>
              <a:buChar char="•"/>
            </a:pPr>
            <a:r>
              <a:rPr sz="1400" b="0">
                <a:solidFill>
                  <a:srgbClr val="4A5668"/>
                </a:solidFill>
                <a:latin typeface="Calibri"/>
                <a:ea typeface="Calibri"/>
                <a:cs typeface="Calibri"/>
              </a:rPr>
              <a:t>Staffs collection mirrors the Customers pattern: check, get, add, delete, update + Excel I/O</a:t>
            </a:r>
          </a:p>
        </p:txBody>
      </p:sp>
      <p:sp>
        <p:nvSpPr>
          <p:cNvPr id="8" name="Rounded Rectangle 7">
            <a:extLst>
              <a:ext uri="{FF2B5EF4-FFF2-40B4-BE49-F238E27FC236}">
                <a16:creationId xmlns:a16="http://schemas.microsoft.com/office/drawing/2014/main" id="{71F2B350-65BC-D387-ABAB-8612AABF8833}"/>
              </a:ext>
            </a:extLst>
          </p:cNvPr>
          <p:cNvSpPr>
            <a:spLocks noGrp="1"/>
          </p:cNvSpPr>
          <p:nvPr/>
        </p:nvSpPr>
        <p:spPr>
          <a:xfrm>
            <a:off x="548640" y="4114800"/>
            <a:ext cx="50292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AAD18C8-C3D0-8C03-2001-D97E9239976E}"/>
              </a:ext>
            </a:extLst>
          </p:cNvPr>
          <p:cNvSpPr>
            <a:spLocks noGrp="1"/>
          </p:cNvSpPr>
          <p:nvPr/>
        </p:nvSpPr>
        <p:spPr>
          <a:xfrm>
            <a:off x="822960" y="4206240"/>
            <a:ext cx="4572000" cy="228600"/>
          </a:xfrm>
          <a:prstGeom prst="rect">
            <a:avLst/>
          </a:prstGeom>
          <a:noFill/>
        </p:spPr>
        <p:txBody>
          <a:bodyPr wrap="square">
            <a:spAutoFit/>
          </a:bodyPr>
          <a:lstStyle/>
          <a:p>
            <a:pPr algn="l">
              <a:buNone/>
            </a:pPr>
            <a:r>
              <a:rPr sz="1300" b="1">
                <a:solidFill>
                  <a:srgbClr val="1A365D"/>
                </a:solidFill>
                <a:latin typeface="Calibri"/>
                <a:ea typeface="Calibri"/>
                <a:cs typeface="Calibri"/>
              </a:rPr>
              <a:t>Consistent Patterns</a:t>
            </a:r>
          </a:p>
        </p:txBody>
      </p:sp>
      <p:sp>
        <p:nvSpPr>
          <p:cNvPr id="10" name="TextBox 9">
            <a:extLst>
              <a:ext uri="{FF2B5EF4-FFF2-40B4-BE49-F238E27FC236}">
                <a16:creationId xmlns:a16="http://schemas.microsoft.com/office/drawing/2014/main" id="{406AF198-FE78-1A47-54F1-6DDDE5BFD435}"/>
              </a:ext>
            </a:extLst>
          </p:cNvPr>
          <p:cNvSpPr>
            <a:spLocks noGrp="1"/>
          </p:cNvSpPr>
          <p:nvPr/>
        </p:nvSpPr>
        <p:spPr>
          <a:xfrm>
            <a:off x="822960" y="4480560"/>
            <a:ext cx="4572000" cy="548640"/>
          </a:xfrm>
          <a:prstGeom prst="rect">
            <a:avLst/>
          </a:prstGeom>
          <a:noFill/>
        </p:spPr>
        <p:txBody>
          <a:bodyPr wrap="square">
            <a:spAutoFit/>
          </a:bodyPr>
          <a:lstStyle/>
          <a:p>
            <a:pPr algn="l">
              <a:buNone/>
            </a:pPr>
            <a:r>
              <a:rPr sz="1200" b="0">
                <a:solidFill>
                  <a:srgbClr val="4A5668"/>
                </a:solidFill>
                <a:latin typeface="Calibri"/>
                <a:ea typeface="Calibri"/>
                <a:cs typeface="Calibri"/>
              </a:rPr>
              <a:t>Customer and Staff follow the same architectural template — entity class + collection class + Excel persistence. This makes the codebase predictable and easy to extend.</a:t>
            </a:r>
          </a:p>
        </p:txBody>
      </p:sp>
      <p:sp>
        <p:nvSpPr>
          <p:cNvPr id="13" name="TextBox 12">
            <a:extLst>
              <a:ext uri="{FF2B5EF4-FFF2-40B4-BE49-F238E27FC236}">
                <a16:creationId xmlns:a16="http://schemas.microsoft.com/office/drawing/2014/main" id="{06421937-DD41-DD25-76A7-5A02B6D0B1CF}"/>
              </a:ext>
            </a:extLst>
          </p:cNvPr>
          <p:cNvSpPr>
            <a:spLocks noGrp="1"/>
          </p:cNvSpPr>
          <p:nvPr/>
        </p:nvSpPr>
        <p:spPr>
          <a:xfrm>
            <a:off x="5772823" y="1325880"/>
            <a:ext cx="4572000" cy="274320"/>
          </a:xfrm>
          <a:prstGeom prst="rect">
            <a:avLst/>
          </a:prstGeom>
          <a:noFill/>
        </p:spPr>
        <p:txBody>
          <a:bodyPr wrap="square">
            <a:spAutoFit/>
          </a:bodyPr>
          <a:lstStyle/>
          <a:p>
            <a:pPr algn="l">
              <a:buNone/>
            </a:pPr>
            <a:r>
              <a:rPr sz="1000" b="1">
                <a:solidFill>
                  <a:srgbClr val="2B6CB0"/>
                </a:solidFill>
                <a:latin typeface="Calibri"/>
                <a:ea typeface="Calibri"/>
                <a:cs typeface="Calibri"/>
              </a:rPr>
              <a:t>SESSION QUIT — SUMMARY ON EXIT</a:t>
            </a:r>
          </a:p>
        </p:txBody>
      </p:sp>
      <p:pic>
        <p:nvPicPr>
          <p:cNvPr id="14" name="Picture 14"/>
          <p:cNvPicPr>
            <a:picLocks noChangeAspect="1"/>
          </p:cNvPicPr>
          <p:nvPr/>
        </p:nvPicPr>
        <p:blipFill>
          <a:blip r:embed="rId3"/>
          <a:stretch>
            <a:fillRect/>
          </a:stretch>
        </p:blipFill>
        <p:spPr>
          <a:xfrm>
            <a:off x="5852160" y="1645920"/>
            <a:ext cx="6043506" cy="2653105"/>
          </a:xfrm>
          <a:prstGeom prst="rect">
            <a:avLst/>
          </a:prstGeom>
        </p:spPr>
      </p:pic>
    </p:spTree>
    <p:extLst>
      <p:ext uri="{BB962C8B-B14F-4D97-AF65-F5344CB8AC3E}">
        <p14:creationId xmlns:p14="http://schemas.microsoft.com/office/powerpoint/2010/main" val="3569333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7F48AD-109E-4191-90FA-7D003F36FF18}"/>
              </a:ext>
            </a:extLst>
          </p:cNvPr>
          <p:cNvSpPr>
            <a:spLocks noGrp="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E6BAA3ED-CD2E-4777-BCCF-6F10ACB5067E}"/>
              </a:ext>
            </a:extLst>
          </p:cNvPr>
          <p:cNvSpPr>
            <a:spLocks noGrp="1"/>
          </p:cNvSpPr>
          <p:nvPr/>
        </p:nvSpPr>
        <p:spPr>
          <a:xfrm>
            <a:off x="0" y="1645920"/>
            <a:ext cx="12191695" cy="365760"/>
          </a:xfrm>
          <a:prstGeom prst="rect">
            <a:avLst/>
          </a:prstGeom>
          <a:noFill/>
        </p:spPr>
        <p:txBody>
          <a:bodyPr wrap="square">
            <a:spAutoFit/>
          </a:bodyPr>
          <a:lstStyle/>
          <a:p>
            <a:pPr algn="ctr">
              <a:buNone/>
            </a:pPr>
            <a:r>
              <a:rPr sz="1600" b="1">
                <a:solidFill>
                  <a:srgbClr val="6688BB"/>
                </a:solidFill>
                <a:latin typeface="Calibri"/>
                <a:ea typeface="Calibri"/>
                <a:cs typeface="Calibri"/>
              </a:rPr>
              <a:t>SECTION 3</a:t>
            </a:r>
          </a:p>
        </p:txBody>
      </p:sp>
      <p:sp>
        <p:nvSpPr>
          <p:cNvPr id="4" name="TextBox 3">
            <a:extLst>
              <a:ext uri="{FF2B5EF4-FFF2-40B4-BE49-F238E27FC236}">
                <a16:creationId xmlns:a16="http://schemas.microsoft.com/office/drawing/2014/main" id="{28C08D95-C2BF-4A74-8C77-75E891531956}"/>
              </a:ext>
            </a:extLst>
          </p:cNvPr>
          <p:cNvSpPr>
            <a:spLocks noGrp="1"/>
          </p:cNvSpPr>
          <p:nvPr/>
        </p:nvSpPr>
        <p:spPr>
          <a:xfrm>
            <a:off x="0" y="2286000"/>
            <a:ext cx="12191695" cy="731520"/>
          </a:xfrm>
          <a:prstGeom prst="rect">
            <a:avLst/>
          </a:prstGeom>
          <a:noFill/>
        </p:spPr>
        <p:txBody>
          <a:bodyPr wrap="square">
            <a:spAutoFit/>
          </a:bodyPr>
          <a:lstStyle/>
          <a:p>
            <a:pPr algn="ctr">
              <a:buNone/>
            </a:pPr>
            <a:r>
              <a:rPr sz="4400" b="1">
                <a:solidFill>
                  <a:srgbClr val="FFFFFF"/>
                </a:solidFill>
                <a:latin typeface="Calibri"/>
                <a:ea typeface="Calibri"/>
                <a:cs typeface="Calibri"/>
              </a:rPr>
              <a:t>Data Persistence</a:t>
            </a:r>
          </a:p>
        </p:txBody>
      </p:sp>
      <p:sp>
        <p:nvSpPr>
          <p:cNvPr id="5" name="TextBox 4">
            <a:extLst>
              <a:ext uri="{FF2B5EF4-FFF2-40B4-BE49-F238E27FC236}">
                <a16:creationId xmlns:a16="http://schemas.microsoft.com/office/drawing/2014/main" id="{9F7BEEB6-9561-4C31-A9DC-E218242C30BB}"/>
              </a:ext>
            </a:extLst>
          </p:cNvPr>
          <p:cNvSpPr>
            <a:spLocks noGrp="1"/>
          </p:cNvSpPr>
          <p:nvPr/>
        </p:nvSpPr>
        <p:spPr>
          <a:xfrm>
            <a:off x="0" y="3200400"/>
            <a:ext cx="12191695" cy="365760"/>
          </a:xfrm>
          <a:prstGeom prst="rect">
            <a:avLst/>
          </a:prstGeom>
          <a:noFill/>
        </p:spPr>
        <p:txBody>
          <a:bodyPr wrap="square">
            <a:spAutoFit/>
          </a:bodyPr>
          <a:lstStyle/>
          <a:p>
            <a:pPr algn="ctr">
              <a:buNone/>
            </a:pPr>
            <a:r>
              <a:rPr sz="1800" b="0">
                <a:solidFill>
                  <a:srgbClr val="99BBDD"/>
                </a:solidFill>
                <a:latin typeface="Calibri"/>
                <a:ea typeface="Calibri"/>
                <a:cs typeface="Calibri"/>
              </a:rPr>
              <a:t>Excel-based tracking for orders, customers, and inventory</a:t>
            </a:r>
          </a:p>
        </p:txBody>
      </p:sp>
    </p:spTree>
    <p:extLst>
      <p:ext uri="{BB962C8B-B14F-4D97-AF65-F5344CB8AC3E}">
        <p14:creationId xmlns:p14="http://schemas.microsoft.com/office/powerpoint/2010/main" val="1501635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EFBB3A-36BB-4260-AA15-D7AA6519DD01}"/>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48DAF299-6B60-4AF4-B0C8-0A38B68BB52E}"/>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Excel Data Layer</a:t>
            </a:r>
          </a:p>
        </p:txBody>
      </p:sp>
      <p:sp>
        <p:nvSpPr>
          <p:cNvPr id="4" name="TextBox 3">
            <a:extLst>
              <a:ext uri="{FF2B5EF4-FFF2-40B4-BE49-F238E27FC236}">
                <a16:creationId xmlns:a16="http://schemas.microsoft.com/office/drawing/2014/main" id="{10F0DDA7-8428-44DF-94F0-8B7637661218}"/>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All data persisted to .xlsx files using pandas + openpyxl</a:t>
            </a:r>
          </a:p>
        </p:txBody>
      </p:sp>
      <p:sp>
        <p:nvSpPr>
          <p:cNvPr id="5" name="TextBox 4">
            <a:extLst>
              <a:ext uri="{FF2B5EF4-FFF2-40B4-BE49-F238E27FC236}">
                <a16:creationId xmlns:a16="http://schemas.microsoft.com/office/drawing/2014/main" id="{8BAFC8B2-F17E-40E2-A4C8-5D7C16154C91}"/>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graphicFrame>
        <p:nvGraphicFramePr>
          <p:cNvPr id="6" name="Table 5"/>
          <p:cNvGraphicFramePr/>
          <p:nvPr/>
        </p:nvGraphicFramePr>
        <p:xfrm>
          <a:off x="548640" y="1371600"/>
          <a:ext cx="10972800" cy="2743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57200">
                <a:tc>
                  <a:txBody>
                    <a:bodyPr/>
                    <a:lstStyle/>
                    <a:p>
                      <a:r>
                        <a:rPr sz="1300" b="1">
                          <a:solidFill>
                            <a:srgbClr val="FFFFFF"/>
                          </a:solidFill>
                          <a:latin typeface="Calibri"/>
                          <a:ea typeface="Calibri"/>
                          <a:cs typeface="Calibri"/>
                        </a:rPr>
                        <a:t>File</a:t>
                      </a:r>
                    </a:p>
                  </a:txBody>
                  <a:tcPr>
                    <a:solidFill>
                      <a:srgbClr val="2B6CB0"/>
                    </a:solidFill>
                  </a:tcPr>
                </a:tc>
                <a:tc>
                  <a:txBody>
                    <a:bodyPr/>
                    <a:lstStyle/>
                    <a:p>
                      <a:r>
                        <a:rPr sz="1300" b="1">
                          <a:solidFill>
                            <a:srgbClr val="FFFFFF"/>
                          </a:solidFill>
                          <a:latin typeface="Calibri"/>
                          <a:ea typeface="Calibri"/>
                          <a:cs typeface="Calibri"/>
                        </a:rPr>
                        <a:t>Purpose</a:t>
                      </a:r>
                    </a:p>
                  </a:txBody>
                  <a:tcPr>
                    <a:solidFill>
                      <a:srgbClr val="2B6CB0"/>
                    </a:solidFill>
                  </a:tcPr>
                </a:tc>
                <a:tc>
                  <a:txBody>
                    <a:bodyPr/>
                    <a:lstStyle/>
                    <a:p>
                      <a:r>
                        <a:rPr sz="1300" b="1">
                          <a:solidFill>
                            <a:srgbClr val="FFFFFF"/>
                          </a:solidFill>
                          <a:latin typeface="Calibri"/>
                          <a:ea typeface="Calibri"/>
                          <a:cs typeface="Calibri"/>
                        </a:rPr>
                        <a:t>Columns</a:t>
                      </a:r>
                    </a:p>
                  </a:txBody>
                  <a:tcPr>
                    <a:solidFill>
                      <a:srgbClr val="2B6CB0"/>
                    </a:solidFill>
                  </a:tcPr>
                </a:tc>
                <a:extLst>
                  <a:ext uri="{0D108BD9-81ED-4DB2-BD59-A6C34878D82A}">
                    <a16:rowId xmlns:a16="http://schemas.microsoft.com/office/drawing/2014/main" val="10000"/>
                  </a:ext>
                </a:extLst>
              </a:tr>
              <a:tr h="457200">
                <a:tc>
                  <a:txBody>
                    <a:bodyPr/>
                    <a:lstStyle/>
                    <a:p>
                      <a:r>
                        <a:rPr sz="1300">
                          <a:solidFill>
                            <a:srgbClr val="4A5668"/>
                          </a:solidFill>
                          <a:latin typeface="Calibri"/>
                          <a:ea typeface="Calibri"/>
                          <a:cs typeface="Calibri"/>
                        </a:rPr>
                        <a:t>Menu.xlsx</a:t>
                      </a:r>
                    </a:p>
                  </a:txBody>
                  <a:tcPr/>
                </a:tc>
                <a:tc>
                  <a:txBody>
                    <a:bodyPr/>
                    <a:lstStyle/>
                    <a:p>
                      <a:r>
                        <a:rPr sz="1300">
                          <a:solidFill>
                            <a:srgbClr val="4A5668"/>
                          </a:solidFill>
                          <a:latin typeface="Calibri"/>
                          <a:ea typeface="Calibri"/>
                          <a:cs typeface="Calibri"/>
                        </a:rPr>
                        <a:t>Menu items catalog</a:t>
                      </a:r>
                    </a:p>
                  </a:txBody>
                  <a:tcPr/>
                </a:tc>
                <a:tc>
                  <a:txBody>
                    <a:bodyPr/>
                    <a:lstStyle/>
                    <a:p>
                      <a:r>
                        <a:rPr sz="1300">
                          <a:solidFill>
                            <a:srgbClr val="4A5668"/>
                          </a:solidFill>
                          <a:latin typeface="Calibri"/>
                          <a:ea typeface="Calibri"/>
                          <a:cs typeface="Calibri"/>
                        </a:rPr>
                        <a:t>item_name, price, category</a:t>
                      </a:r>
                    </a:p>
                  </a:txBody>
                  <a:tcPr/>
                </a:tc>
                <a:extLst>
                  <a:ext uri="{0D108BD9-81ED-4DB2-BD59-A6C34878D82A}">
                    <a16:rowId xmlns:a16="http://schemas.microsoft.com/office/drawing/2014/main" val="10001"/>
                  </a:ext>
                </a:extLst>
              </a:tr>
              <a:tr h="457200">
                <a:tc>
                  <a:txBody>
                    <a:bodyPr/>
                    <a:lstStyle/>
                    <a:p>
                      <a:r>
                        <a:rPr sz="1300">
                          <a:solidFill>
                            <a:srgbClr val="4A5668"/>
                          </a:solidFill>
                          <a:latin typeface="Calibri"/>
                          <a:ea typeface="Calibri"/>
                          <a:cs typeface="Calibri"/>
                        </a:rPr>
                        <a:t>Orders.xlsx</a:t>
                      </a:r>
                    </a:p>
                  </a:txBody>
                  <a:tcPr/>
                </a:tc>
                <a:tc>
                  <a:txBody>
                    <a:bodyPr/>
                    <a:lstStyle/>
                    <a:p>
                      <a:r>
                        <a:rPr sz="1300">
                          <a:solidFill>
                            <a:srgbClr val="4A5668"/>
                          </a:solidFill>
                          <a:latin typeface="Calibri"/>
                          <a:ea typeface="Calibri"/>
                          <a:cs typeface="Calibri"/>
                        </a:rPr>
                        <a:t>Complete order history</a:t>
                      </a:r>
                    </a:p>
                  </a:txBody>
                  <a:tcPr/>
                </a:tc>
                <a:tc>
                  <a:txBody>
                    <a:bodyPr/>
                    <a:lstStyle/>
                    <a:p>
                      <a:r>
                        <a:rPr sz="1300">
                          <a:solidFill>
                            <a:srgbClr val="4A5668"/>
                          </a:solidFill>
                          <a:latin typeface="Calibri"/>
                          <a:ea typeface="Calibri"/>
                          <a:cs typeface="Calibri"/>
                        </a:rPr>
                        <a:t>order_id, total, date, time, [item quantities]</a:t>
                      </a:r>
                    </a:p>
                  </a:txBody>
                  <a:tcPr/>
                </a:tc>
                <a:extLst>
                  <a:ext uri="{0D108BD9-81ED-4DB2-BD59-A6C34878D82A}">
                    <a16:rowId xmlns:a16="http://schemas.microsoft.com/office/drawing/2014/main" val="10002"/>
                  </a:ext>
                </a:extLst>
              </a:tr>
              <a:tr h="457200">
                <a:tc>
                  <a:txBody>
                    <a:bodyPr/>
                    <a:lstStyle/>
                    <a:p>
                      <a:r>
                        <a:rPr sz="1300">
                          <a:solidFill>
                            <a:srgbClr val="4A5668"/>
                          </a:solidFill>
                          <a:latin typeface="Calibri"/>
                          <a:ea typeface="Calibri"/>
                          <a:cs typeface="Calibri"/>
                        </a:rPr>
                        <a:t>Inventory.xlsx</a:t>
                      </a:r>
                    </a:p>
                  </a:txBody>
                  <a:tcPr/>
                </a:tc>
                <a:tc>
                  <a:txBody>
                    <a:bodyPr/>
                    <a:lstStyle/>
                    <a:p>
                      <a:r>
                        <a:rPr sz="1300">
                          <a:solidFill>
                            <a:srgbClr val="4A5668"/>
                          </a:solidFill>
                          <a:latin typeface="Calibri"/>
                          <a:ea typeface="Calibri"/>
                          <a:cs typeface="Calibri"/>
                        </a:rPr>
                        <a:t>Current stock levels</a:t>
                      </a:r>
                    </a:p>
                  </a:txBody>
                  <a:tcPr/>
                </a:tc>
                <a:tc>
                  <a:txBody>
                    <a:bodyPr/>
                    <a:lstStyle/>
                    <a:p>
                      <a:r>
                        <a:rPr sz="1300">
                          <a:solidFill>
                            <a:srgbClr val="4A5668"/>
                          </a:solidFill>
                          <a:latin typeface="Calibri"/>
                          <a:ea typeface="Calibri"/>
                          <a:cs typeface="Calibri"/>
                        </a:rPr>
                        <a:t>Item Name, Stock Numbers</a:t>
                      </a:r>
                    </a:p>
                  </a:txBody>
                  <a:tcPr/>
                </a:tc>
                <a:extLst>
                  <a:ext uri="{0D108BD9-81ED-4DB2-BD59-A6C34878D82A}">
                    <a16:rowId xmlns:a16="http://schemas.microsoft.com/office/drawing/2014/main" val="10003"/>
                  </a:ext>
                </a:extLst>
              </a:tr>
              <a:tr h="457200">
                <a:tc>
                  <a:txBody>
                    <a:bodyPr/>
                    <a:lstStyle/>
                    <a:p>
                      <a:r>
                        <a:rPr sz="1300">
                          <a:solidFill>
                            <a:srgbClr val="4A5668"/>
                          </a:solidFill>
                          <a:latin typeface="Calibri"/>
                          <a:ea typeface="Calibri"/>
                          <a:cs typeface="Calibri"/>
                        </a:rPr>
                        <a:t>Customers.xlsx</a:t>
                      </a:r>
                    </a:p>
                  </a:txBody>
                  <a:tcPr/>
                </a:tc>
                <a:tc>
                  <a:txBody>
                    <a:bodyPr/>
                    <a:lstStyle/>
                    <a:p>
                      <a:r>
                        <a:rPr sz="1300">
                          <a:solidFill>
                            <a:srgbClr val="4A5668"/>
                          </a:solidFill>
                          <a:latin typeface="Calibri"/>
                          <a:ea typeface="Calibri"/>
                          <a:cs typeface="Calibri"/>
                        </a:rPr>
                        <a:t>Customer profiles &amp; loyalty points</a:t>
                      </a:r>
                    </a:p>
                  </a:txBody>
                  <a:tcPr/>
                </a:tc>
                <a:tc>
                  <a:txBody>
                    <a:bodyPr/>
                    <a:lstStyle/>
                    <a:p>
                      <a:r>
                        <a:rPr sz="1300">
                          <a:solidFill>
                            <a:srgbClr val="4A5668"/>
                          </a:solidFill>
                          <a:latin typeface="Calibri"/>
                          <a:ea typeface="Calibri"/>
                          <a:cs typeface="Calibri"/>
                        </a:rPr>
                        <a:t>customer_id, name, telephone, points</a:t>
                      </a:r>
                    </a:p>
                  </a:txBody>
                  <a:tcPr/>
                </a:tc>
                <a:extLst>
                  <a:ext uri="{0D108BD9-81ED-4DB2-BD59-A6C34878D82A}">
                    <a16:rowId xmlns:a16="http://schemas.microsoft.com/office/drawing/2014/main" val="10004"/>
                  </a:ext>
                </a:extLst>
              </a:tr>
              <a:tr h="457200">
                <a:tc>
                  <a:txBody>
                    <a:bodyPr/>
                    <a:lstStyle/>
                    <a:p>
                      <a:r>
                        <a:rPr sz="1300">
                          <a:solidFill>
                            <a:srgbClr val="4A5668"/>
                          </a:solidFill>
                          <a:latin typeface="Calibri"/>
                          <a:ea typeface="Calibri"/>
                          <a:cs typeface="Calibri"/>
                        </a:rPr>
                        <a:t>Staffs.xlsx</a:t>
                      </a:r>
                    </a:p>
                  </a:txBody>
                  <a:tcPr/>
                </a:tc>
                <a:tc>
                  <a:txBody>
                    <a:bodyPr/>
                    <a:lstStyle/>
                    <a:p>
                      <a:r>
                        <a:rPr sz="1300">
                          <a:solidFill>
                            <a:srgbClr val="4A5668"/>
                          </a:solidFill>
                          <a:latin typeface="Calibri"/>
                          <a:ea typeface="Calibri"/>
                          <a:cs typeface="Calibri"/>
                        </a:rPr>
                        <a:t>Staff credentials</a:t>
                      </a:r>
                    </a:p>
                  </a:txBody>
                  <a:tcPr/>
                </a:tc>
                <a:tc>
                  <a:txBody>
                    <a:bodyPr/>
                    <a:lstStyle/>
                    <a:p>
                      <a:r>
                        <a:rPr sz="1300">
                          <a:solidFill>
                            <a:srgbClr val="4A5668"/>
                          </a:solidFill>
                          <a:latin typeface="Calibri"/>
                          <a:ea typeface="Calibri"/>
                          <a:cs typeface="Calibri"/>
                        </a:rPr>
                        <a:t>staff_id, name, telephone, password</a:t>
                      </a:r>
                    </a:p>
                  </a:txBody>
                  <a:tcPr/>
                </a:tc>
                <a:extLst>
                  <a:ext uri="{0D108BD9-81ED-4DB2-BD59-A6C34878D82A}">
                    <a16:rowId xmlns:a16="http://schemas.microsoft.com/office/drawing/2014/main" val="10005"/>
                  </a:ext>
                </a:extLst>
              </a:tr>
            </a:tbl>
          </a:graphicData>
        </a:graphic>
      </p:graphicFrame>
      <p:sp>
        <p:nvSpPr>
          <p:cNvPr id="7" name="Rounded Rectangle 6">
            <a:extLst>
              <a:ext uri="{FF2B5EF4-FFF2-40B4-BE49-F238E27FC236}">
                <a16:creationId xmlns:a16="http://schemas.microsoft.com/office/drawing/2014/main" id="{1F0C5C2B-C65E-4A77-9955-24EE13609D7A}"/>
              </a:ext>
            </a:extLst>
          </p:cNvPr>
          <p:cNvSpPr>
            <a:spLocks noGrp="1"/>
          </p:cNvSpPr>
          <p:nvPr/>
        </p:nvSpPr>
        <p:spPr>
          <a:xfrm>
            <a:off x="548640" y="4389120"/>
            <a:ext cx="10972800" cy="164592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3DE89C60-59C2-416A-98A4-28DBAF31677B}"/>
              </a:ext>
            </a:extLst>
          </p:cNvPr>
          <p:cNvSpPr>
            <a:spLocks noGrp="1"/>
          </p:cNvSpPr>
          <p:nvPr/>
        </p:nvSpPr>
        <p:spPr>
          <a:xfrm>
            <a:off x="822960" y="4480560"/>
            <a:ext cx="10424160" cy="274320"/>
          </a:xfrm>
          <a:prstGeom prst="rect">
            <a:avLst/>
          </a:prstGeom>
          <a:noFill/>
        </p:spPr>
        <p:txBody>
          <a:bodyPr wrap="square">
            <a:spAutoFit/>
          </a:bodyPr>
          <a:lstStyle/>
          <a:p>
            <a:pPr algn="l">
              <a:buNone/>
            </a:pPr>
            <a:r>
              <a:rPr sz="1500" b="1">
                <a:solidFill>
                  <a:srgbClr val="1A365D"/>
                </a:solidFill>
                <a:latin typeface="Calibri"/>
                <a:ea typeface="Calibri"/>
                <a:cs typeface="Calibri"/>
              </a:rPr>
              <a:t>★  Special Feature: Loyalty Points Tracking</a:t>
            </a:r>
          </a:p>
        </p:txBody>
      </p:sp>
      <p:sp>
        <p:nvSpPr>
          <p:cNvPr id="9" name="TextBox 8">
            <a:extLst>
              <a:ext uri="{FF2B5EF4-FFF2-40B4-BE49-F238E27FC236}">
                <a16:creationId xmlns:a16="http://schemas.microsoft.com/office/drawing/2014/main" id="{88B6F12D-433A-47FE-BE4C-6FC9445D00C0}"/>
              </a:ext>
            </a:extLst>
          </p:cNvPr>
          <p:cNvSpPr>
            <a:spLocks noGrp="1"/>
          </p:cNvSpPr>
          <p:nvPr/>
        </p:nvSpPr>
        <p:spPr>
          <a:xfrm>
            <a:off x="822960" y="4846320"/>
            <a:ext cx="10424160" cy="914400"/>
          </a:xfrm>
          <a:prstGeom prst="rect">
            <a:avLst/>
          </a:prstGeom>
          <a:noFill/>
        </p:spPr>
        <p:txBody>
          <a:bodyPr wrap="square">
            <a:spAutoFit/>
          </a:bodyPr>
          <a:lstStyle/>
          <a:p>
            <a:pPr algn="l">
              <a:buNone/>
            </a:pPr>
            <a:r>
              <a:rPr sz="1400" b="0">
                <a:solidFill>
                  <a:srgbClr val="4A5668"/>
                </a:solidFill>
                <a:latin typeface="Calibri"/>
                <a:ea typeface="Calibri"/>
                <a:cs typeface="Calibri"/>
              </a:rPr>
              <a:t>Every checkout automatically identifies returning customers by phone number, accumulates their loyalty points in Customers.xlsx, and displays the updated balance on the receipt. New customers are auto-registered on first purchase with a unique 9-digit ID. All data persists across sessions — no data is lost when the program restarts.</a:t>
            </a:r>
          </a:p>
        </p:txBody>
      </p:sp>
    </p:spTree>
    <p:extLst>
      <p:ext uri="{BB962C8B-B14F-4D97-AF65-F5344CB8AC3E}">
        <p14:creationId xmlns:p14="http://schemas.microsoft.com/office/powerpoint/2010/main" val="2560765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1A6C4E-582C-481D-B3D9-8A06F08D9322}"/>
              </a:ext>
            </a:extLst>
          </p:cNvPr>
          <p:cNvSpPr>
            <a:spLocks noGrp="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65ADA339-7C6E-4F4D-A9B4-7D320143CDF4}"/>
              </a:ext>
            </a:extLst>
          </p:cNvPr>
          <p:cNvSpPr>
            <a:spLocks noGrp="1"/>
          </p:cNvSpPr>
          <p:nvPr/>
        </p:nvSpPr>
        <p:spPr>
          <a:xfrm>
            <a:off x="0" y="1645920"/>
            <a:ext cx="12191695" cy="365760"/>
          </a:xfrm>
          <a:prstGeom prst="rect">
            <a:avLst/>
          </a:prstGeom>
          <a:noFill/>
        </p:spPr>
        <p:txBody>
          <a:bodyPr wrap="square">
            <a:spAutoFit/>
          </a:bodyPr>
          <a:lstStyle/>
          <a:p>
            <a:pPr algn="ctr">
              <a:buNone/>
            </a:pPr>
            <a:r>
              <a:rPr sz="1600" b="1">
                <a:solidFill>
                  <a:srgbClr val="6688BB"/>
                </a:solidFill>
                <a:latin typeface="Calibri"/>
                <a:ea typeface="Calibri"/>
                <a:cs typeface="Calibri"/>
              </a:rPr>
              <a:t>SECTION 4</a:t>
            </a:r>
          </a:p>
        </p:txBody>
      </p:sp>
      <p:sp>
        <p:nvSpPr>
          <p:cNvPr id="4" name="TextBox 3">
            <a:extLst>
              <a:ext uri="{FF2B5EF4-FFF2-40B4-BE49-F238E27FC236}">
                <a16:creationId xmlns:a16="http://schemas.microsoft.com/office/drawing/2014/main" id="{8410FEB1-01D2-4ECA-9FD9-D99D39CE421A}"/>
              </a:ext>
            </a:extLst>
          </p:cNvPr>
          <p:cNvSpPr>
            <a:spLocks noGrp="1"/>
          </p:cNvSpPr>
          <p:nvPr/>
        </p:nvSpPr>
        <p:spPr>
          <a:xfrm>
            <a:off x="0" y="2286000"/>
            <a:ext cx="12191695" cy="731520"/>
          </a:xfrm>
          <a:prstGeom prst="rect">
            <a:avLst/>
          </a:prstGeom>
          <a:noFill/>
        </p:spPr>
        <p:txBody>
          <a:bodyPr wrap="square">
            <a:spAutoFit/>
          </a:bodyPr>
          <a:lstStyle/>
          <a:p>
            <a:pPr algn="ctr">
              <a:buNone/>
            </a:pPr>
            <a:r>
              <a:rPr sz="4400" b="1">
                <a:solidFill>
                  <a:srgbClr val="FFFFFF"/>
                </a:solidFill>
                <a:latin typeface="Calibri"/>
                <a:ea typeface="Calibri"/>
                <a:cs typeface="Calibri"/>
              </a:rPr>
              <a:t>Frontend Application</a:t>
            </a:r>
          </a:p>
        </p:txBody>
      </p:sp>
      <p:sp>
        <p:nvSpPr>
          <p:cNvPr id="5" name="TextBox 4">
            <a:extLst>
              <a:ext uri="{FF2B5EF4-FFF2-40B4-BE49-F238E27FC236}">
                <a16:creationId xmlns:a16="http://schemas.microsoft.com/office/drawing/2014/main" id="{D14F1503-ACC8-4DDB-AB21-DFF48F90E6B5}"/>
              </a:ext>
            </a:extLst>
          </p:cNvPr>
          <p:cNvSpPr>
            <a:spLocks noGrp="1"/>
          </p:cNvSpPr>
          <p:nvPr/>
        </p:nvSpPr>
        <p:spPr>
          <a:xfrm>
            <a:off x="0" y="3200400"/>
            <a:ext cx="12191695" cy="365760"/>
          </a:xfrm>
          <a:prstGeom prst="rect">
            <a:avLst/>
          </a:prstGeom>
          <a:noFill/>
        </p:spPr>
        <p:txBody>
          <a:bodyPr wrap="square">
            <a:spAutoFit/>
          </a:bodyPr>
          <a:lstStyle/>
          <a:p>
            <a:pPr algn="ctr">
              <a:buNone/>
            </a:pPr>
            <a:r>
              <a:rPr sz="1800" b="0">
                <a:solidFill>
                  <a:srgbClr val="99BBDD"/>
                </a:solidFill>
                <a:latin typeface="Calibri"/>
                <a:ea typeface="Calibri"/>
                <a:cs typeface="Calibri"/>
              </a:rPr>
              <a:t>A React web interface built on top of the same backend</a:t>
            </a:r>
          </a:p>
        </p:txBody>
      </p:sp>
    </p:spTree>
    <p:extLst>
      <p:ext uri="{BB962C8B-B14F-4D97-AF65-F5344CB8AC3E}">
        <p14:creationId xmlns:p14="http://schemas.microsoft.com/office/powerpoint/2010/main" val="241525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4BE45C-59EA-4509-46F5-EFB6C9D12577}"/>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1C90EEDE-3388-E428-C3FF-28BDABE761CD}"/>
              </a:ext>
            </a:extLst>
          </p:cNvPr>
          <p:cNvSpPr>
            <a:spLocks noGrp="1"/>
          </p:cNvSpPr>
          <p:nvPr/>
        </p:nvSpPr>
        <p:spPr>
          <a:xfrm>
            <a:off x="548640" y="160020"/>
            <a:ext cx="9144000" cy="523220"/>
          </a:xfrm>
          <a:prstGeom prst="rect">
            <a:avLst/>
          </a:prstGeom>
          <a:noFill/>
        </p:spPr>
        <p:txBody>
          <a:bodyPr wrap="square">
            <a:spAutoFit/>
          </a:bodyPr>
          <a:lstStyle/>
          <a:p>
            <a:pPr algn="l">
              <a:buNone/>
            </a:pPr>
            <a:r>
              <a:rPr sz="2800" b="1">
                <a:solidFill>
                  <a:srgbClr val="FFFFFF"/>
                </a:solidFill>
                <a:latin typeface="Calibri"/>
                <a:ea typeface="Calibri"/>
                <a:cs typeface="Calibri"/>
              </a:rPr>
              <a:t>Test out our Live app here:</a:t>
            </a:r>
          </a:p>
        </p:txBody>
      </p:sp>
      <p:sp>
        <p:nvSpPr>
          <p:cNvPr id="4" name="TextBox 3">
            <a:extLst>
              <a:ext uri="{FF2B5EF4-FFF2-40B4-BE49-F238E27FC236}">
                <a16:creationId xmlns:a16="http://schemas.microsoft.com/office/drawing/2014/main" id="{AF93CA34-41CE-E331-0EBA-C0F8C5653343}"/>
              </a:ext>
            </a:extLst>
          </p:cNvPr>
          <p:cNvSpPr>
            <a:spLocks noGrp="1"/>
          </p:cNvSpPr>
          <p:nvPr/>
        </p:nvSpPr>
        <p:spPr>
          <a:xfrm>
            <a:off x="548640" y="640080"/>
            <a:ext cx="9144000" cy="307777"/>
          </a:xfrm>
          <a:prstGeom prst="rect">
            <a:avLst/>
          </a:prstGeom>
          <a:noFill/>
        </p:spPr>
        <p:txBody>
          <a:bodyPr wrap="square">
            <a:spAutoFit/>
          </a:bodyPr>
          <a:lstStyle/>
          <a:p>
            <a:pPr algn="l">
              <a:buNone/>
            </a:pPr>
            <a:r>
              <a:rPr sz="1400">
                <a:solidFill>
                  <a:srgbClr val="BBCCEE"/>
                </a:solidFill>
                <a:latin typeface="Calibri"/>
                <a:ea typeface="Calibri"/>
                <a:cs typeface="Calibri"/>
              </a:rPr>
              <a:t>Scan the QR code or click on the link to check out our live frontend app:</a:t>
            </a:r>
          </a:p>
        </p:txBody>
      </p:sp>
      <p:sp>
        <p:nvSpPr>
          <p:cNvPr id="5" name="TextBox 4">
            <a:extLst>
              <a:ext uri="{FF2B5EF4-FFF2-40B4-BE49-F238E27FC236}">
                <a16:creationId xmlns:a16="http://schemas.microsoft.com/office/drawing/2014/main" id="{2E52BC87-9B58-2CB3-3378-F3ADD8AE2987}"/>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992ED5BA-4C65-B28E-0FB3-9719CE9B64CF}"/>
              </a:ext>
            </a:extLst>
          </p:cNvPr>
          <p:cNvSpPr>
            <a:spLocks noGrp="1"/>
          </p:cNvSpPr>
          <p:nvPr/>
        </p:nvSpPr>
        <p:spPr>
          <a:xfrm>
            <a:off x="548640" y="1321400"/>
            <a:ext cx="2743200" cy="369332"/>
          </a:xfrm>
          <a:prstGeom prst="rect">
            <a:avLst/>
          </a:prstGeom>
          <a:noFill/>
        </p:spPr>
        <p:txBody>
          <a:bodyPr wrap="square">
            <a:spAutoFit/>
          </a:bodyPr>
          <a:lstStyle/>
          <a:p>
            <a:pPr algn="l">
              <a:buNone/>
            </a:pPr>
            <a:r>
              <a:rPr b="1">
                <a:solidFill>
                  <a:srgbClr val="2B6CB0"/>
                </a:solidFill>
                <a:latin typeface="Calibri"/>
                <a:ea typeface="Calibri"/>
                <a:cs typeface="Calibri"/>
              </a:rPr>
              <a:t>QR Code:</a:t>
            </a:r>
          </a:p>
        </p:txBody>
      </p:sp>
      <p:sp>
        <p:nvSpPr>
          <p:cNvPr id="10" name="Rounded Rectangle 9">
            <a:extLst>
              <a:ext uri="{FF2B5EF4-FFF2-40B4-BE49-F238E27FC236}">
                <a16:creationId xmlns:a16="http://schemas.microsoft.com/office/drawing/2014/main" id="{C58F82B2-9DCE-0CD3-0867-348A00CB458D}"/>
              </a:ext>
            </a:extLst>
          </p:cNvPr>
          <p:cNvSpPr>
            <a:spLocks noGrp="1"/>
          </p:cNvSpPr>
          <p:nvPr/>
        </p:nvSpPr>
        <p:spPr>
          <a:xfrm>
            <a:off x="4712350" y="1988246"/>
            <a:ext cx="5824515" cy="2167919"/>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6E7045F-F420-DDC4-6228-8C21AFA24C4B}"/>
              </a:ext>
            </a:extLst>
          </p:cNvPr>
          <p:cNvSpPr>
            <a:spLocks noGrp="1"/>
          </p:cNvSpPr>
          <p:nvPr/>
        </p:nvSpPr>
        <p:spPr>
          <a:xfrm>
            <a:off x="4937760" y="2211003"/>
            <a:ext cx="6141366" cy="369332"/>
          </a:xfrm>
          <a:prstGeom prst="rect">
            <a:avLst/>
          </a:prstGeom>
          <a:noFill/>
        </p:spPr>
        <p:txBody>
          <a:bodyPr wrap="square">
            <a:spAutoFit/>
          </a:bodyPr>
          <a:lstStyle/>
          <a:p>
            <a:pPr algn="l">
              <a:buNone/>
            </a:pPr>
            <a:r>
              <a:rPr b="1">
                <a:solidFill>
                  <a:srgbClr val="1A365D"/>
                </a:solidFill>
                <a:latin typeface="Calibri"/>
                <a:ea typeface="Calibri"/>
                <a:cs typeface="Calibri"/>
              </a:rPr>
              <a:t>Publicly hosted URL for our Campus Café web app:</a:t>
            </a:r>
          </a:p>
        </p:txBody>
      </p:sp>
      <p:sp>
        <p:nvSpPr>
          <p:cNvPr id="12" name="TextBox 11">
            <a:extLst>
              <a:ext uri="{FF2B5EF4-FFF2-40B4-BE49-F238E27FC236}">
                <a16:creationId xmlns:a16="http://schemas.microsoft.com/office/drawing/2014/main" id="{6E8B9FE6-20F7-DC63-127A-00B29B4CB4D7}"/>
              </a:ext>
            </a:extLst>
          </p:cNvPr>
          <p:cNvSpPr>
            <a:spLocks noGrp="1"/>
          </p:cNvSpPr>
          <p:nvPr/>
        </p:nvSpPr>
        <p:spPr>
          <a:xfrm>
            <a:off x="4937760" y="2887540"/>
            <a:ext cx="6141366" cy="369332"/>
          </a:xfrm>
          <a:prstGeom prst="rect">
            <a:avLst/>
          </a:prstGeom>
          <a:noFill/>
        </p:spPr>
        <p:txBody>
          <a:bodyPr wrap="square">
            <a:spAutoFit/>
          </a:bodyPr>
          <a:lstStyle/>
          <a:p>
            <a:r>
              <a:rPr>
                <a:solidFill>
                  <a:srgbClr val="4A5668"/>
                </a:solidFill>
                <a:hlinkClick r:id="rId3"/>
              </a:rPr>
              <a:t>https://campus-cafe-cs5001-production.up.railway.app/</a:t>
            </a:r>
          </a:p>
        </p:txBody>
      </p:sp>
      <p:pic>
        <p:nvPicPr>
          <p:cNvPr id="13" name="Picture 8"/>
          <p:cNvPicPr>
            <a:picLocks noChangeAspect="1"/>
          </p:cNvPicPr>
          <p:nvPr/>
        </p:nvPicPr>
        <p:blipFill>
          <a:blip r:embed="rId4"/>
          <a:srcRect/>
          <a:stretch>
            <a:fillRect/>
          </a:stretch>
        </p:blipFill>
        <p:spPr>
          <a:xfrm>
            <a:off x="280700" y="1655489"/>
            <a:ext cx="4278541" cy="4278541"/>
          </a:xfrm>
          <a:prstGeom prst="rect">
            <a:avLst/>
          </a:prstGeom>
        </p:spPr>
      </p:pic>
    </p:spTree>
    <p:extLst>
      <p:ext uri="{BB962C8B-B14F-4D97-AF65-F5344CB8AC3E}">
        <p14:creationId xmlns:p14="http://schemas.microsoft.com/office/powerpoint/2010/main" val="31669867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3BF89A-4050-47E4-AC04-99972E9D399A}"/>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39EB383-0D32-4FA2-8464-1B45815808D3}"/>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React Frontend</a:t>
            </a:r>
          </a:p>
        </p:txBody>
      </p:sp>
      <p:sp>
        <p:nvSpPr>
          <p:cNvPr id="4" name="TextBox 3">
            <a:extLst>
              <a:ext uri="{FF2B5EF4-FFF2-40B4-BE49-F238E27FC236}">
                <a16:creationId xmlns:a16="http://schemas.microsoft.com/office/drawing/2014/main" id="{88D5DB11-826A-45EC-82F3-757C529B780B}"/>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Modern web interface for the Campus Cafe POS</a:t>
            </a:r>
          </a:p>
        </p:txBody>
      </p:sp>
      <p:sp>
        <p:nvSpPr>
          <p:cNvPr id="5" name="TextBox 4">
            <a:extLst>
              <a:ext uri="{FF2B5EF4-FFF2-40B4-BE49-F238E27FC236}">
                <a16:creationId xmlns:a16="http://schemas.microsoft.com/office/drawing/2014/main" id="{893CBAFD-B784-4E89-A052-F1034A1B9383}"/>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TextBox 5">
            <a:extLst>
              <a:ext uri="{FF2B5EF4-FFF2-40B4-BE49-F238E27FC236}">
                <a16:creationId xmlns:a16="http://schemas.microsoft.com/office/drawing/2014/main" id="{6D8CB1A6-78BC-4D5D-814F-23732FC62428}"/>
              </a:ext>
            </a:extLst>
          </p:cNvPr>
          <p:cNvSpPr>
            <a:spLocks noGrp="1"/>
          </p:cNvSpPr>
          <p:nvPr/>
        </p:nvSpPr>
        <p:spPr>
          <a:xfrm>
            <a:off x="548640" y="1280160"/>
            <a:ext cx="10972800" cy="457200"/>
          </a:xfrm>
          <a:prstGeom prst="rect">
            <a:avLst/>
          </a:prstGeom>
          <a:noFill/>
        </p:spPr>
        <p:txBody>
          <a:bodyPr wrap="square">
            <a:spAutoFit/>
          </a:bodyPr>
          <a:lstStyle/>
          <a:p>
            <a:pPr algn="l">
              <a:buNone/>
            </a:pPr>
            <a:r>
              <a:rPr sz="1400" b="0">
                <a:solidFill>
                  <a:srgbClr val="4A5668"/>
                </a:solidFill>
                <a:latin typeface="Calibri"/>
                <a:ea typeface="Calibri"/>
                <a:cs typeface="Calibri"/>
              </a:rPr>
              <a:t>To make our project more accessible and visually engaging, we built a full web application using React. A FastAPI server (app.py) wraps the exact same backend classes, exposing them as REST API endpoints.</a:t>
            </a:r>
          </a:p>
        </p:txBody>
      </p:sp>
      <p:sp>
        <p:nvSpPr>
          <p:cNvPr id="7" name="Rounded Rectangle 6">
            <a:extLst>
              <a:ext uri="{FF2B5EF4-FFF2-40B4-BE49-F238E27FC236}">
                <a16:creationId xmlns:a16="http://schemas.microsoft.com/office/drawing/2014/main" id="{AA106C2C-B2E9-4601-97FD-D0FD0614E7F2}"/>
              </a:ext>
            </a:extLst>
          </p:cNvPr>
          <p:cNvSpPr>
            <a:spLocks noGrp="1"/>
          </p:cNvSpPr>
          <p:nvPr/>
        </p:nvSpPr>
        <p:spPr>
          <a:xfrm>
            <a:off x="548640" y="2011680"/>
            <a:ext cx="3383280" cy="192024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EA69EA4B-2A22-47E1-8DFD-C13E14826374}"/>
              </a:ext>
            </a:extLst>
          </p:cNvPr>
          <p:cNvSpPr>
            <a:spLocks noGrp="1"/>
          </p:cNvSpPr>
          <p:nvPr/>
        </p:nvSpPr>
        <p:spPr>
          <a:xfrm>
            <a:off x="548640" y="2103120"/>
            <a:ext cx="54864" cy="17373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337A4D-C3CD-440E-B011-455D40B12AE2}"/>
              </a:ext>
            </a:extLst>
          </p:cNvPr>
          <p:cNvSpPr>
            <a:spLocks noGrp="1"/>
          </p:cNvSpPr>
          <p:nvPr/>
        </p:nvSpPr>
        <p:spPr>
          <a:xfrm>
            <a:off x="731520" y="2103120"/>
            <a:ext cx="3108960" cy="320040"/>
          </a:xfrm>
          <a:prstGeom prst="rect">
            <a:avLst/>
          </a:prstGeom>
          <a:noFill/>
        </p:spPr>
        <p:txBody>
          <a:bodyPr wrap="square">
            <a:spAutoFit/>
          </a:bodyPr>
          <a:lstStyle/>
          <a:p>
            <a:pPr algn="l">
              <a:buNone/>
            </a:pPr>
            <a:r>
              <a:rPr sz="1400" b="1">
                <a:solidFill>
                  <a:srgbClr val="1A365D"/>
                </a:solidFill>
                <a:latin typeface="Calibri"/>
                <a:ea typeface="Calibri"/>
                <a:cs typeface="Calibri"/>
              </a:rPr>
              <a:t>Tech Stack</a:t>
            </a:r>
          </a:p>
        </p:txBody>
      </p:sp>
      <p:sp>
        <p:nvSpPr>
          <p:cNvPr id="10" name="TextBox 9">
            <a:extLst>
              <a:ext uri="{FF2B5EF4-FFF2-40B4-BE49-F238E27FC236}">
                <a16:creationId xmlns:a16="http://schemas.microsoft.com/office/drawing/2014/main" id="{BF4ADEEA-2FFF-44CA-BB82-5275506388A2}"/>
              </a:ext>
            </a:extLst>
          </p:cNvPr>
          <p:cNvSpPr>
            <a:spLocks noGrp="1"/>
          </p:cNvSpPr>
          <p:nvPr/>
        </p:nvSpPr>
        <p:spPr>
          <a:xfrm>
            <a:off x="731520" y="2423160"/>
            <a:ext cx="3108960" cy="146304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React 18 + Vite</a:t>
            </a:r>
          </a:p>
          <a:p>
            <a:pPr marL="274320" indent="-182880">
              <a:spcAft>
                <a:spcPts val="600"/>
              </a:spcAft>
              <a:buChar char="•"/>
            </a:pPr>
            <a:r>
              <a:rPr sz="1200" b="0">
                <a:solidFill>
                  <a:srgbClr val="4A5668"/>
                </a:solidFill>
                <a:latin typeface="Calibri"/>
                <a:ea typeface="Calibri"/>
                <a:cs typeface="Calibri"/>
              </a:rPr>
              <a:t>React Router v6</a:t>
            </a:r>
          </a:p>
          <a:p>
            <a:pPr marL="274320" indent="-182880">
              <a:spcAft>
                <a:spcPts val="600"/>
              </a:spcAft>
              <a:buChar char="•"/>
            </a:pPr>
            <a:r>
              <a:rPr sz="1200" b="0">
                <a:solidFill>
                  <a:srgbClr val="4A5668"/>
                </a:solidFill>
                <a:latin typeface="Calibri"/>
                <a:ea typeface="Calibri"/>
                <a:cs typeface="Calibri"/>
              </a:rPr>
              <a:t>FastAPI (Python)</a:t>
            </a:r>
          </a:p>
          <a:p>
            <a:pPr marL="274320" indent="-182880">
              <a:spcAft>
                <a:spcPts val="600"/>
              </a:spcAft>
              <a:buChar char="•"/>
            </a:pPr>
            <a:r>
              <a:rPr sz="1200" b="0">
                <a:solidFill>
                  <a:srgbClr val="4A5668"/>
                </a:solidFill>
                <a:latin typeface="Calibri"/>
                <a:ea typeface="Calibri"/>
                <a:cs typeface="Calibri"/>
              </a:rPr>
              <a:t>Vite proxy for API calls</a:t>
            </a:r>
          </a:p>
        </p:txBody>
      </p:sp>
      <p:sp>
        <p:nvSpPr>
          <p:cNvPr id="11" name="Rounded Rectangle 10">
            <a:extLst>
              <a:ext uri="{FF2B5EF4-FFF2-40B4-BE49-F238E27FC236}">
                <a16:creationId xmlns:a16="http://schemas.microsoft.com/office/drawing/2014/main" id="{BE42CA8B-555D-4419-B977-DB750E2AE466}"/>
              </a:ext>
            </a:extLst>
          </p:cNvPr>
          <p:cNvSpPr>
            <a:spLocks noGrp="1"/>
          </p:cNvSpPr>
          <p:nvPr/>
        </p:nvSpPr>
        <p:spPr>
          <a:xfrm>
            <a:off x="4206240" y="2011680"/>
            <a:ext cx="3383280" cy="192024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647DF409-F987-47A3-97BE-B693E6759425}"/>
              </a:ext>
            </a:extLst>
          </p:cNvPr>
          <p:cNvSpPr>
            <a:spLocks noGrp="1"/>
          </p:cNvSpPr>
          <p:nvPr/>
        </p:nvSpPr>
        <p:spPr>
          <a:xfrm>
            <a:off x="4206240" y="2103120"/>
            <a:ext cx="54864" cy="17373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47B9FA-4A4D-481B-A3F5-A5C5DA13780B}"/>
              </a:ext>
            </a:extLst>
          </p:cNvPr>
          <p:cNvSpPr>
            <a:spLocks noGrp="1"/>
          </p:cNvSpPr>
          <p:nvPr/>
        </p:nvSpPr>
        <p:spPr>
          <a:xfrm>
            <a:off x="4389120" y="2103120"/>
            <a:ext cx="3108960" cy="320040"/>
          </a:xfrm>
          <a:prstGeom prst="rect">
            <a:avLst/>
          </a:prstGeom>
          <a:noFill/>
        </p:spPr>
        <p:txBody>
          <a:bodyPr wrap="square">
            <a:spAutoFit/>
          </a:bodyPr>
          <a:lstStyle/>
          <a:p>
            <a:pPr algn="l">
              <a:buNone/>
            </a:pPr>
            <a:r>
              <a:rPr sz="1400" b="1">
                <a:solidFill>
                  <a:srgbClr val="1A365D"/>
                </a:solidFill>
                <a:latin typeface="Calibri"/>
                <a:ea typeface="Calibri"/>
                <a:cs typeface="Calibri"/>
              </a:rPr>
              <a:t>Customer Pages</a:t>
            </a:r>
          </a:p>
        </p:txBody>
      </p:sp>
      <p:sp>
        <p:nvSpPr>
          <p:cNvPr id="14" name="TextBox 13">
            <a:extLst>
              <a:ext uri="{FF2B5EF4-FFF2-40B4-BE49-F238E27FC236}">
                <a16:creationId xmlns:a16="http://schemas.microsoft.com/office/drawing/2014/main" id="{C102DFF6-8A38-4378-88E3-CED320FA6FBE}"/>
              </a:ext>
            </a:extLst>
          </p:cNvPr>
          <p:cNvSpPr>
            <a:spLocks noGrp="1"/>
          </p:cNvSpPr>
          <p:nvPr/>
        </p:nvSpPr>
        <p:spPr>
          <a:xfrm>
            <a:off x="4389120" y="2423160"/>
            <a:ext cx="3108960" cy="146304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Home — landing page</a:t>
            </a:r>
          </a:p>
          <a:p>
            <a:pPr marL="274320" indent="-182880">
              <a:spcAft>
                <a:spcPts val="600"/>
              </a:spcAft>
              <a:buChar char="•"/>
            </a:pPr>
            <a:r>
              <a:rPr sz="1200" b="0">
                <a:solidFill>
                  <a:srgbClr val="4A5668"/>
                </a:solidFill>
                <a:latin typeface="Calibri"/>
                <a:ea typeface="Calibri"/>
                <a:cs typeface="Calibri"/>
              </a:rPr>
              <a:t>Menu — browse by category</a:t>
            </a:r>
          </a:p>
          <a:p>
            <a:pPr marL="274320" indent="-182880">
              <a:spcAft>
                <a:spcPts val="600"/>
              </a:spcAft>
              <a:buChar char="•"/>
            </a:pPr>
            <a:r>
              <a:rPr sz="1200" b="0">
                <a:solidFill>
                  <a:srgbClr val="4A5668"/>
                </a:solidFill>
                <a:latin typeface="Calibri"/>
                <a:ea typeface="Calibri"/>
                <a:cs typeface="Calibri"/>
              </a:rPr>
              <a:t>Cart — review &amp; edit quantities</a:t>
            </a:r>
          </a:p>
          <a:p>
            <a:pPr marL="274320" indent="-182880">
              <a:spcAft>
                <a:spcPts val="600"/>
              </a:spcAft>
              <a:buChar char="•"/>
            </a:pPr>
            <a:r>
              <a:rPr sz="1200" b="0">
                <a:solidFill>
                  <a:srgbClr val="4A5668"/>
                </a:solidFill>
                <a:latin typeface="Calibri"/>
                <a:ea typeface="Calibri"/>
                <a:cs typeface="Calibri"/>
              </a:rPr>
              <a:t>Checkout — pay &amp; get receipt</a:t>
            </a:r>
          </a:p>
        </p:txBody>
      </p:sp>
      <p:sp>
        <p:nvSpPr>
          <p:cNvPr id="15" name="Rounded Rectangle 14">
            <a:extLst>
              <a:ext uri="{FF2B5EF4-FFF2-40B4-BE49-F238E27FC236}">
                <a16:creationId xmlns:a16="http://schemas.microsoft.com/office/drawing/2014/main" id="{53CC1C72-CD1B-4BDC-BCE7-B6528F29FC87}"/>
              </a:ext>
            </a:extLst>
          </p:cNvPr>
          <p:cNvSpPr>
            <a:spLocks noGrp="1"/>
          </p:cNvSpPr>
          <p:nvPr/>
        </p:nvSpPr>
        <p:spPr>
          <a:xfrm>
            <a:off x="7863840" y="2011680"/>
            <a:ext cx="3383280" cy="192024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1C8F8379-4096-451F-9929-54CAE1C9E9E7}"/>
              </a:ext>
            </a:extLst>
          </p:cNvPr>
          <p:cNvSpPr>
            <a:spLocks noGrp="1"/>
          </p:cNvSpPr>
          <p:nvPr/>
        </p:nvSpPr>
        <p:spPr>
          <a:xfrm>
            <a:off x="7863840" y="2103120"/>
            <a:ext cx="54864" cy="17373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7B5CBAC-37A6-465D-B3C9-6A3D34148AED}"/>
              </a:ext>
            </a:extLst>
          </p:cNvPr>
          <p:cNvSpPr>
            <a:spLocks noGrp="1"/>
          </p:cNvSpPr>
          <p:nvPr/>
        </p:nvSpPr>
        <p:spPr>
          <a:xfrm>
            <a:off x="8046720" y="2103120"/>
            <a:ext cx="3108960" cy="320040"/>
          </a:xfrm>
          <a:prstGeom prst="rect">
            <a:avLst/>
          </a:prstGeom>
          <a:noFill/>
        </p:spPr>
        <p:txBody>
          <a:bodyPr wrap="square">
            <a:spAutoFit/>
          </a:bodyPr>
          <a:lstStyle/>
          <a:p>
            <a:pPr algn="l">
              <a:buNone/>
            </a:pPr>
            <a:r>
              <a:rPr sz="1400" b="1">
                <a:solidFill>
                  <a:srgbClr val="1A365D"/>
                </a:solidFill>
                <a:latin typeface="Calibri"/>
                <a:ea typeface="Calibri"/>
                <a:cs typeface="Calibri"/>
              </a:rPr>
              <a:t>Staff Pages</a:t>
            </a:r>
          </a:p>
        </p:txBody>
      </p:sp>
      <p:sp>
        <p:nvSpPr>
          <p:cNvPr id="18" name="TextBox 17">
            <a:extLst>
              <a:ext uri="{FF2B5EF4-FFF2-40B4-BE49-F238E27FC236}">
                <a16:creationId xmlns:a16="http://schemas.microsoft.com/office/drawing/2014/main" id="{30B8F008-6BAD-4522-A131-F2026210500A}"/>
              </a:ext>
            </a:extLst>
          </p:cNvPr>
          <p:cNvSpPr>
            <a:spLocks noGrp="1"/>
          </p:cNvSpPr>
          <p:nvPr/>
        </p:nvSpPr>
        <p:spPr>
          <a:xfrm>
            <a:off x="8046720" y="2423160"/>
            <a:ext cx="3108960" cy="146304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Staff Login — secure auth</a:t>
            </a:r>
          </a:p>
          <a:p>
            <a:pPr marL="274320" indent="-182880">
              <a:spcAft>
                <a:spcPts val="600"/>
              </a:spcAft>
              <a:buChar char="•"/>
            </a:pPr>
            <a:r>
              <a:rPr sz="1200" b="0">
                <a:solidFill>
                  <a:srgbClr val="4A5668"/>
                </a:solidFill>
                <a:latin typeface="Calibri"/>
                <a:ea typeface="Calibri"/>
                <a:cs typeface="Calibri"/>
              </a:rPr>
              <a:t>Inventory Management</a:t>
            </a:r>
          </a:p>
          <a:p>
            <a:pPr marL="274320" indent="-182880">
              <a:spcAft>
                <a:spcPts val="600"/>
              </a:spcAft>
              <a:buChar char="•"/>
            </a:pPr>
            <a:r>
              <a:rPr sz="1200" b="0">
                <a:solidFill>
                  <a:srgbClr val="4A5668"/>
                </a:solidFill>
                <a:latin typeface="Calibri"/>
                <a:ea typeface="Calibri"/>
                <a:cs typeface="Calibri"/>
              </a:rPr>
              <a:t>Restock items in bulk</a:t>
            </a:r>
          </a:p>
          <a:p>
            <a:pPr marL="274320" indent="-182880">
              <a:spcAft>
                <a:spcPts val="600"/>
              </a:spcAft>
              <a:buChar char="•"/>
            </a:pPr>
            <a:r>
              <a:rPr sz="1200" b="0">
                <a:solidFill>
                  <a:srgbClr val="4A5668"/>
                </a:solidFill>
                <a:latin typeface="Calibri"/>
                <a:ea typeface="Calibri"/>
                <a:cs typeface="Calibri"/>
              </a:rPr>
              <a:t>Session summary on quit</a:t>
            </a:r>
          </a:p>
        </p:txBody>
      </p:sp>
      <p:sp>
        <p:nvSpPr>
          <p:cNvPr id="19" name="Rounded Rectangle 18">
            <a:extLst>
              <a:ext uri="{FF2B5EF4-FFF2-40B4-BE49-F238E27FC236}">
                <a16:creationId xmlns:a16="http://schemas.microsoft.com/office/drawing/2014/main" id="{E4B62149-E49D-4D78-B8CB-4975F03619EE}"/>
              </a:ext>
            </a:extLst>
          </p:cNvPr>
          <p:cNvSpPr>
            <a:spLocks noGrp="1"/>
          </p:cNvSpPr>
          <p:nvPr/>
        </p:nvSpPr>
        <p:spPr>
          <a:xfrm>
            <a:off x="548640" y="420624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4BA1131-EA75-4977-8D88-1110C4D6E637}"/>
              </a:ext>
            </a:extLst>
          </p:cNvPr>
          <p:cNvSpPr>
            <a:spLocks noGrp="1"/>
          </p:cNvSpPr>
          <p:nvPr/>
        </p:nvSpPr>
        <p:spPr>
          <a:xfrm>
            <a:off x="822960" y="4297680"/>
            <a:ext cx="10424160" cy="274320"/>
          </a:xfrm>
          <a:prstGeom prst="rect">
            <a:avLst/>
          </a:prstGeom>
          <a:noFill/>
        </p:spPr>
        <p:txBody>
          <a:bodyPr wrap="square">
            <a:spAutoFit/>
          </a:bodyPr>
          <a:lstStyle/>
          <a:p>
            <a:pPr algn="l">
              <a:buNone/>
            </a:pPr>
            <a:r>
              <a:rPr sz="1400" b="1">
                <a:solidFill>
                  <a:srgbClr val="1A365D"/>
                </a:solidFill>
                <a:latin typeface="Calibri"/>
                <a:ea typeface="Calibri"/>
                <a:cs typeface="Calibri"/>
              </a:rPr>
              <a:t>Same Backend, Two Interfaces</a:t>
            </a:r>
          </a:p>
        </p:txBody>
      </p:sp>
      <p:sp>
        <p:nvSpPr>
          <p:cNvPr id="21" name="TextBox 20">
            <a:extLst>
              <a:ext uri="{FF2B5EF4-FFF2-40B4-BE49-F238E27FC236}">
                <a16:creationId xmlns:a16="http://schemas.microsoft.com/office/drawing/2014/main" id="{C2B0011F-1BB1-48A5-9D2E-4EFEDF234120}"/>
              </a:ext>
            </a:extLst>
          </p:cNvPr>
          <p:cNvSpPr>
            <a:spLocks noGrp="1"/>
          </p:cNvSpPr>
          <p:nvPr/>
        </p:nvSpPr>
        <p:spPr>
          <a:xfrm>
            <a:off x="822960" y="4617720"/>
            <a:ext cx="10424160" cy="457200"/>
          </a:xfrm>
          <a:prstGeom prst="rect">
            <a:avLst/>
          </a:prstGeom>
          <a:noFill/>
        </p:spPr>
        <p:txBody>
          <a:bodyPr wrap="square">
            <a:spAutoFit/>
          </a:bodyPr>
          <a:lstStyle/>
          <a:p>
            <a:pPr algn="l">
              <a:buNone/>
            </a:pPr>
            <a:r>
              <a:rPr sz="1300" b="0">
                <a:solidFill>
                  <a:srgbClr val="4A5668"/>
                </a:solidFill>
                <a:latin typeface="Calibri"/>
                <a:ea typeface="Calibri"/>
                <a:cs typeface="Calibri"/>
              </a:rPr>
              <a:t>Both the terminal CLI and the React frontend call the same Python classes. The web app adds a visual layer on top without duplicating any business logic. This demonstrates clean separation of concerns — the backend handles data and rules, while the frontend handles presentation.</a:t>
            </a:r>
          </a:p>
        </p:txBody>
      </p:sp>
    </p:spTree>
    <p:extLst>
      <p:ext uri="{BB962C8B-B14F-4D97-AF65-F5344CB8AC3E}">
        <p14:creationId xmlns:p14="http://schemas.microsoft.com/office/powerpoint/2010/main" val="18334330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9BF07C-C6D2-4EED-84A8-A98D8CCA1721}"/>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EBC7D471-930D-4BA2-BA87-A803571886A8}"/>
              </a:ext>
            </a:extLst>
          </p:cNvPr>
          <p:cNvSpPr>
            <a:spLocks noGrp="1"/>
          </p:cNvSpPr>
          <p:nvPr/>
        </p:nvSpPr>
        <p:spPr>
          <a:xfrm>
            <a:off x="548640" y="182880"/>
            <a:ext cx="9144000" cy="457200"/>
          </a:xfrm>
          <a:prstGeom prst="rect">
            <a:avLst/>
          </a:prstGeom>
          <a:noFill/>
        </p:spPr>
        <p:txBody>
          <a:bodyPr wrap="square">
            <a:spAutoFit/>
          </a:bodyPr>
          <a:lstStyle/>
          <a:p>
            <a:pPr algn="l">
              <a:buNone/>
            </a:pPr>
            <a:r>
              <a:rPr sz="2800" b="1">
                <a:solidFill>
                  <a:srgbClr val="FFFFFF"/>
                </a:solidFill>
                <a:latin typeface="Calibri"/>
                <a:ea typeface="Calibri"/>
                <a:cs typeface="Calibri"/>
              </a:rPr>
              <a:t>Frontend — Key Features</a:t>
            </a:r>
          </a:p>
        </p:txBody>
      </p:sp>
      <p:sp>
        <p:nvSpPr>
          <p:cNvPr id="4" name="TextBox 3">
            <a:extLst>
              <a:ext uri="{FF2B5EF4-FFF2-40B4-BE49-F238E27FC236}">
                <a16:creationId xmlns:a16="http://schemas.microsoft.com/office/drawing/2014/main" id="{E39DD309-D478-45E4-9F68-E2F327C08291}"/>
              </a:ext>
            </a:extLst>
          </p:cNvPr>
          <p:cNvSpPr>
            <a:spLocks noGrp="1"/>
          </p:cNvSpPr>
          <p:nvPr/>
        </p:nvSpPr>
        <p:spPr>
          <a:xfrm>
            <a:off x="548640" y="640080"/>
            <a:ext cx="9144000" cy="365760"/>
          </a:xfrm>
          <a:prstGeom prst="rect">
            <a:avLst/>
          </a:prstGeom>
          <a:noFill/>
        </p:spPr>
        <p:txBody>
          <a:bodyPr wrap="square">
            <a:spAutoFit/>
          </a:bodyPr>
          <a:lstStyle/>
          <a:p>
            <a:pPr algn="l">
              <a:buNone/>
            </a:pPr>
            <a:r>
              <a:rPr sz="1400" b="0">
                <a:solidFill>
                  <a:srgbClr val="BBCCEE"/>
                </a:solidFill>
                <a:latin typeface="Calibri"/>
                <a:ea typeface="Calibri"/>
                <a:cs typeface="Calibri"/>
              </a:rPr>
              <a:t>Interactive UI with real-time stock validation</a:t>
            </a:r>
          </a:p>
        </p:txBody>
      </p:sp>
      <p:sp>
        <p:nvSpPr>
          <p:cNvPr id="5" name="TextBox 4">
            <a:extLst>
              <a:ext uri="{FF2B5EF4-FFF2-40B4-BE49-F238E27FC236}">
                <a16:creationId xmlns:a16="http://schemas.microsoft.com/office/drawing/2014/main" id="{4E76ED7D-1134-4F5B-9B32-41C46CC35E98}"/>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ounded Rectangle 5">
            <a:extLst>
              <a:ext uri="{FF2B5EF4-FFF2-40B4-BE49-F238E27FC236}">
                <a16:creationId xmlns:a16="http://schemas.microsoft.com/office/drawing/2014/main" id="{4EF6763B-A51B-4271-B313-6A43E0519B07}"/>
              </a:ext>
            </a:extLst>
          </p:cNvPr>
          <p:cNvSpPr>
            <a:spLocks noGrp="1"/>
          </p:cNvSpPr>
          <p:nvPr/>
        </p:nvSpPr>
        <p:spPr>
          <a:xfrm>
            <a:off x="548640" y="1371600"/>
            <a:ext cx="5303520" cy="20116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7C0D639F-ECCA-4AA8-909F-BAE4A59ED11F}"/>
              </a:ext>
            </a:extLst>
          </p:cNvPr>
          <p:cNvSpPr>
            <a:spLocks noGrp="1"/>
          </p:cNvSpPr>
          <p:nvPr/>
        </p:nvSpPr>
        <p:spPr>
          <a:xfrm>
            <a:off x="548640" y="1463040"/>
            <a:ext cx="54864" cy="18288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B9F8F284-C0A5-4785-8E10-DD69C75FEDF6}"/>
              </a:ext>
            </a:extLst>
          </p:cNvPr>
          <p:cNvSpPr>
            <a:spLocks noGrp="1"/>
          </p:cNvSpPr>
          <p:nvPr/>
        </p:nvSpPr>
        <p:spPr>
          <a:xfrm>
            <a:off x="73152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Menu Page</a:t>
            </a:r>
          </a:p>
        </p:txBody>
      </p:sp>
      <p:sp>
        <p:nvSpPr>
          <p:cNvPr id="9" name="TextBox 8">
            <a:extLst>
              <a:ext uri="{FF2B5EF4-FFF2-40B4-BE49-F238E27FC236}">
                <a16:creationId xmlns:a16="http://schemas.microsoft.com/office/drawing/2014/main" id="{C2A3DCBA-D4FD-435D-868A-DA8EC503A4FC}"/>
              </a:ext>
            </a:extLst>
          </p:cNvPr>
          <p:cNvSpPr>
            <a:spLocks noGrp="1"/>
          </p:cNvSpPr>
          <p:nvPr/>
        </p:nvSpPr>
        <p:spPr>
          <a:xfrm>
            <a:off x="731520" y="1783080"/>
            <a:ext cx="5029200" cy="15544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4 category tabs (Salads, Drinks, Desserts, Sandwiches)</a:t>
            </a:r>
          </a:p>
          <a:p>
            <a:pPr marL="274320" indent="-182880">
              <a:spcAft>
                <a:spcPts val="600"/>
              </a:spcAft>
              <a:buChar char="•"/>
            </a:pPr>
            <a:r>
              <a:rPr sz="1200" b="0">
                <a:solidFill>
                  <a:srgbClr val="4A5668"/>
                </a:solidFill>
                <a:latin typeface="Calibri"/>
                <a:ea typeface="Calibri"/>
                <a:cs typeface="Calibri"/>
              </a:rPr>
              <a:t>Daily special banner with discount badge</a:t>
            </a:r>
          </a:p>
          <a:p>
            <a:pPr marL="274320" indent="-182880">
              <a:spcAft>
                <a:spcPts val="600"/>
              </a:spcAft>
              <a:buChar char="•"/>
            </a:pPr>
            <a:r>
              <a:rPr sz="1200" b="0">
                <a:solidFill>
                  <a:srgbClr val="4A5668"/>
                </a:solidFill>
                <a:latin typeface="Calibri"/>
                <a:ea typeface="Calibri"/>
                <a:cs typeface="Calibri"/>
              </a:rPr>
              <a:t>Inline quantity controls (+/-) with stock validation</a:t>
            </a:r>
          </a:p>
          <a:p>
            <a:pPr marL="274320" indent="-182880">
              <a:spcAft>
                <a:spcPts val="600"/>
              </a:spcAft>
              <a:buChar char="•"/>
            </a:pPr>
            <a:r>
              <a:rPr sz="1200" b="0">
                <a:solidFill>
                  <a:srgbClr val="4A5668"/>
                </a:solidFill>
                <a:latin typeface="Calibri"/>
                <a:ea typeface="Calibri"/>
                <a:cs typeface="Calibri"/>
              </a:rPr>
              <a:t>Toast notifications when stock is insufficient</a:t>
            </a:r>
          </a:p>
        </p:txBody>
      </p:sp>
      <p:sp>
        <p:nvSpPr>
          <p:cNvPr id="10" name="Rounded Rectangle 9">
            <a:extLst>
              <a:ext uri="{FF2B5EF4-FFF2-40B4-BE49-F238E27FC236}">
                <a16:creationId xmlns:a16="http://schemas.microsoft.com/office/drawing/2014/main" id="{E6C267C9-A5C5-45F1-BEB7-C88E78E0C601}"/>
              </a:ext>
            </a:extLst>
          </p:cNvPr>
          <p:cNvSpPr>
            <a:spLocks noGrp="1"/>
          </p:cNvSpPr>
          <p:nvPr/>
        </p:nvSpPr>
        <p:spPr>
          <a:xfrm>
            <a:off x="6217920" y="1371600"/>
            <a:ext cx="5303520" cy="20116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38A14839-AFE9-4517-AC7C-DD87018EF2BC}"/>
              </a:ext>
            </a:extLst>
          </p:cNvPr>
          <p:cNvSpPr>
            <a:spLocks noGrp="1"/>
          </p:cNvSpPr>
          <p:nvPr/>
        </p:nvSpPr>
        <p:spPr>
          <a:xfrm>
            <a:off x="6217920" y="1463040"/>
            <a:ext cx="54864" cy="18288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C6F503-B36E-4FBF-83B0-3F7E679A860C}"/>
              </a:ext>
            </a:extLst>
          </p:cNvPr>
          <p:cNvSpPr>
            <a:spLocks noGrp="1"/>
          </p:cNvSpPr>
          <p:nvPr/>
        </p:nvSpPr>
        <p:spPr>
          <a:xfrm>
            <a:off x="640080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Cart Page</a:t>
            </a:r>
          </a:p>
        </p:txBody>
      </p:sp>
      <p:sp>
        <p:nvSpPr>
          <p:cNvPr id="13" name="TextBox 12">
            <a:extLst>
              <a:ext uri="{FF2B5EF4-FFF2-40B4-BE49-F238E27FC236}">
                <a16:creationId xmlns:a16="http://schemas.microsoft.com/office/drawing/2014/main" id="{A64D2DD1-178B-4081-B1EB-27BA8FA2F16D}"/>
              </a:ext>
            </a:extLst>
          </p:cNvPr>
          <p:cNvSpPr>
            <a:spLocks noGrp="1"/>
          </p:cNvSpPr>
          <p:nvPr/>
        </p:nvSpPr>
        <p:spPr>
          <a:xfrm>
            <a:off x="6400800" y="1783080"/>
            <a:ext cx="5029200" cy="15544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Editable quantities (type or +/- buttons)</a:t>
            </a:r>
          </a:p>
          <a:p>
            <a:pPr marL="274320" indent="-182880">
              <a:spcAft>
                <a:spcPts val="600"/>
              </a:spcAft>
              <a:buChar char="•"/>
            </a:pPr>
            <a:r>
              <a:rPr sz="1200" b="0">
                <a:solidFill>
                  <a:srgbClr val="4A5668"/>
                </a:solidFill>
                <a:latin typeface="Calibri"/>
                <a:ea typeface="Calibri"/>
                <a:cs typeface="Calibri"/>
              </a:rPr>
              <a:t>Real-time price summary with tax &amp; discount</a:t>
            </a:r>
          </a:p>
          <a:p>
            <a:pPr marL="274320" indent="-182880">
              <a:spcAft>
                <a:spcPts val="600"/>
              </a:spcAft>
              <a:buChar char="•"/>
            </a:pPr>
            <a:r>
              <a:rPr sz="1200" b="0">
                <a:solidFill>
                  <a:srgbClr val="4A5668"/>
                </a:solidFill>
                <a:latin typeface="Calibri"/>
                <a:ea typeface="Calibri"/>
                <a:cs typeface="Calibri"/>
              </a:rPr>
              <a:t>Stock validation on quantity increase</a:t>
            </a:r>
          </a:p>
          <a:p>
            <a:pPr marL="274320" indent="-182880">
              <a:spcAft>
                <a:spcPts val="600"/>
              </a:spcAft>
              <a:buChar char="•"/>
            </a:pPr>
            <a:r>
              <a:rPr sz="1200" b="0">
                <a:solidFill>
                  <a:srgbClr val="4A5668"/>
                </a:solidFill>
                <a:latin typeface="Calibri"/>
                <a:ea typeface="Calibri"/>
                <a:cs typeface="Calibri"/>
              </a:rPr>
              <a:t>Clear cart functionality</a:t>
            </a:r>
          </a:p>
        </p:txBody>
      </p:sp>
      <p:sp>
        <p:nvSpPr>
          <p:cNvPr id="14" name="Rounded Rectangle 13">
            <a:extLst>
              <a:ext uri="{FF2B5EF4-FFF2-40B4-BE49-F238E27FC236}">
                <a16:creationId xmlns:a16="http://schemas.microsoft.com/office/drawing/2014/main" id="{656FF009-50B3-4D67-89E2-0D3B1DF2175F}"/>
              </a:ext>
            </a:extLst>
          </p:cNvPr>
          <p:cNvSpPr>
            <a:spLocks noGrp="1"/>
          </p:cNvSpPr>
          <p:nvPr/>
        </p:nvSpPr>
        <p:spPr>
          <a:xfrm>
            <a:off x="548640" y="3657600"/>
            <a:ext cx="5303520" cy="20116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2D5D731D-1BC1-422B-9700-8B0300B18FC7}"/>
              </a:ext>
            </a:extLst>
          </p:cNvPr>
          <p:cNvSpPr>
            <a:spLocks noGrp="1"/>
          </p:cNvSpPr>
          <p:nvPr/>
        </p:nvSpPr>
        <p:spPr>
          <a:xfrm>
            <a:off x="548640" y="3749040"/>
            <a:ext cx="54864" cy="18288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27A57C58-BC97-4E4C-B8CC-2F4452179458}"/>
              </a:ext>
            </a:extLst>
          </p:cNvPr>
          <p:cNvSpPr>
            <a:spLocks noGrp="1"/>
          </p:cNvSpPr>
          <p:nvPr/>
        </p:nvSpPr>
        <p:spPr>
          <a:xfrm>
            <a:off x="731520" y="3749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Checkout &amp; Receipt</a:t>
            </a:r>
          </a:p>
        </p:txBody>
      </p:sp>
      <p:sp>
        <p:nvSpPr>
          <p:cNvPr id="17" name="TextBox 16">
            <a:extLst>
              <a:ext uri="{FF2B5EF4-FFF2-40B4-BE49-F238E27FC236}">
                <a16:creationId xmlns:a16="http://schemas.microsoft.com/office/drawing/2014/main" id="{488830DD-70F8-4973-B592-BFE6BEE6E1AC}"/>
              </a:ext>
            </a:extLst>
          </p:cNvPr>
          <p:cNvSpPr>
            <a:spLocks noGrp="1"/>
          </p:cNvSpPr>
          <p:nvPr/>
        </p:nvSpPr>
        <p:spPr>
          <a:xfrm>
            <a:off x="731520" y="4069080"/>
            <a:ext cx="5029200" cy="15544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Phone number entry for loyalty points</a:t>
            </a:r>
          </a:p>
          <a:p>
            <a:pPr marL="274320" indent="-182880">
              <a:spcAft>
                <a:spcPts val="600"/>
              </a:spcAft>
              <a:buChar char="•"/>
            </a:pPr>
            <a:r>
              <a:rPr sz="1200" b="0">
                <a:solidFill>
                  <a:srgbClr val="4A5668"/>
                </a:solidFill>
                <a:latin typeface="Calibri"/>
                <a:ea typeface="Calibri"/>
                <a:cs typeface="Calibri"/>
              </a:rPr>
              <a:t>Full receipt with itemized breakdown</a:t>
            </a:r>
          </a:p>
          <a:p>
            <a:pPr marL="274320" indent="-182880">
              <a:spcAft>
                <a:spcPts val="600"/>
              </a:spcAft>
              <a:buChar char="•"/>
            </a:pPr>
            <a:r>
              <a:rPr sz="1200" b="0">
                <a:solidFill>
                  <a:srgbClr val="4A5668"/>
                </a:solidFill>
                <a:latin typeface="Calibri"/>
                <a:ea typeface="Calibri"/>
                <a:cs typeface="Calibri"/>
              </a:rPr>
              <a:t>Auto-redirect to home after 8 seconds</a:t>
            </a:r>
          </a:p>
          <a:p>
            <a:pPr marL="274320" indent="-182880">
              <a:spcAft>
                <a:spcPts val="600"/>
              </a:spcAft>
              <a:buChar char="•"/>
            </a:pPr>
            <a:r>
              <a:rPr sz="1200" b="0">
                <a:solidFill>
                  <a:srgbClr val="4A5668"/>
                </a:solidFill>
                <a:latin typeface="Calibri"/>
                <a:ea typeface="Calibri"/>
                <a:cs typeface="Calibri"/>
              </a:rPr>
              <a:t>Automatic customer registration</a:t>
            </a:r>
          </a:p>
        </p:txBody>
      </p:sp>
      <p:sp>
        <p:nvSpPr>
          <p:cNvPr id="18" name="Rounded Rectangle 17">
            <a:extLst>
              <a:ext uri="{FF2B5EF4-FFF2-40B4-BE49-F238E27FC236}">
                <a16:creationId xmlns:a16="http://schemas.microsoft.com/office/drawing/2014/main" id="{7A996CE0-5A32-454F-A2DF-830D067CFA43}"/>
              </a:ext>
            </a:extLst>
          </p:cNvPr>
          <p:cNvSpPr>
            <a:spLocks noGrp="1"/>
          </p:cNvSpPr>
          <p:nvPr/>
        </p:nvSpPr>
        <p:spPr>
          <a:xfrm>
            <a:off x="6217920" y="3657600"/>
            <a:ext cx="5303520" cy="20116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13D38F7B-04CD-41F6-AD87-1F913CD94DE7}"/>
              </a:ext>
            </a:extLst>
          </p:cNvPr>
          <p:cNvSpPr>
            <a:spLocks noGrp="1"/>
          </p:cNvSpPr>
          <p:nvPr/>
        </p:nvSpPr>
        <p:spPr>
          <a:xfrm>
            <a:off x="6217920" y="3749040"/>
            <a:ext cx="54864" cy="18288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12A516D-AB06-4E44-9458-E2F5CF31C69F}"/>
              </a:ext>
            </a:extLst>
          </p:cNvPr>
          <p:cNvSpPr>
            <a:spLocks noGrp="1"/>
          </p:cNvSpPr>
          <p:nvPr/>
        </p:nvSpPr>
        <p:spPr>
          <a:xfrm>
            <a:off x="6400800" y="3749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Staff Dashboard</a:t>
            </a:r>
          </a:p>
        </p:txBody>
      </p:sp>
      <p:sp>
        <p:nvSpPr>
          <p:cNvPr id="21" name="TextBox 20">
            <a:extLst>
              <a:ext uri="{FF2B5EF4-FFF2-40B4-BE49-F238E27FC236}">
                <a16:creationId xmlns:a16="http://schemas.microsoft.com/office/drawing/2014/main" id="{C49FEA44-FC6B-4EEE-A7D4-67F37BAFB972}"/>
              </a:ext>
            </a:extLst>
          </p:cNvPr>
          <p:cNvSpPr>
            <a:spLocks noGrp="1"/>
          </p:cNvSpPr>
          <p:nvPr/>
        </p:nvSpPr>
        <p:spPr>
          <a:xfrm>
            <a:off x="6400800" y="4069080"/>
            <a:ext cx="5029200" cy="15544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Inventory table with low-stock highlighting (red)</a:t>
            </a:r>
          </a:p>
          <a:p>
            <a:pPr marL="274320" indent="-182880">
              <a:spcAft>
                <a:spcPts val="600"/>
              </a:spcAft>
              <a:buChar char="•"/>
            </a:pPr>
            <a:r>
              <a:rPr sz="1200" b="0">
                <a:solidFill>
                  <a:srgbClr val="4A5668"/>
                </a:solidFill>
                <a:latin typeface="Calibri"/>
                <a:ea typeface="Calibri"/>
                <a:cs typeface="Calibri"/>
              </a:rPr>
              <a:t>Restock form with dropdown item selection</a:t>
            </a:r>
          </a:p>
          <a:p>
            <a:pPr marL="274320" indent="-182880">
              <a:spcAft>
                <a:spcPts val="600"/>
              </a:spcAft>
              <a:buChar char="•"/>
            </a:pPr>
            <a:r>
              <a:rPr sz="1200" b="0">
                <a:solidFill>
                  <a:srgbClr val="4A5668"/>
                </a:solidFill>
                <a:latin typeface="Calibri"/>
                <a:ea typeface="Calibri"/>
                <a:cs typeface="Calibri"/>
              </a:rPr>
              <a:t>Navbar "Quit" button triggers session summary</a:t>
            </a:r>
          </a:p>
          <a:p>
            <a:pPr marL="274320" indent="-182880">
              <a:spcAft>
                <a:spcPts val="600"/>
              </a:spcAft>
              <a:buChar char="•"/>
            </a:pPr>
            <a:r>
              <a:rPr sz="1200" b="0">
                <a:solidFill>
                  <a:srgbClr val="4A5668"/>
                </a:solidFill>
                <a:latin typeface="Calibri"/>
                <a:ea typeface="Calibri"/>
                <a:cs typeface="Calibri"/>
              </a:rPr>
              <a:t>Modal shows all orders with item details + revenue</a:t>
            </a:r>
          </a:p>
        </p:txBody>
      </p:sp>
    </p:spTree>
    <p:extLst>
      <p:ext uri="{BB962C8B-B14F-4D97-AF65-F5344CB8AC3E}">
        <p14:creationId xmlns:p14="http://schemas.microsoft.com/office/powerpoint/2010/main" val="8736383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FD50D4-6215-4D05-B2F5-7FAECC92797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60333A9-4C9B-482A-BB24-9543D5FC661F}"/>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Edge Cases &amp; Error Handling</a:t>
            </a:r>
          </a:p>
        </p:txBody>
      </p:sp>
      <p:sp>
        <p:nvSpPr>
          <p:cNvPr id="4" name="TextBox 3">
            <a:extLst>
              <a:ext uri="{FF2B5EF4-FFF2-40B4-BE49-F238E27FC236}">
                <a16:creationId xmlns:a16="http://schemas.microsoft.com/office/drawing/2014/main" id="{C58BAA1E-8A5D-47AF-884A-74CECB2280AA}"/>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5" name="Rounded Rectangle 4">
            <a:extLst>
              <a:ext uri="{FF2B5EF4-FFF2-40B4-BE49-F238E27FC236}">
                <a16:creationId xmlns:a16="http://schemas.microsoft.com/office/drawing/2014/main" id="{F8E59D4B-2A8A-4772-90F3-E5B820B9D47A}"/>
              </a:ext>
            </a:extLst>
          </p:cNvPr>
          <p:cNvSpPr>
            <a:spLocks noGrp="1"/>
          </p:cNvSpPr>
          <p:nvPr/>
        </p:nvSpPr>
        <p:spPr>
          <a:xfrm>
            <a:off x="54864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292BC5B1-FBA3-4941-B692-D695ACE9DAB8}"/>
              </a:ext>
            </a:extLst>
          </p:cNvPr>
          <p:cNvSpPr>
            <a:spLocks noGrp="1"/>
          </p:cNvSpPr>
          <p:nvPr/>
        </p:nvSpPr>
        <p:spPr>
          <a:xfrm>
            <a:off x="54864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5A1483D-1109-4284-8E93-BE24C4E0B91D}"/>
              </a:ext>
            </a:extLst>
          </p:cNvPr>
          <p:cNvSpPr>
            <a:spLocks noGrp="1"/>
          </p:cNvSpPr>
          <p:nvPr/>
        </p:nvSpPr>
        <p:spPr>
          <a:xfrm>
            <a:off x="73152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Empty Cart Checkout</a:t>
            </a:r>
          </a:p>
        </p:txBody>
      </p:sp>
      <p:sp>
        <p:nvSpPr>
          <p:cNvPr id="8" name="TextBox 7">
            <a:extLst>
              <a:ext uri="{FF2B5EF4-FFF2-40B4-BE49-F238E27FC236}">
                <a16:creationId xmlns:a16="http://schemas.microsoft.com/office/drawing/2014/main" id="{263D54C9-A53E-4210-BF09-F682CBBBDF5E}"/>
              </a:ext>
            </a:extLst>
          </p:cNvPr>
          <p:cNvSpPr>
            <a:spLocks noGrp="1"/>
          </p:cNvSpPr>
          <p:nvPr/>
        </p:nvSpPr>
        <p:spPr>
          <a:xfrm>
            <a:off x="731520" y="17830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checkout() first checks whether order.items is empty. If so, it prints a friendly message and returns to the main menu instead of producing a $0 receipt or crashing.</a:t>
            </a:r>
          </a:p>
        </p:txBody>
      </p:sp>
      <p:sp>
        <p:nvSpPr>
          <p:cNvPr id="9" name="Rounded Rectangle 8">
            <a:extLst>
              <a:ext uri="{FF2B5EF4-FFF2-40B4-BE49-F238E27FC236}">
                <a16:creationId xmlns:a16="http://schemas.microsoft.com/office/drawing/2014/main" id="{EB5EE14A-2A93-41F2-8E3D-D72BE75ED947}"/>
              </a:ext>
            </a:extLst>
          </p:cNvPr>
          <p:cNvSpPr>
            <a:spLocks noGrp="1"/>
          </p:cNvSpPr>
          <p:nvPr/>
        </p:nvSpPr>
        <p:spPr>
          <a:xfrm>
            <a:off x="621792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17AD7560-F8F0-403C-92FD-1DDB598ECB3B}"/>
              </a:ext>
            </a:extLst>
          </p:cNvPr>
          <p:cNvSpPr>
            <a:spLocks noGrp="1"/>
          </p:cNvSpPr>
          <p:nvPr/>
        </p:nvSpPr>
        <p:spPr>
          <a:xfrm>
            <a:off x="621792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B42F5C-1DBA-4C16-8368-93C4829F08B5}"/>
              </a:ext>
            </a:extLst>
          </p:cNvPr>
          <p:cNvSpPr>
            <a:spLocks noGrp="1"/>
          </p:cNvSpPr>
          <p:nvPr/>
        </p:nvSpPr>
        <p:spPr>
          <a:xfrm>
            <a:off x="640080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Item Not Found</a:t>
            </a:r>
          </a:p>
        </p:txBody>
      </p:sp>
      <p:sp>
        <p:nvSpPr>
          <p:cNvPr id="12" name="TextBox 11">
            <a:extLst>
              <a:ext uri="{FF2B5EF4-FFF2-40B4-BE49-F238E27FC236}">
                <a16:creationId xmlns:a16="http://schemas.microsoft.com/office/drawing/2014/main" id="{D3EFCEA9-EDE0-42C1-9FE1-AB1855FC4B4B}"/>
              </a:ext>
            </a:extLst>
          </p:cNvPr>
          <p:cNvSpPr>
            <a:spLocks noGrp="1"/>
          </p:cNvSpPr>
          <p:nvPr/>
        </p:nvSpPr>
        <p:spPr>
          <a:xfrm>
            <a:off x="6400800" y="17830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MENU.get_item() returns None for unknown names. order_item() catches that case, shows an error, and re-prompts the user without changing stock or cart state.</a:t>
            </a:r>
          </a:p>
        </p:txBody>
      </p:sp>
      <p:sp>
        <p:nvSpPr>
          <p:cNvPr id="14" name="Rectangle 13">
            <a:extLst>
              <a:ext uri="{FF2B5EF4-FFF2-40B4-BE49-F238E27FC236}">
                <a16:creationId xmlns:a16="http://schemas.microsoft.com/office/drawing/2014/main" id="{25049077-1266-482F-823F-62C49D3E7B25}"/>
              </a:ext>
            </a:extLst>
          </p:cNvPr>
          <p:cNvSpPr>
            <a:spLocks noGrp="1"/>
          </p:cNvSpPr>
          <p:nvPr/>
        </p:nvSpPr>
        <p:spPr>
          <a:xfrm>
            <a:off x="54864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65761B04-2E13-43E8-A6D4-1A41E9F6452F}"/>
              </a:ext>
            </a:extLst>
          </p:cNvPr>
          <p:cNvSpPr>
            <a:spLocks noGrp="1"/>
          </p:cNvSpPr>
          <p:nvPr/>
        </p:nvSpPr>
        <p:spPr>
          <a:xfrm>
            <a:off x="621792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ounded Rectangle 20">
            <a:extLst>
              <a:ext uri="{FF2B5EF4-FFF2-40B4-BE49-F238E27FC236}">
                <a16:creationId xmlns:a16="http://schemas.microsoft.com/office/drawing/2014/main" id="{8C626BE2-F4EF-4751-9A7B-50C53114FC2F}"/>
              </a:ext>
            </a:extLst>
          </p:cNvPr>
          <p:cNvSpPr>
            <a:spLocks noGrp="1"/>
          </p:cNvSpPr>
          <p:nvPr/>
        </p:nvSpPr>
        <p:spPr>
          <a:xfrm>
            <a:off x="548640" y="502920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259BBD1F-0479-4882-AFB8-8A7220FAE466}"/>
              </a:ext>
            </a:extLst>
          </p:cNvPr>
          <p:cNvSpPr>
            <a:spLocks noGrp="1"/>
          </p:cNvSpPr>
          <p:nvPr/>
        </p:nvSpPr>
        <p:spPr>
          <a:xfrm>
            <a:off x="822960" y="512064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Why This Matters</a:t>
            </a:r>
          </a:p>
        </p:txBody>
      </p:sp>
      <p:sp>
        <p:nvSpPr>
          <p:cNvPr id="23" name="TextBox 22">
            <a:extLst>
              <a:ext uri="{FF2B5EF4-FFF2-40B4-BE49-F238E27FC236}">
                <a16:creationId xmlns:a16="http://schemas.microsoft.com/office/drawing/2014/main" id="{9EA2C632-8233-44BA-899C-165050E3D4D2}"/>
              </a:ext>
            </a:extLst>
          </p:cNvPr>
          <p:cNvSpPr>
            <a:spLocks noGrp="1"/>
          </p:cNvSpPr>
          <p:nvPr/>
        </p:nvSpPr>
        <p:spPr>
          <a:xfrm>
            <a:off x="822960" y="5394960"/>
            <a:ext cx="10424160" cy="548640"/>
          </a:xfrm>
          <a:prstGeom prst="rect">
            <a:avLst/>
          </a:prstGeom>
          <a:noFill/>
        </p:spPr>
        <p:txBody>
          <a:bodyPr wrap="square">
            <a:spAutoFit/>
          </a:bodyPr>
          <a:lstStyle/>
          <a:p>
            <a:pPr algn="l">
              <a:buNone/>
            </a:pPr>
            <a:r>
              <a:rPr sz="1300" b="0">
                <a:solidFill>
                  <a:srgbClr val="4A5668"/>
                </a:solidFill>
                <a:latin typeface="Calibri"/>
                <a:ea typeface="Calibri"/>
                <a:cs typeface="Calibri"/>
              </a:rPr>
              <a:t>These fixes map directly to the CS5001 Student Guide requirements for Week 3. We tested them in the terminal app so the demo flow stays stable even when the user makes mistakes.</a:t>
            </a:r>
          </a:p>
        </p:txBody>
      </p:sp>
      <p:pic>
        <p:nvPicPr>
          <p:cNvPr id="24" name="Picture 23"/>
          <p:cNvPicPr>
            <a:picLocks noChangeAspect="1"/>
          </p:cNvPicPr>
          <p:nvPr/>
        </p:nvPicPr>
        <p:blipFill>
          <a:blip r:embed="rId3"/>
          <a:stretch>
            <a:fillRect/>
          </a:stretch>
        </p:blipFill>
        <p:spPr>
          <a:xfrm>
            <a:off x="731520" y="3307080"/>
            <a:ext cx="4876800" cy="1270000"/>
          </a:xfrm>
          <a:prstGeom prst="rect">
            <a:avLst/>
          </a:prstGeom>
        </p:spPr>
      </p:pic>
      <p:pic>
        <p:nvPicPr>
          <p:cNvPr id="25" name="Picture 24"/>
          <p:cNvPicPr>
            <a:picLocks noChangeAspect="1"/>
          </p:cNvPicPr>
          <p:nvPr/>
        </p:nvPicPr>
        <p:blipFill>
          <a:blip r:embed="rId4"/>
          <a:stretch>
            <a:fillRect/>
          </a:stretch>
        </p:blipFill>
        <p:spPr>
          <a:xfrm>
            <a:off x="6400800" y="3360421"/>
            <a:ext cx="5141040" cy="1143000"/>
          </a:xfrm>
          <a:prstGeom prst="rect">
            <a:avLst/>
          </a:prstGeom>
        </p:spPr>
      </p:pic>
    </p:spTree>
    <p:extLst>
      <p:ext uri="{BB962C8B-B14F-4D97-AF65-F5344CB8AC3E}">
        <p14:creationId xmlns:p14="http://schemas.microsoft.com/office/powerpoint/2010/main" val="19754248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30C912-52D9-305B-C085-7D4D57E5D9D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79747210-F342-FAF4-B84B-C4D8DA0A53F9}"/>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Edge Cases &amp; Error Handling</a:t>
            </a:r>
          </a:p>
        </p:txBody>
      </p:sp>
      <p:sp>
        <p:nvSpPr>
          <p:cNvPr id="4" name="TextBox 3">
            <a:extLst>
              <a:ext uri="{FF2B5EF4-FFF2-40B4-BE49-F238E27FC236}">
                <a16:creationId xmlns:a16="http://schemas.microsoft.com/office/drawing/2014/main" id="{04FE61B3-9D8D-75FB-7271-AE69EA21E541}"/>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ectangle 5">
            <a:extLst>
              <a:ext uri="{FF2B5EF4-FFF2-40B4-BE49-F238E27FC236}">
                <a16:creationId xmlns:a16="http://schemas.microsoft.com/office/drawing/2014/main" id="{A5072285-04AC-097E-7938-D87A99AAFA87}"/>
              </a:ext>
            </a:extLst>
          </p:cNvPr>
          <p:cNvSpPr>
            <a:spLocks noGrp="1"/>
          </p:cNvSpPr>
          <p:nvPr/>
        </p:nvSpPr>
        <p:spPr>
          <a:xfrm>
            <a:off x="54864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ounded Rectangle 12">
            <a:extLst>
              <a:ext uri="{FF2B5EF4-FFF2-40B4-BE49-F238E27FC236}">
                <a16:creationId xmlns:a16="http://schemas.microsoft.com/office/drawing/2014/main" id="{01874E0F-70B4-C522-1190-AC964E66B992}"/>
              </a:ext>
            </a:extLst>
          </p:cNvPr>
          <p:cNvSpPr>
            <a:spLocks noGrp="1"/>
          </p:cNvSpPr>
          <p:nvPr/>
        </p:nvSpPr>
        <p:spPr>
          <a:xfrm>
            <a:off x="670561"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DD43C6DE-685F-999A-5A2D-02EEBF902BC9}"/>
              </a:ext>
            </a:extLst>
          </p:cNvPr>
          <p:cNvSpPr>
            <a:spLocks noGrp="1"/>
          </p:cNvSpPr>
          <p:nvPr/>
        </p:nvSpPr>
        <p:spPr>
          <a:xfrm>
            <a:off x="54864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C7B26D-A055-DCF9-55D0-55C91CA0C45C}"/>
              </a:ext>
            </a:extLst>
          </p:cNvPr>
          <p:cNvSpPr>
            <a:spLocks noGrp="1"/>
          </p:cNvSpPr>
          <p:nvPr/>
        </p:nvSpPr>
        <p:spPr>
          <a:xfrm>
            <a:off x="822960" y="1529214"/>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Out of Stock</a:t>
            </a:r>
          </a:p>
        </p:txBody>
      </p:sp>
      <p:sp>
        <p:nvSpPr>
          <p:cNvPr id="16" name="TextBox 15">
            <a:extLst>
              <a:ext uri="{FF2B5EF4-FFF2-40B4-BE49-F238E27FC236}">
                <a16:creationId xmlns:a16="http://schemas.microsoft.com/office/drawing/2014/main" id="{43CC82E5-FDC9-0874-A295-D0113A352605}"/>
              </a:ext>
            </a:extLst>
          </p:cNvPr>
          <p:cNvSpPr>
            <a:spLocks noGrp="1"/>
          </p:cNvSpPr>
          <p:nvPr/>
        </p:nvSpPr>
        <p:spPr>
          <a:xfrm>
            <a:off x="670560" y="1818573"/>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Inventory.check_stock() blocks unavailable items. If stock is 0, the app prints a clear message, does not deduct anything, and lets the customer choose a different item.</a:t>
            </a:r>
          </a:p>
        </p:txBody>
      </p:sp>
      <p:sp>
        <p:nvSpPr>
          <p:cNvPr id="21" name="Rounded Rectangle 20">
            <a:extLst>
              <a:ext uri="{FF2B5EF4-FFF2-40B4-BE49-F238E27FC236}">
                <a16:creationId xmlns:a16="http://schemas.microsoft.com/office/drawing/2014/main" id="{E1E176E0-0A9E-D975-933B-D48DFEFA3570}"/>
              </a:ext>
            </a:extLst>
          </p:cNvPr>
          <p:cNvSpPr>
            <a:spLocks noGrp="1"/>
          </p:cNvSpPr>
          <p:nvPr/>
        </p:nvSpPr>
        <p:spPr>
          <a:xfrm>
            <a:off x="548640" y="502920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8BB347D2-14C3-956E-6EBA-1DBEF7603827}"/>
              </a:ext>
            </a:extLst>
          </p:cNvPr>
          <p:cNvSpPr>
            <a:spLocks noGrp="1"/>
          </p:cNvSpPr>
          <p:nvPr/>
        </p:nvSpPr>
        <p:spPr>
          <a:xfrm>
            <a:off x="822960" y="512064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Why This Matters</a:t>
            </a:r>
          </a:p>
        </p:txBody>
      </p:sp>
      <p:sp>
        <p:nvSpPr>
          <p:cNvPr id="23" name="TextBox 22">
            <a:extLst>
              <a:ext uri="{FF2B5EF4-FFF2-40B4-BE49-F238E27FC236}">
                <a16:creationId xmlns:a16="http://schemas.microsoft.com/office/drawing/2014/main" id="{4A7C5C06-3106-8112-59C9-54C528A465BA}"/>
              </a:ext>
            </a:extLst>
          </p:cNvPr>
          <p:cNvSpPr>
            <a:spLocks noGrp="1"/>
          </p:cNvSpPr>
          <p:nvPr/>
        </p:nvSpPr>
        <p:spPr>
          <a:xfrm>
            <a:off x="822960" y="5394960"/>
            <a:ext cx="10424160" cy="548640"/>
          </a:xfrm>
          <a:prstGeom prst="rect">
            <a:avLst/>
          </a:prstGeom>
          <a:noFill/>
        </p:spPr>
        <p:txBody>
          <a:bodyPr wrap="square">
            <a:spAutoFit/>
          </a:bodyPr>
          <a:lstStyle/>
          <a:p>
            <a:pPr algn="l">
              <a:buNone/>
            </a:pPr>
            <a:r>
              <a:rPr sz="1300" b="0">
                <a:solidFill>
                  <a:srgbClr val="4A5668"/>
                </a:solidFill>
                <a:latin typeface="Calibri"/>
                <a:ea typeface="Calibri"/>
                <a:cs typeface="Calibri"/>
              </a:rPr>
              <a:t>These fixes map directly to the CS5001 Student Guide requirements for Week 3. We tested them in the terminal app so the demo flow stays stable even when the user makes mistakes.</a:t>
            </a:r>
          </a:p>
        </p:txBody>
      </p:sp>
      <p:pic>
        <p:nvPicPr>
          <p:cNvPr id="24" name="Picture 24"/>
          <p:cNvPicPr>
            <a:picLocks noChangeAspect="1"/>
          </p:cNvPicPr>
          <p:nvPr/>
        </p:nvPicPr>
        <p:blipFill>
          <a:blip r:embed="rId3"/>
          <a:stretch>
            <a:fillRect/>
          </a:stretch>
        </p:blipFill>
        <p:spPr>
          <a:xfrm>
            <a:off x="670559" y="3373054"/>
            <a:ext cx="10663187" cy="1267378"/>
          </a:xfrm>
          <a:prstGeom prst="rect">
            <a:avLst/>
          </a:prstGeom>
        </p:spPr>
      </p:pic>
    </p:spTree>
    <p:extLst>
      <p:ext uri="{BB962C8B-B14F-4D97-AF65-F5344CB8AC3E}">
        <p14:creationId xmlns:p14="http://schemas.microsoft.com/office/powerpoint/2010/main" val="30783973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562B0C-86CD-709F-04ED-AFAA7FBE8119}"/>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493C33A6-7C97-C6BE-C1C8-8A874DFA223C}"/>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Edge Cases &amp; Error Handling</a:t>
            </a:r>
          </a:p>
        </p:txBody>
      </p:sp>
      <p:sp>
        <p:nvSpPr>
          <p:cNvPr id="4" name="TextBox 3">
            <a:extLst>
              <a:ext uri="{FF2B5EF4-FFF2-40B4-BE49-F238E27FC236}">
                <a16:creationId xmlns:a16="http://schemas.microsoft.com/office/drawing/2014/main" id="{491B18AC-75B1-9682-8C2E-57F8B293727A}"/>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ectangle 5">
            <a:extLst>
              <a:ext uri="{FF2B5EF4-FFF2-40B4-BE49-F238E27FC236}">
                <a16:creationId xmlns:a16="http://schemas.microsoft.com/office/drawing/2014/main" id="{48B351B0-C9DE-3EA4-ABBE-EDD20940141D}"/>
              </a:ext>
            </a:extLst>
          </p:cNvPr>
          <p:cNvSpPr>
            <a:spLocks noGrp="1"/>
          </p:cNvSpPr>
          <p:nvPr/>
        </p:nvSpPr>
        <p:spPr>
          <a:xfrm>
            <a:off x="548640" y="1463040"/>
            <a:ext cx="54864" cy="1173834"/>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ounded Rectangle 8">
            <a:extLst>
              <a:ext uri="{FF2B5EF4-FFF2-40B4-BE49-F238E27FC236}">
                <a16:creationId xmlns:a16="http://schemas.microsoft.com/office/drawing/2014/main" id="{F80E2C24-D51B-3F56-6620-DB0CF3784F5E}"/>
              </a:ext>
            </a:extLst>
          </p:cNvPr>
          <p:cNvSpPr>
            <a:spLocks noGrp="1"/>
          </p:cNvSpPr>
          <p:nvPr/>
        </p:nvSpPr>
        <p:spPr>
          <a:xfrm>
            <a:off x="731520" y="1380624"/>
            <a:ext cx="5303520" cy="125625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6707061B-C96B-4E2D-5FFF-114C7FED573E}"/>
              </a:ext>
            </a:extLst>
          </p:cNvPr>
          <p:cNvSpPr>
            <a:spLocks noGrp="1"/>
          </p:cNvSpPr>
          <p:nvPr/>
        </p:nvSpPr>
        <p:spPr>
          <a:xfrm>
            <a:off x="548640" y="3002634"/>
            <a:ext cx="45719" cy="3196487"/>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5BF9C01-4F31-28FF-2654-3D78200168A7}"/>
              </a:ext>
            </a:extLst>
          </p:cNvPr>
          <p:cNvSpPr>
            <a:spLocks noGrp="1"/>
          </p:cNvSpPr>
          <p:nvPr/>
        </p:nvSpPr>
        <p:spPr>
          <a:xfrm>
            <a:off x="944880" y="154260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Invalid Inputs</a:t>
            </a:r>
          </a:p>
        </p:txBody>
      </p:sp>
      <p:sp>
        <p:nvSpPr>
          <p:cNvPr id="20" name="TextBox 19">
            <a:extLst>
              <a:ext uri="{FF2B5EF4-FFF2-40B4-BE49-F238E27FC236}">
                <a16:creationId xmlns:a16="http://schemas.microsoft.com/office/drawing/2014/main" id="{CA519543-7404-0378-9D6E-A18A3EDF603C}"/>
              </a:ext>
            </a:extLst>
          </p:cNvPr>
          <p:cNvSpPr>
            <a:spLocks noGrp="1"/>
          </p:cNvSpPr>
          <p:nvPr/>
        </p:nvSpPr>
        <p:spPr>
          <a:xfrm>
            <a:off x="816864" y="1832713"/>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main_menu() rejects anything other than 1, 2, 3, 4, q, or staff. We also validate quantity, telephone, delete, and restock inputs so non-numeric or non-positive values never break the session.</a:t>
            </a:r>
          </a:p>
        </p:txBody>
      </p:sp>
      <p:pic>
        <p:nvPicPr>
          <p:cNvPr id="21" name="Picture 7"/>
          <p:cNvPicPr>
            <a:picLocks noChangeAspect="1"/>
          </p:cNvPicPr>
          <p:nvPr/>
        </p:nvPicPr>
        <p:blipFill>
          <a:blip r:embed="rId3"/>
          <a:stretch>
            <a:fillRect/>
          </a:stretch>
        </p:blipFill>
        <p:spPr>
          <a:xfrm>
            <a:off x="816864" y="3002633"/>
            <a:ext cx="4049142" cy="3196488"/>
          </a:xfrm>
          <a:prstGeom prst="rect">
            <a:avLst/>
          </a:prstGeom>
        </p:spPr>
      </p:pic>
      <p:pic>
        <p:nvPicPr>
          <p:cNvPr id="22" name="Picture 10"/>
          <p:cNvPicPr>
            <a:picLocks noChangeAspect="1"/>
          </p:cNvPicPr>
          <p:nvPr/>
        </p:nvPicPr>
        <p:blipFill>
          <a:blip r:embed="rId4"/>
          <a:stretch>
            <a:fillRect/>
          </a:stretch>
        </p:blipFill>
        <p:spPr>
          <a:xfrm>
            <a:off x="4966214" y="3002633"/>
            <a:ext cx="6408922" cy="1097279"/>
          </a:xfrm>
          <a:prstGeom prst="rect">
            <a:avLst/>
          </a:prstGeom>
        </p:spPr>
      </p:pic>
      <p:pic>
        <p:nvPicPr>
          <p:cNvPr id="23" name="Picture 11"/>
          <p:cNvPicPr>
            <a:picLocks noChangeAspect="1"/>
          </p:cNvPicPr>
          <p:nvPr/>
        </p:nvPicPr>
        <p:blipFill>
          <a:blip r:embed="rId5"/>
          <a:stretch>
            <a:fillRect/>
          </a:stretch>
        </p:blipFill>
        <p:spPr>
          <a:xfrm>
            <a:off x="4966214" y="4172552"/>
            <a:ext cx="6651677" cy="1064827"/>
          </a:xfrm>
          <a:prstGeom prst="rect">
            <a:avLst/>
          </a:prstGeom>
        </p:spPr>
      </p:pic>
      <p:pic>
        <p:nvPicPr>
          <p:cNvPr id="24" name="Picture 4"/>
          <p:cNvPicPr>
            <a:picLocks noChangeAspect="1"/>
          </p:cNvPicPr>
          <p:nvPr/>
        </p:nvPicPr>
        <p:blipFill>
          <a:blip r:embed="rId6"/>
          <a:stretch>
            <a:fillRect/>
          </a:stretch>
        </p:blipFill>
        <p:spPr>
          <a:xfrm>
            <a:off x="4966214" y="5310019"/>
            <a:ext cx="3631521" cy="889102"/>
          </a:xfrm>
          <a:prstGeom prst="rect">
            <a:avLst/>
          </a:prstGeom>
        </p:spPr>
      </p:pic>
    </p:spTree>
    <p:extLst>
      <p:ext uri="{BB962C8B-B14F-4D97-AF65-F5344CB8AC3E}">
        <p14:creationId xmlns:p14="http://schemas.microsoft.com/office/powerpoint/2010/main" val="38079629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2A666A-5AD6-C6CC-764E-1AE421B6DA0C}"/>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CD98597-2FA7-DC0F-5443-AB2D0585A61F}"/>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Session Summary</a:t>
            </a:r>
          </a:p>
        </p:txBody>
      </p:sp>
      <p:sp>
        <p:nvSpPr>
          <p:cNvPr id="4" name="TextBox 3">
            <a:extLst>
              <a:ext uri="{FF2B5EF4-FFF2-40B4-BE49-F238E27FC236}">
                <a16:creationId xmlns:a16="http://schemas.microsoft.com/office/drawing/2014/main" id="{974F3062-7AA8-8132-BB9E-93038253DBE2}"/>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6" name="Rectangle 5">
            <a:extLst>
              <a:ext uri="{FF2B5EF4-FFF2-40B4-BE49-F238E27FC236}">
                <a16:creationId xmlns:a16="http://schemas.microsoft.com/office/drawing/2014/main" id="{5CDCDB96-0C88-0B9F-AAAF-D7D7EF870EE3}"/>
              </a:ext>
            </a:extLst>
          </p:cNvPr>
          <p:cNvSpPr>
            <a:spLocks noGrp="1"/>
          </p:cNvSpPr>
          <p:nvPr/>
        </p:nvSpPr>
        <p:spPr>
          <a:xfrm>
            <a:off x="548640" y="1463040"/>
            <a:ext cx="54864" cy="1173834"/>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ounded Rectangle 8">
            <a:extLst>
              <a:ext uri="{FF2B5EF4-FFF2-40B4-BE49-F238E27FC236}">
                <a16:creationId xmlns:a16="http://schemas.microsoft.com/office/drawing/2014/main" id="{77E66113-35F8-8408-8C65-4CD761C8AB46}"/>
              </a:ext>
            </a:extLst>
          </p:cNvPr>
          <p:cNvSpPr>
            <a:spLocks noGrp="1"/>
          </p:cNvSpPr>
          <p:nvPr/>
        </p:nvSpPr>
        <p:spPr>
          <a:xfrm>
            <a:off x="731520" y="1380624"/>
            <a:ext cx="5303520" cy="125625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CDBB0A3D-3710-7F7A-7753-89ED8E5702F1}"/>
              </a:ext>
            </a:extLst>
          </p:cNvPr>
          <p:cNvSpPr>
            <a:spLocks noGrp="1"/>
          </p:cNvSpPr>
          <p:nvPr/>
        </p:nvSpPr>
        <p:spPr>
          <a:xfrm>
            <a:off x="548640" y="3002634"/>
            <a:ext cx="45719" cy="3196487"/>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4D51BA3C-E293-4A02-0579-3A65E7EB9902}"/>
              </a:ext>
            </a:extLst>
          </p:cNvPr>
          <p:cNvSpPr>
            <a:spLocks noGrp="1"/>
          </p:cNvSpPr>
          <p:nvPr/>
        </p:nvSpPr>
        <p:spPr>
          <a:xfrm>
            <a:off x="944880" y="154260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Session Summary</a:t>
            </a:r>
          </a:p>
        </p:txBody>
      </p:sp>
      <p:sp>
        <p:nvSpPr>
          <p:cNvPr id="20" name="TextBox 19">
            <a:extLst>
              <a:ext uri="{FF2B5EF4-FFF2-40B4-BE49-F238E27FC236}">
                <a16:creationId xmlns:a16="http://schemas.microsoft.com/office/drawing/2014/main" id="{2E9888CD-A58B-D5ED-D889-46C007EB1882}"/>
              </a:ext>
            </a:extLst>
          </p:cNvPr>
          <p:cNvSpPr>
            <a:spLocks noGrp="1"/>
          </p:cNvSpPr>
          <p:nvPr/>
        </p:nvSpPr>
        <p:spPr>
          <a:xfrm>
            <a:off x="816864" y="1832713"/>
            <a:ext cx="5029200" cy="646331"/>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Session summary displays after the Staff quits the Staff mode. It shows the number of orders completed and the total revenue generated for the session.</a:t>
            </a:r>
          </a:p>
        </p:txBody>
      </p:sp>
      <p:pic>
        <p:nvPicPr>
          <p:cNvPr id="21" name="Picture 6"/>
          <p:cNvPicPr>
            <a:picLocks noChangeAspect="1"/>
          </p:cNvPicPr>
          <p:nvPr/>
        </p:nvPicPr>
        <p:blipFill>
          <a:blip r:embed="rId3"/>
          <a:stretch>
            <a:fillRect/>
          </a:stretch>
        </p:blipFill>
        <p:spPr>
          <a:xfrm>
            <a:off x="731520" y="2992867"/>
            <a:ext cx="5527172" cy="3107601"/>
          </a:xfrm>
          <a:prstGeom prst="rect">
            <a:avLst/>
          </a:prstGeom>
        </p:spPr>
      </p:pic>
    </p:spTree>
    <p:extLst>
      <p:ext uri="{BB962C8B-B14F-4D97-AF65-F5344CB8AC3E}">
        <p14:creationId xmlns:p14="http://schemas.microsoft.com/office/powerpoint/2010/main" val="2196290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FD50D4-6215-4D05-B2F5-7FAECC92797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60333A9-4C9B-482A-BB24-9543D5FC661F}"/>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Bonus Features &amp; Code Improvements</a:t>
            </a:r>
          </a:p>
        </p:txBody>
      </p:sp>
      <p:sp>
        <p:nvSpPr>
          <p:cNvPr id="4" name="TextBox 3">
            <a:extLst>
              <a:ext uri="{FF2B5EF4-FFF2-40B4-BE49-F238E27FC236}">
                <a16:creationId xmlns:a16="http://schemas.microsoft.com/office/drawing/2014/main" id="{C58BAA1E-8A5D-47AF-884A-74CECB2280AA}"/>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5" name="Rounded Rectangle 4">
            <a:extLst>
              <a:ext uri="{FF2B5EF4-FFF2-40B4-BE49-F238E27FC236}">
                <a16:creationId xmlns:a16="http://schemas.microsoft.com/office/drawing/2014/main" id="{F8E59D4B-2A8A-4772-90F3-E5B820B9D47A}"/>
              </a:ext>
            </a:extLst>
          </p:cNvPr>
          <p:cNvSpPr>
            <a:spLocks noGrp="1"/>
          </p:cNvSpPr>
          <p:nvPr/>
        </p:nvSpPr>
        <p:spPr>
          <a:xfrm>
            <a:off x="54864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292BC5B1-FBA3-4941-B692-D695ACE9DAB8}"/>
              </a:ext>
            </a:extLst>
          </p:cNvPr>
          <p:cNvSpPr>
            <a:spLocks noGrp="1"/>
          </p:cNvSpPr>
          <p:nvPr/>
        </p:nvSpPr>
        <p:spPr>
          <a:xfrm>
            <a:off x="54864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5A1483D-1109-4284-8E93-BE24C4E0B91D}"/>
              </a:ext>
            </a:extLst>
          </p:cNvPr>
          <p:cNvSpPr>
            <a:spLocks noGrp="1"/>
          </p:cNvSpPr>
          <p:nvPr/>
        </p:nvSpPr>
        <p:spPr>
          <a:xfrm>
            <a:off x="73152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Bonus Features</a:t>
            </a:r>
          </a:p>
        </p:txBody>
      </p:sp>
      <p:sp>
        <p:nvSpPr>
          <p:cNvPr id="8" name="TextBox 7">
            <a:extLst>
              <a:ext uri="{FF2B5EF4-FFF2-40B4-BE49-F238E27FC236}">
                <a16:creationId xmlns:a16="http://schemas.microsoft.com/office/drawing/2014/main" id="{263D54C9-A53E-4210-BF09-F682CBBBDF5E}"/>
              </a:ext>
            </a:extLst>
          </p:cNvPr>
          <p:cNvSpPr>
            <a:spLocks noGrp="1"/>
          </p:cNvSpPr>
          <p:nvPr/>
        </p:nvSpPr>
        <p:spPr>
          <a:xfrm>
            <a:off x="731520" y="17830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Daily special with an automatic 20% discount, a loyalty-points system, staff restock mode, full session summaries, and a React frontend deployed to a public link all extend the base brief.</a:t>
            </a:r>
          </a:p>
        </p:txBody>
      </p:sp>
      <p:sp>
        <p:nvSpPr>
          <p:cNvPr id="9" name="Rounded Rectangle 8">
            <a:extLst>
              <a:ext uri="{FF2B5EF4-FFF2-40B4-BE49-F238E27FC236}">
                <a16:creationId xmlns:a16="http://schemas.microsoft.com/office/drawing/2014/main" id="{EB5EE14A-2A93-41F2-8E3D-D72BE75ED947}"/>
              </a:ext>
            </a:extLst>
          </p:cNvPr>
          <p:cNvSpPr>
            <a:spLocks noGrp="1"/>
          </p:cNvSpPr>
          <p:nvPr/>
        </p:nvSpPr>
        <p:spPr>
          <a:xfrm>
            <a:off x="621792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17AD7560-F8F0-403C-92FD-1DDB598ECB3B}"/>
              </a:ext>
            </a:extLst>
          </p:cNvPr>
          <p:cNvSpPr>
            <a:spLocks noGrp="1"/>
          </p:cNvSpPr>
          <p:nvPr/>
        </p:nvSpPr>
        <p:spPr>
          <a:xfrm>
            <a:off x="621792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B42F5C-1DBA-4C16-8368-93C4829F08B5}"/>
              </a:ext>
            </a:extLst>
          </p:cNvPr>
          <p:cNvSpPr>
            <a:spLocks noGrp="1"/>
          </p:cNvSpPr>
          <p:nvPr/>
        </p:nvSpPr>
        <p:spPr>
          <a:xfrm>
            <a:off x="640080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Persistence &amp; Full Stack</a:t>
            </a:r>
          </a:p>
        </p:txBody>
      </p:sp>
      <p:sp>
        <p:nvSpPr>
          <p:cNvPr id="12" name="TextBox 11">
            <a:extLst>
              <a:ext uri="{FF2B5EF4-FFF2-40B4-BE49-F238E27FC236}">
                <a16:creationId xmlns:a16="http://schemas.microsoft.com/office/drawing/2014/main" id="{D3EFCEA9-EDE0-42C1-9FE1-AB1855FC4B4B}"/>
              </a:ext>
            </a:extLst>
          </p:cNvPr>
          <p:cNvSpPr>
            <a:spLocks noGrp="1"/>
          </p:cNvSpPr>
          <p:nvPr/>
        </p:nvSpPr>
        <p:spPr>
          <a:xfrm>
            <a:off x="6400800" y="17830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Orders, customers, staff, menu items, and inventory are stored in Excel and reused by both the CLI and the FastAPI + React frontend, so we did not duplicate business logic between interfaces.</a:t>
            </a:r>
          </a:p>
        </p:txBody>
      </p:sp>
      <p:sp>
        <p:nvSpPr>
          <p:cNvPr id="13" name="Rounded Rectangle 12">
            <a:extLst>
              <a:ext uri="{FF2B5EF4-FFF2-40B4-BE49-F238E27FC236}">
                <a16:creationId xmlns:a16="http://schemas.microsoft.com/office/drawing/2014/main" id="{F2EDFD79-56AB-4F50-9A00-C463946FD00D}"/>
              </a:ext>
            </a:extLst>
          </p:cNvPr>
          <p:cNvSpPr>
            <a:spLocks noGrp="1"/>
          </p:cNvSpPr>
          <p:nvPr/>
        </p:nvSpPr>
        <p:spPr>
          <a:xfrm>
            <a:off x="548640" y="32004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25049077-1266-482F-823F-62C49D3E7B25}"/>
              </a:ext>
            </a:extLst>
          </p:cNvPr>
          <p:cNvSpPr>
            <a:spLocks noGrp="1"/>
          </p:cNvSpPr>
          <p:nvPr/>
        </p:nvSpPr>
        <p:spPr>
          <a:xfrm>
            <a:off x="54864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D7BF154-4B86-4671-B978-C8439C441956}"/>
              </a:ext>
            </a:extLst>
          </p:cNvPr>
          <p:cNvSpPr>
            <a:spLocks noGrp="1"/>
          </p:cNvSpPr>
          <p:nvPr/>
        </p:nvSpPr>
        <p:spPr>
          <a:xfrm>
            <a:off x="731520" y="32918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Code Improvements</a:t>
            </a:r>
          </a:p>
        </p:txBody>
      </p:sp>
      <p:sp>
        <p:nvSpPr>
          <p:cNvPr id="16" name="TextBox 15">
            <a:extLst>
              <a:ext uri="{FF2B5EF4-FFF2-40B4-BE49-F238E27FC236}">
                <a16:creationId xmlns:a16="http://schemas.microsoft.com/office/drawing/2014/main" id="{30B8D732-45D1-429A-B567-90AF9FC992A7}"/>
              </a:ext>
            </a:extLst>
          </p:cNvPr>
          <p:cNvSpPr>
            <a:spLocks noGrp="1"/>
          </p:cNvSpPr>
          <p:nvPr/>
        </p:nvSpPr>
        <p:spPr>
          <a:xfrm>
            <a:off x="731520" y="36118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We improved contract alignment, fixed test blocks, added clearer helper functions, and documented non-obvious logic such as daily-special pricing, inventory restoration, and deployment-safe data loading.</a:t>
            </a:r>
          </a:p>
        </p:txBody>
      </p:sp>
      <p:sp>
        <p:nvSpPr>
          <p:cNvPr id="17" name="Rounded Rectangle 16">
            <a:extLst>
              <a:ext uri="{FF2B5EF4-FFF2-40B4-BE49-F238E27FC236}">
                <a16:creationId xmlns:a16="http://schemas.microsoft.com/office/drawing/2014/main" id="{285EC263-D971-481A-8AAA-BD30791076B9}"/>
              </a:ext>
            </a:extLst>
          </p:cNvPr>
          <p:cNvSpPr>
            <a:spLocks noGrp="1"/>
          </p:cNvSpPr>
          <p:nvPr/>
        </p:nvSpPr>
        <p:spPr>
          <a:xfrm>
            <a:off x="6217920" y="32004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65761B04-2E13-43E8-A6D4-1A41E9F6452F}"/>
              </a:ext>
            </a:extLst>
          </p:cNvPr>
          <p:cNvSpPr>
            <a:spLocks noGrp="1"/>
          </p:cNvSpPr>
          <p:nvPr/>
        </p:nvSpPr>
        <p:spPr>
          <a:xfrm>
            <a:off x="621792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7E204C5-7C2B-4751-95C2-9B0C6588D52D}"/>
              </a:ext>
            </a:extLst>
          </p:cNvPr>
          <p:cNvSpPr>
            <a:spLocks noGrp="1"/>
          </p:cNvSpPr>
          <p:nvPr/>
        </p:nvSpPr>
        <p:spPr>
          <a:xfrm>
            <a:off x="6400800" y="32918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Public Demo Ready</a:t>
            </a:r>
          </a:p>
        </p:txBody>
      </p:sp>
      <p:sp>
        <p:nvSpPr>
          <p:cNvPr id="20" name="TextBox 19">
            <a:extLst>
              <a:ext uri="{FF2B5EF4-FFF2-40B4-BE49-F238E27FC236}">
                <a16:creationId xmlns:a16="http://schemas.microsoft.com/office/drawing/2014/main" id="{47FCFC0D-92D0-492B-AD82-BF6979FCA104}"/>
              </a:ext>
            </a:extLst>
          </p:cNvPr>
          <p:cNvSpPr>
            <a:spLocks noGrp="1"/>
          </p:cNvSpPr>
          <p:nvPr/>
        </p:nvSpPr>
        <p:spPr>
          <a:xfrm>
            <a:off x="6400800" y="36118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The frontend is now publicly hosted, and the presentation includes a QR code so judges can try the web interface directly during or after the talk.</a:t>
            </a:r>
          </a:p>
        </p:txBody>
      </p:sp>
      <p:sp>
        <p:nvSpPr>
          <p:cNvPr id="21" name="Rounded Rectangle 20">
            <a:extLst>
              <a:ext uri="{FF2B5EF4-FFF2-40B4-BE49-F238E27FC236}">
                <a16:creationId xmlns:a16="http://schemas.microsoft.com/office/drawing/2014/main" id="{8C626BE2-F4EF-4751-9A7B-50C53114FC2F}"/>
              </a:ext>
            </a:extLst>
          </p:cNvPr>
          <p:cNvSpPr>
            <a:spLocks noGrp="1"/>
          </p:cNvSpPr>
          <p:nvPr/>
        </p:nvSpPr>
        <p:spPr>
          <a:xfrm>
            <a:off x="548640" y="502920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259BBD1F-0479-4882-AFB8-8A7220FAE466}"/>
              </a:ext>
            </a:extLst>
          </p:cNvPr>
          <p:cNvSpPr>
            <a:spLocks noGrp="1"/>
          </p:cNvSpPr>
          <p:nvPr/>
        </p:nvSpPr>
        <p:spPr>
          <a:xfrm>
            <a:off x="822960" y="512064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Team Reflection</a:t>
            </a:r>
          </a:p>
        </p:txBody>
      </p:sp>
      <p:sp>
        <p:nvSpPr>
          <p:cNvPr id="23" name="TextBox 22">
            <a:extLst>
              <a:ext uri="{FF2B5EF4-FFF2-40B4-BE49-F238E27FC236}">
                <a16:creationId xmlns:a16="http://schemas.microsoft.com/office/drawing/2014/main" id="{9EA2C632-8233-44BA-899C-165050E3D4D2}"/>
              </a:ext>
            </a:extLst>
          </p:cNvPr>
          <p:cNvSpPr>
            <a:spLocks noGrp="1"/>
          </p:cNvSpPr>
          <p:nvPr/>
        </p:nvSpPr>
        <p:spPr>
          <a:xfrm>
            <a:off x="822960" y="5394960"/>
            <a:ext cx="10424160" cy="548640"/>
          </a:xfrm>
          <a:prstGeom prst="rect">
            <a:avLst/>
          </a:prstGeom>
          <a:noFill/>
        </p:spPr>
        <p:txBody>
          <a:bodyPr wrap="square">
            <a:spAutoFit/>
          </a:bodyPr>
          <a:lstStyle/>
          <a:p>
            <a:pPr algn="l">
              <a:buNone/>
            </a:pPr>
            <a:r>
              <a:rPr sz="1300" b="0">
                <a:solidFill>
                  <a:srgbClr val="4A5668"/>
                </a:solidFill>
                <a:latin typeface="Calibri"/>
                <a:ea typeface="Calibri"/>
                <a:cs typeface="Calibri"/>
              </a:rPr>
              <a:t>Our biggest growth came from integration work: comparing classmates' code, adapting it carefully instead of rewriting it, and then extending a terminal app into a deployable full-stack project.</a:t>
            </a:r>
          </a:p>
        </p:txBody>
      </p:sp>
    </p:spTree>
    <p:extLst>
      <p:ext uri="{BB962C8B-B14F-4D97-AF65-F5344CB8AC3E}">
        <p14:creationId xmlns:p14="http://schemas.microsoft.com/office/powerpoint/2010/main" val="1975424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FD50D4-6215-4D05-B2F5-7FAECC92797D}"/>
              </a:ext>
            </a:extLst>
          </p:cNvPr>
          <p:cNvSpPr>
            <a:spLocks noGrp="1"/>
          </p:cNvSpPr>
          <p:nvPr/>
        </p:nvSpPr>
        <p:spPr>
          <a:xfrm>
            <a:off x="0" y="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60333A9-4C9B-482A-BB24-9543D5FC661F}"/>
              </a:ext>
            </a:extLst>
          </p:cNvPr>
          <p:cNvSpPr>
            <a:spLocks noGrp="1"/>
          </p:cNvSpPr>
          <p:nvPr/>
        </p:nvSpPr>
        <p:spPr>
          <a:xfrm>
            <a:off x="548640" y="182880"/>
            <a:ext cx="9144000" cy="525631"/>
          </a:xfrm>
          <a:prstGeom prst="rect">
            <a:avLst/>
          </a:prstGeom>
          <a:noFill/>
        </p:spPr>
        <p:txBody>
          <a:bodyPr wrap="square">
            <a:spAutoFit/>
          </a:bodyPr>
          <a:lstStyle/>
          <a:p>
            <a:pPr algn="l">
              <a:buNone/>
            </a:pPr>
            <a:r>
              <a:rPr sz="2800" b="1">
                <a:solidFill>
                  <a:srgbClr val="FFFFFF"/>
                </a:solidFill>
                <a:latin typeface="Calibri"/>
                <a:ea typeface="Calibri"/>
                <a:cs typeface="Calibri"/>
              </a:rPr>
              <a:t>Frontend Staff Demo Access</a:t>
            </a:r>
          </a:p>
        </p:txBody>
      </p:sp>
      <p:sp>
        <p:nvSpPr>
          <p:cNvPr id="4" name="TextBox 3">
            <a:extLst>
              <a:ext uri="{FF2B5EF4-FFF2-40B4-BE49-F238E27FC236}">
                <a16:creationId xmlns:a16="http://schemas.microsoft.com/office/drawing/2014/main" id="{C58BAA1E-8A5D-47AF-884A-74CECB2280AA}"/>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5" name="Rounded Rectangle 4">
            <a:extLst>
              <a:ext uri="{FF2B5EF4-FFF2-40B4-BE49-F238E27FC236}">
                <a16:creationId xmlns:a16="http://schemas.microsoft.com/office/drawing/2014/main" id="{F8E59D4B-2A8A-4772-90F3-E5B820B9D47A}"/>
              </a:ext>
            </a:extLst>
          </p:cNvPr>
          <p:cNvSpPr>
            <a:spLocks noGrp="1"/>
          </p:cNvSpPr>
          <p:nvPr/>
        </p:nvSpPr>
        <p:spPr>
          <a:xfrm>
            <a:off x="54864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292BC5B1-FBA3-4941-B692-D695ACE9DAB8}"/>
              </a:ext>
            </a:extLst>
          </p:cNvPr>
          <p:cNvSpPr>
            <a:spLocks noGrp="1"/>
          </p:cNvSpPr>
          <p:nvPr/>
        </p:nvSpPr>
        <p:spPr>
          <a:xfrm>
            <a:off x="54864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5A1483D-1109-4284-8E93-BE24C4E0B91D}"/>
              </a:ext>
            </a:extLst>
          </p:cNvPr>
          <p:cNvSpPr>
            <a:spLocks noGrp="1"/>
          </p:cNvSpPr>
          <p:nvPr/>
        </p:nvSpPr>
        <p:spPr>
          <a:xfrm>
            <a:off x="73152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Access Steps</a:t>
            </a:r>
          </a:p>
        </p:txBody>
      </p:sp>
      <p:sp>
        <p:nvSpPr>
          <p:cNvPr id="8" name="TextBox 7">
            <a:extLst>
              <a:ext uri="{FF2B5EF4-FFF2-40B4-BE49-F238E27FC236}">
                <a16:creationId xmlns:a16="http://schemas.microsoft.com/office/drawing/2014/main" id="{263D54C9-A53E-4210-BF09-F682CBBBDF5E}"/>
              </a:ext>
            </a:extLst>
          </p:cNvPr>
          <p:cNvSpPr>
            <a:spLocks noGrp="1"/>
          </p:cNvSpPr>
          <p:nvPr/>
        </p:nvSpPr>
        <p:spPr>
          <a:xfrm>
            <a:off x="731520" y="17830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Open the live Campus Cafe link and click the Staff tab in the top navigation bar. The app takes you to /staff/login, where you can sign in and continue directly to the staff dashboard.</a:t>
            </a:r>
          </a:p>
        </p:txBody>
      </p:sp>
      <p:sp>
        <p:nvSpPr>
          <p:cNvPr id="9" name="Rounded Rectangle 8">
            <a:extLst>
              <a:ext uri="{FF2B5EF4-FFF2-40B4-BE49-F238E27FC236}">
                <a16:creationId xmlns:a16="http://schemas.microsoft.com/office/drawing/2014/main" id="{EB5EE14A-2A93-41F2-8E3D-D72BE75ED947}"/>
              </a:ext>
            </a:extLst>
          </p:cNvPr>
          <p:cNvSpPr>
            <a:spLocks noGrp="1"/>
          </p:cNvSpPr>
          <p:nvPr/>
        </p:nvSpPr>
        <p:spPr>
          <a:xfrm>
            <a:off x="6217920" y="13716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17AD7560-F8F0-403C-92FD-1DDB598ECB3B}"/>
              </a:ext>
            </a:extLst>
          </p:cNvPr>
          <p:cNvSpPr>
            <a:spLocks noGrp="1"/>
          </p:cNvSpPr>
          <p:nvPr/>
        </p:nvSpPr>
        <p:spPr>
          <a:xfrm>
            <a:off x="6217920" y="14630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B42F5C-1DBA-4C16-8368-93C4829F08B5}"/>
              </a:ext>
            </a:extLst>
          </p:cNvPr>
          <p:cNvSpPr>
            <a:spLocks noGrp="1"/>
          </p:cNvSpPr>
          <p:nvPr/>
        </p:nvSpPr>
        <p:spPr>
          <a:xfrm>
            <a:off x="6400800" y="14630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Staff Demo Credentials</a:t>
            </a:r>
          </a:p>
        </p:txBody>
      </p:sp>
      <p:sp>
        <p:nvSpPr>
          <p:cNvPr id="12" name="TextBox 11">
            <a:extLst>
              <a:ext uri="{FF2B5EF4-FFF2-40B4-BE49-F238E27FC236}">
                <a16:creationId xmlns:a16="http://schemas.microsoft.com/office/drawing/2014/main" id="{D3EFCEA9-EDE0-42C1-9FE1-AB1855FC4B4B}"/>
              </a:ext>
            </a:extLst>
          </p:cNvPr>
          <p:cNvSpPr>
            <a:spLocks noGrp="1"/>
          </p:cNvSpPr>
          <p:nvPr/>
        </p:nvSpPr>
        <p:spPr>
          <a:xfrm>
            <a:off x="6400800" y="17830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Primary: 000000001 / demo123</a:t>
            </a:r>
          </a:p>
          <a:p>
            <a:pPr marL="274320" indent="-182880">
              <a:spcAft>
                <a:spcPts val="600"/>
              </a:spcAft>
              <a:buChar char="•"/>
            </a:pPr>
            <a:r>
              <a:rPr sz="1200" b="0">
                <a:solidFill>
                  <a:srgbClr val="4A5668"/>
                </a:solidFill>
                <a:latin typeface="Calibri"/>
                <a:ea typeface="Calibri"/>
                <a:cs typeface="Calibri"/>
              </a:rPr>
              <a:t>Backup: 000000002 / demo456</a:t>
            </a:r>
          </a:p>
        </p:txBody>
      </p:sp>
      <p:sp>
        <p:nvSpPr>
          <p:cNvPr id="13" name="Rounded Rectangle 12">
            <a:extLst>
              <a:ext uri="{FF2B5EF4-FFF2-40B4-BE49-F238E27FC236}">
                <a16:creationId xmlns:a16="http://schemas.microsoft.com/office/drawing/2014/main" id="{F2EDFD79-56AB-4F50-9A00-C463946FD00D}"/>
              </a:ext>
            </a:extLst>
          </p:cNvPr>
          <p:cNvSpPr>
            <a:spLocks noGrp="1"/>
          </p:cNvSpPr>
          <p:nvPr/>
        </p:nvSpPr>
        <p:spPr>
          <a:xfrm>
            <a:off x="548640" y="32004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25049077-1266-482F-823F-62C49D3E7B25}"/>
              </a:ext>
            </a:extLst>
          </p:cNvPr>
          <p:cNvSpPr>
            <a:spLocks noGrp="1"/>
          </p:cNvSpPr>
          <p:nvPr/>
        </p:nvSpPr>
        <p:spPr>
          <a:xfrm>
            <a:off x="54864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D7BF154-4B86-4671-B978-C8439C441956}"/>
              </a:ext>
            </a:extLst>
          </p:cNvPr>
          <p:cNvSpPr>
            <a:spLocks noGrp="1"/>
          </p:cNvSpPr>
          <p:nvPr/>
        </p:nvSpPr>
        <p:spPr>
          <a:xfrm>
            <a:off x="731520" y="32918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What To Review</a:t>
            </a:r>
          </a:p>
        </p:txBody>
      </p:sp>
      <p:sp>
        <p:nvSpPr>
          <p:cNvPr id="16" name="TextBox 15">
            <a:extLst>
              <a:ext uri="{FF2B5EF4-FFF2-40B4-BE49-F238E27FC236}">
                <a16:creationId xmlns:a16="http://schemas.microsoft.com/office/drawing/2014/main" id="{30B8D732-45D1-429A-B567-90AF9FC992A7}"/>
              </a:ext>
            </a:extLst>
          </p:cNvPr>
          <p:cNvSpPr>
            <a:spLocks noGrp="1"/>
          </p:cNvSpPr>
          <p:nvPr/>
        </p:nvSpPr>
        <p:spPr>
          <a:xfrm>
            <a:off x="731520" y="36118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After login, judges can view the inventory table, see low-stock highlighting, restock items in bulk, and use the Quit button to display the staff session summary.</a:t>
            </a:r>
          </a:p>
        </p:txBody>
      </p:sp>
      <p:sp>
        <p:nvSpPr>
          <p:cNvPr id="17" name="Rounded Rectangle 16">
            <a:extLst>
              <a:ext uri="{FF2B5EF4-FFF2-40B4-BE49-F238E27FC236}">
                <a16:creationId xmlns:a16="http://schemas.microsoft.com/office/drawing/2014/main" id="{285EC263-D971-481A-8AAA-BD30791076B9}"/>
              </a:ext>
            </a:extLst>
          </p:cNvPr>
          <p:cNvSpPr>
            <a:spLocks noGrp="1"/>
          </p:cNvSpPr>
          <p:nvPr/>
        </p:nvSpPr>
        <p:spPr>
          <a:xfrm>
            <a:off x="6217920" y="3200400"/>
            <a:ext cx="5303520" cy="1554480"/>
          </a:xfrm>
          <a:prstGeom prst="roundRect">
            <a:avLst/>
          </a:prstGeom>
          <a:solidFill>
            <a:srgbClr val="EBF4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65761B04-2E13-43E8-A6D4-1A41E9F6452F}"/>
              </a:ext>
            </a:extLst>
          </p:cNvPr>
          <p:cNvSpPr>
            <a:spLocks noGrp="1"/>
          </p:cNvSpPr>
          <p:nvPr/>
        </p:nvSpPr>
        <p:spPr>
          <a:xfrm>
            <a:off x="6217920" y="3291840"/>
            <a:ext cx="54864" cy="13716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7E204C5-7C2B-4751-95C2-9B0C6588D52D}"/>
              </a:ext>
            </a:extLst>
          </p:cNvPr>
          <p:cNvSpPr>
            <a:spLocks noGrp="1"/>
          </p:cNvSpPr>
          <p:nvPr/>
        </p:nvSpPr>
        <p:spPr>
          <a:xfrm>
            <a:off x="6400800" y="3291840"/>
            <a:ext cx="5029200" cy="320040"/>
          </a:xfrm>
          <a:prstGeom prst="rect">
            <a:avLst/>
          </a:prstGeom>
          <a:noFill/>
        </p:spPr>
        <p:txBody>
          <a:bodyPr wrap="square">
            <a:spAutoFit/>
          </a:bodyPr>
          <a:lstStyle/>
          <a:p>
            <a:pPr algn="l">
              <a:buNone/>
            </a:pPr>
            <a:r>
              <a:rPr sz="1400" b="1">
                <a:solidFill>
                  <a:srgbClr val="1A365D"/>
                </a:solidFill>
                <a:latin typeface="Calibri"/>
                <a:ea typeface="Calibri"/>
                <a:cs typeface="Calibri"/>
              </a:rPr>
              <a:t>Synced Credentials</a:t>
            </a:r>
          </a:p>
        </p:txBody>
      </p:sp>
      <p:sp>
        <p:nvSpPr>
          <p:cNvPr id="20" name="TextBox 19">
            <a:extLst>
              <a:ext uri="{FF2B5EF4-FFF2-40B4-BE49-F238E27FC236}">
                <a16:creationId xmlns:a16="http://schemas.microsoft.com/office/drawing/2014/main" id="{47FCFC0D-92D0-492B-AD82-BF6979FCA104}"/>
              </a:ext>
            </a:extLst>
          </p:cNvPr>
          <p:cNvSpPr>
            <a:spLocks noGrp="1"/>
          </p:cNvSpPr>
          <p:nvPr/>
        </p:nvSpPr>
        <p:spPr>
          <a:xfrm>
            <a:off x="6400800" y="3611880"/>
            <a:ext cx="5029200" cy="1097280"/>
          </a:xfrm>
          <a:prstGeom prst="rect">
            <a:avLst/>
          </a:prstGeom>
          <a:noFill/>
        </p:spPr>
        <p:txBody>
          <a:bodyPr wrap="square">
            <a:spAutoFit/>
          </a:bodyPr>
          <a:lstStyle/>
          <a:p>
            <a:pPr marL="274320" indent="-182880">
              <a:spcAft>
                <a:spcPts val="600"/>
              </a:spcAft>
              <a:buChar char="•"/>
            </a:pPr>
            <a:r>
              <a:rPr sz="1200" b="0">
                <a:solidFill>
                  <a:srgbClr val="4A5668"/>
                </a:solidFill>
                <a:latin typeface="Calibri"/>
                <a:ea typeface="Calibri"/>
                <a:cs typeface="Calibri"/>
              </a:rPr>
              <a:t>These demo credentials are now the same in both our local project data and the public hosted frontend, so the same login works in both environments.</a:t>
            </a:r>
          </a:p>
        </p:txBody>
      </p:sp>
      <p:sp>
        <p:nvSpPr>
          <p:cNvPr id="21" name="Rounded Rectangle 20">
            <a:extLst>
              <a:ext uri="{FF2B5EF4-FFF2-40B4-BE49-F238E27FC236}">
                <a16:creationId xmlns:a16="http://schemas.microsoft.com/office/drawing/2014/main" id="{8C626BE2-F4EF-4751-9A7B-50C53114FC2F}"/>
              </a:ext>
            </a:extLst>
          </p:cNvPr>
          <p:cNvSpPr>
            <a:spLocks noGrp="1"/>
          </p:cNvSpPr>
          <p:nvPr/>
        </p:nvSpPr>
        <p:spPr>
          <a:xfrm>
            <a:off x="548640" y="5029200"/>
            <a:ext cx="10972800" cy="109728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259BBD1F-0479-4882-AFB8-8A7220FAE466}"/>
              </a:ext>
            </a:extLst>
          </p:cNvPr>
          <p:cNvSpPr>
            <a:spLocks noGrp="1"/>
          </p:cNvSpPr>
          <p:nvPr/>
        </p:nvSpPr>
        <p:spPr>
          <a:xfrm>
            <a:off x="822960" y="5120640"/>
            <a:ext cx="10424160" cy="308535"/>
          </a:xfrm>
          <a:prstGeom prst="rect">
            <a:avLst/>
          </a:prstGeom>
          <a:noFill/>
        </p:spPr>
        <p:txBody>
          <a:bodyPr wrap="square">
            <a:spAutoFit/>
          </a:bodyPr>
          <a:lstStyle/>
          <a:p>
            <a:pPr algn="l">
              <a:buNone/>
            </a:pPr>
            <a:r>
              <a:rPr sz="1400" b="1">
                <a:solidFill>
                  <a:srgbClr val="1A365D"/>
                </a:solidFill>
                <a:latin typeface="Calibri"/>
                <a:ea typeface="Calibri"/>
                <a:cs typeface="Calibri"/>
              </a:rPr>
              <a:t>Live App</a:t>
            </a:r>
          </a:p>
        </p:txBody>
      </p:sp>
      <p:sp>
        <p:nvSpPr>
          <p:cNvPr id="23" name="TextBox 22">
            <a:extLst>
              <a:ext uri="{FF2B5EF4-FFF2-40B4-BE49-F238E27FC236}">
                <a16:creationId xmlns:a16="http://schemas.microsoft.com/office/drawing/2014/main" id="{9EA2C632-8233-44BA-899C-165050E3D4D2}"/>
              </a:ext>
            </a:extLst>
          </p:cNvPr>
          <p:cNvSpPr>
            <a:spLocks noGrp="1"/>
          </p:cNvSpPr>
          <p:nvPr/>
        </p:nvSpPr>
        <p:spPr>
          <a:xfrm>
            <a:off x="822960" y="5394960"/>
            <a:ext cx="10424160" cy="292388"/>
          </a:xfrm>
          <a:prstGeom prst="rect">
            <a:avLst/>
          </a:prstGeom>
          <a:noFill/>
        </p:spPr>
        <p:txBody>
          <a:bodyPr wrap="square">
            <a:spAutoFit/>
          </a:bodyPr>
          <a:lstStyle/>
          <a:p>
            <a:pPr algn="l">
              <a:buNone/>
            </a:pPr>
            <a:r>
              <a:rPr sz="1300" b="0">
                <a:solidFill>
                  <a:srgbClr val="4A5668"/>
                </a:solidFill>
                <a:latin typeface="Calibri"/>
                <a:ea typeface="Calibri"/>
                <a:cs typeface="Calibri"/>
              </a:rPr>
              <a:t>Public URL: </a:t>
            </a:r>
            <a:r>
              <a:rPr sz="1300" b="0">
                <a:solidFill>
                  <a:srgbClr val="4A5668"/>
                </a:solidFill>
                <a:latin typeface="Calibri"/>
                <a:ea typeface="Calibri"/>
                <a:cs typeface="Calibri"/>
                <a:hlinkClick r:id="rId3"/>
              </a:rPr>
              <a:t>https://campus-cafe-cs5001-production.up.railway.app</a:t>
            </a:r>
          </a:p>
        </p:txBody>
      </p:sp>
    </p:spTree>
    <p:extLst>
      <p:ext uri="{BB962C8B-B14F-4D97-AF65-F5344CB8AC3E}">
        <p14:creationId xmlns:p14="http://schemas.microsoft.com/office/powerpoint/2010/main" val="19754248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8F576D-B910-3238-2857-6E18CF5A122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A6CDD75-AD82-E182-3F30-B296FA42558B}"/>
              </a:ext>
            </a:extLst>
          </p:cNvPr>
          <p:cNvSpPr>
            <a:spLocks noGrp="1"/>
          </p:cNvSpPr>
          <p:nvPr/>
        </p:nvSpPr>
        <p:spPr>
          <a:xfrm>
            <a:off x="0" y="-49530"/>
            <a:ext cx="12191695" cy="109728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dirty="0"/>
          </a:p>
        </p:txBody>
      </p:sp>
      <p:sp>
        <p:nvSpPr>
          <p:cNvPr id="3" name="TextBox 2">
            <a:extLst>
              <a:ext uri="{FF2B5EF4-FFF2-40B4-BE49-F238E27FC236}">
                <a16:creationId xmlns:a16="http://schemas.microsoft.com/office/drawing/2014/main" id="{2A348B99-372C-7499-38FC-CADB8DB71DDB}"/>
              </a:ext>
            </a:extLst>
          </p:cNvPr>
          <p:cNvSpPr>
            <a:spLocks noGrp="1"/>
          </p:cNvSpPr>
          <p:nvPr/>
        </p:nvSpPr>
        <p:spPr>
          <a:xfrm>
            <a:off x="548640" y="182880"/>
            <a:ext cx="9144000" cy="523220"/>
          </a:xfrm>
          <a:prstGeom prst="rect">
            <a:avLst/>
          </a:prstGeom>
          <a:noFill/>
        </p:spPr>
        <p:txBody>
          <a:bodyPr wrap="square">
            <a:spAutoFit/>
          </a:bodyPr>
          <a:lstStyle/>
          <a:p>
            <a:pPr>
              <a:defRPr sz="2325" b="1">
                <a:solidFill>
                  <a:srgbClr val="4A3423"/>
                </a:solidFill>
              </a:defRPr>
            </a:pPr>
            <a:r>
              <a:rPr lang="en-US" sz="2800" b="1" dirty="0">
                <a:solidFill>
                  <a:schemeClr val="bg1"/>
                </a:solidFill>
              </a:rPr>
              <a:t>Full Staff Account Management</a:t>
            </a:r>
          </a:p>
        </p:txBody>
      </p:sp>
      <p:sp>
        <p:nvSpPr>
          <p:cNvPr id="4" name="TextBox 3">
            <a:extLst>
              <a:ext uri="{FF2B5EF4-FFF2-40B4-BE49-F238E27FC236}">
                <a16:creationId xmlns:a16="http://schemas.microsoft.com/office/drawing/2014/main" id="{A7EC6F58-419F-0637-DB4C-D301EAB752C9}"/>
              </a:ext>
            </a:extLst>
          </p:cNvPr>
          <p:cNvSpPr>
            <a:spLocks noGrp="1"/>
          </p:cNvSpPr>
          <p:nvPr/>
        </p:nvSpPr>
        <p:spPr>
          <a:xfrm>
            <a:off x="548640" y="6492240"/>
            <a:ext cx="2743200" cy="274320"/>
          </a:xfrm>
          <a:prstGeom prst="rect">
            <a:avLst/>
          </a:prstGeom>
          <a:noFill/>
        </p:spPr>
        <p:txBody>
          <a:bodyPr wrap="square">
            <a:spAutoFit/>
          </a:bodyPr>
          <a:lstStyle/>
          <a:p>
            <a:pPr algn="l">
              <a:buNone/>
            </a:pPr>
            <a:r>
              <a:rPr sz="1000" b="0">
                <a:solidFill>
                  <a:srgbClr val="718096"/>
                </a:solidFill>
                <a:latin typeface="Calibri"/>
                <a:ea typeface="Calibri"/>
                <a:cs typeface="Calibri"/>
              </a:rPr>
              <a:t>Campus Cafe</a:t>
            </a:r>
          </a:p>
        </p:txBody>
      </p:sp>
      <p:sp>
        <p:nvSpPr>
          <p:cNvPr id="47" name="Rectangle 46">
            <a:extLst>
              <a:ext uri="{FF2B5EF4-FFF2-40B4-BE49-F238E27FC236}">
                <a16:creationId xmlns:a16="http://schemas.microsoft.com/office/drawing/2014/main" id="{6819FDEB-13DC-E6C4-6B17-C4CC7EC54658}"/>
              </a:ext>
            </a:extLst>
          </p:cNvPr>
          <p:cNvSpPr>
            <a:spLocks noGrp="1"/>
          </p:cNvSpPr>
          <p:nvPr/>
        </p:nvSpPr>
        <p:spPr>
          <a:xfrm>
            <a:off x="485775" y="1178814"/>
            <a:ext cx="85725" cy="5219700"/>
          </a:xfrm>
          <a:prstGeom prst="rect">
            <a:avLst/>
          </a:prstGeom>
          <a:solidFill>
            <a:schemeClr val="accent1"/>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EEBA8378-4D16-EFB0-DADC-6D7038142A9A}"/>
              </a:ext>
            </a:extLst>
          </p:cNvPr>
          <p:cNvSpPr>
            <a:spLocks noGrp="1"/>
          </p:cNvSpPr>
          <p:nvPr/>
        </p:nvSpPr>
        <p:spPr>
          <a:xfrm>
            <a:off x="800100" y="1413258"/>
            <a:ext cx="2952750" cy="248619"/>
          </a:xfrm>
          <a:prstGeom prst="rect">
            <a:avLst/>
          </a:prstGeom>
          <a:noFill/>
          <a:ln w="0">
            <a:solidFill>
              <a:srgbClr val="000000">
                <a:alpha val="0"/>
              </a:srgbClr>
            </a:solidFill>
            <a:prstDash val="solid"/>
          </a:ln>
        </p:spPr>
        <p:txBody>
          <a:bodyPr lIns="0" tIns="0" rIns="0" bIns="0" anchor="t"/>
          <a:lstStyle/>
          <a:p>
            <a:pPr algn="l">
              <a:defRPr sz="1050" b="1">
                <a:solidFill>
                  <a:srgbClr val="2F8F5B"/>
                </a:solidFill>
              </a:defRPr>
            </a:pPr>
            <a:r>
              <a:rPr sz="1400" b="1" dirty="0">
                <a:solidFill>
                  <a:srgbClr val="2F8F5B"/>
                </a:solidFill>
              </a:rPr>
              <a:t>BONUS FEATURE UPDATE</a:t>
            </a:r>
          </a:p>
        </p:txBody>
      </p:sp>
      <p:sp>
        <p:nvSpPr>
          <p:cNvPr id="49" name="Rectangle 48">
            <a:extLst>
              <a:ext uri="{FF2B5EF4-FFF2-40B4-BE49-F238E27FC236}">
                <a16:creationId xmlns:a16="http://schemas.microsoft.com/office/drawing/2014/main" id="{CC737ECF-DF1C-0DD9-B7A6-43912D819F8C}"/>
              </a:ext>
            </a:extLst>
          </p:cNvPr>
          <p:cNvSpPr>
            <a:spLocks noGrp="1"/>
          </p:cNvSpPr>
          <p:nvPr/>
        </p:nvSpPr>
        <p:spPr>
          <a:xfrm>
            <a:off x="800100" y="1276350"/>
            <a:ext cx="6724650" cy="495300"/>
          </a:xfrm>
          <a:prstGeom prst="rect">
            <a:avLst/>
          </a:prstGeom>
          <a:noFill/>
          <a:ln w="0">
            <a:solidFill>
              <a:srgbClr val="000000">
                <a:alpha val="0"/>
              </a:srgbClr>
            </a:solidFill>
            <a:prstDash val="solid"/>
          </a:ln>
        </p:spPr>
        <p:txBody>
          <a:bodyPr lIns="0" tIns="0" rIns="0" bIns="0" anchor="t"/>
          <a:lstStyle/>
          <a:p>
            <a:pPr algn="l">
              <a:defRPr sz="2325" b="1">
                <a:solidFill>
                  <a:srgbClr val="4A3423"/>
                </a:solidFill>
              </a:defRPr>
            </a:pPr>
            <a:endParaRPr sz="2325" b="1" dirty="0">
              <a:solidFill>
                <a:srgbClr val="4A3423"/>
              </a:solidFill>
            </a:endParaRPr>
          </a:p>
        </p:txBody>
      </p:sp>
      <p:sp>
        <p:nvSpPr>
          <p:cNvPr id="50" name="Rectangle 49">
            <a:extLst>
              <a:ext uri="{FF2B5EF4-FFF2-40B4-BE49-F238E27FC236}">
                <a16:creationId xmlns:a16="http://schemas.microsoft.com/office/drawing/2014/main" id="{4D6E37E6-0D77-B29F-F567-1E3619042644}"/>
              </a:ext>
            </a:extLst>
          </p:cNvPr>
          <p:cNvSpPr>
            <a:spLocks noGrp="1"/>
          </p:cNvSpPr>
          <p:nvPr/>
        </p:nvSpPr>
        <p:spPr>
          <a:xfrm>
            <a:off x="800100" y="1800516"/>
            <a:ext cx="8858250" cy="552450"/>
          </a:xfrm>
          <a:prstGeom prst="rect">
            <a:avLst/>
          </a:prstGeom>
          <a:noFill/>
          <a:ln w="0">
            <a:solidFill>
              <a:srgbClr val="000000">
                <a:alpha val="0"/>
              </a:srgbClr>
            </a:solidFill>
            <a:prstDash val="solid"/>
          </a:ln>
        </p:spPr>
        <p:txBody>
          <a:bodyPr lIns="0" tIns="0" rIns="0" bIns="0" anchor="t"/>
          <a:lstStyle/>
          <a:p>
            <a:pPr algn="l">
              <a:defRPr sz="1350" b="0">
                <a:solidFill>
                  <a:srgbClr val="6F6660"/>
                </a:solidFill>
              </a:defRPr>
            </a:pPr>
            <a:r>
              <a:rPr sz="1600" b="0" dirty="0">
                <a:solidFill>
                  <a:srgbClr val="6F6660"/>
                </a:solidFill>
              </a:rPr>
              <a:t>We expanded the staff system so managers can maintain staff login accounts from both the terminal CLI and the React frontend, not just restock inventory.</a:t>
            </a:r>
          </a:p>
        </p:txBody>
      </p:sp>
      <p:sp>
        <p:nvSpPr>
          <p:cNvPr id="51" name="Rounded Rectangle 50">
            <a:extLst>
              <a:ext uri="{FF2B5EF4-FFF2-40B4-BE49-F238E27FC236}">
                <a16:creationId xmlns:a16="http://schemas.microsoft.com/office/drawing/2014/main" id="{F98ECA46-2F5A-1C1A-01ED-3A7BB44CA4D6}"/>
              </a:ext>
            </a:extLst>
          </p:cNvPr>
          <p:cNvSpPr>
            <a:spLocks noGrp="1"/>
          </p:cNvSpPr>
          <p:nvPr/>
        </p:nvSpPr>
        <p:spPr>
          <a:xfrm>
            <a:off x="800100" y="2724150"/>
            <a:ext cx="3314700" cy="2266950"/>
          </a:xfrm>
          <a:prstGeom prst="roundRect">
            <a:avLst>
              <a:gd name="adj" fmla="val 3361"/>
            </a:avLst>
          </a:prstGeom>
          <a:noFill/>
          <a:ln w="11430">
            <a:solidFill>
              <a:srgbClr val="E8DED3"/>
            </a:solidFill>
            <a:prstDash val="solid"/>
          </a:ln>
        </p:spPr>
        <p:txBody>
          <a:bodyPr/>
          <a:lstStyle/>
          <a:p>
            <a:endParaRPr lang="en-US"/>
          </a:p>
        </p:txBody>
      </p:sp>
      <p:sp>
        <p:nvSpPr>
          <p:cNvPr id="52" name="Rounded Rectangle 51">
            <a:extLst>
              <a:ext uri="{FF2B5EF4-FFF2-40B4-BE49-F238E27FC236}">
                <a16:creationId xmlns:a16="http://schemas.microsoft.com/office/drawing/2014/main" id="{66171694-1108-15D7-8A53-7D0F517F164A}"/>
              </a:ext>
            </a:extLst>
          </p:cNvPr>
          <p:cNvSpPr>
            <a:spLocks noGrp="1"/>
          </p:cNvSpPr>
          <p:nvPr/>
        </p:nvSpPr>
        <p:spPr>
          <a:xfrm>
            <a:off x="971550" y="2895600"/>
            <a:ext cx="723900" cy="114300"/>
          </a:xfrm>
          <a:prstGeom prst="roundRect">
            <a:avLst>
              <a:gd name="adj" fmla="val 50000"/>
            </a:avLst>
          </a:prstGeom>
          <a:noFill/>
          <a:ln w="0">
            <a:solidFill>
              <a:srgbClr val="000000">
                <a:alpha val="0"/>
              </a:srgbClr>
            </a:solidFill>
            <a:prstDash val="solid"/>
          </a:ln>
        </p:spPr>
        <p:txBody>
          <a:bodyPr/>
          <a:lstStyle/>
          <a:p>
            <a:endParaRPr lang="en-US"/>
          </a:p>
        </p:txBody>
      </p:sp>
      <p:sp>
        <p:nvSpPr>
          <p:cNvPr id="53" name="Rectangle 52">
            <a:extLst>
              <a:ext uri="{FF2B5EF4-FFF2-40B4-BE49-F238E27FC236}">
                <a16:creationId xmlns:a16="http://schemas.microsoft.com/office/drawing/2014/main" id="{2C8E9D08-B13C-F0C3-DBFE-07739CFCBB5D}"/>
              </a:ext>
            </a:extLst>
          </p:cNvPr>
          <p:cNvSpPr>
            <a:spLocks noGrp="1"/>
          </p:cNvSpPr>
          <p:nvPr/>
        </p:nvSpPr>
        <p:spPr>
          <a:xfrm>
            <a:off x="971550" y="3124200"/>
            <a:ext cx="2971800" cy="323850"/>
          </a:xfrm>
          <a:prstGeom prst="rect">
            <a:avLst/>
          </a:prstGeom>
          <a:noFill/>
          <a:ln w="0">
            <a:solidFill>
              <a:srgbClr val="000000">
                <a:alpha val="0"/>
              </a:srgbClr>
            </a:solidFill>
            <a:prstDash val="solid"/>
          </a:ln>
        </p:spPr>
        <p:txBody>
          <a:bodyPr lIns="0" tIns="0" rIns="0" bIns="0" anchor="t"/>
          <a:lstStyle/>
          <a:p>
            <a:pPr algn="l">
              <a:defRPr sz="1800" b="1">
                <a:solidFill>
                  <a:srgbClr val="4A3423"/>
                </a:solidFill>
              </a:defRPr>
            </a:pPr>
            <a:r>
              <a:rPr sz="1800" b="1">
                <a:solidFill>
                  <a:srgbClr val="4A3423"/>
                </a:solidFill>
              </a:rPr>
              <a:t>Terminal CLI</a:t>
            </a:r>
          </a:p>
        </p:txBody>
      </p:sp>
      <p:sp>
        <p:nvSpPr>
          <p:cNvPr id="54" name="Rectangle 53">
            <a:extLst>
              <a:ext uri="{FF2B5EF4-FFF2-40B4-BE49-F238E27FC236}">
                <a16:creationId xmlns:a16="http://schemas.microsoft.com/office/drawing/2014/main" id="{19E3A884-4069-13A5-9997-BB3D2EFE56E2}"/>
              </a:ext>
            </a:extLst>
          </p:cNvPr>
          <p:cNvSpPr>
            <a:spLocks noGrp="1"/>
          </p:cNvSpPr>
          <p:nvPr/>
        </p:nvSpPr>
        <p:spPr>
          <a:xfrm>
            <a:off x="971550" y="3562350"/>
            <a:ext cx="2971800" cy="1238250"/>
          </a:xfrm>
          <a:prstGeom prst="rect">
            <a:avLst/>
          </a:prstGeom>
          <a:noFill/>
          <a:ln w="0">
            <a:solidFill>
              <a:srgbClr val="000000">
                <a:alpha val="0"/>
              </a:srgbClr>
            </a:solidFill>
            <a:prstDash val="solid"/>
          </a:ln>
        </p:spPr>
        <p:txBody>
          <a:bodyPr lIns="0" tIns="0" rIns="0" bIns="0" anchor="t"/>
          <a:lstStyle/>
          <a:p>
            <a:pPr algn="l">
              <a:defRPr sz="1275" b="0">
                <a:solidFill>
                  <a:srgbClr val="2F2A26"/>
                </a:solidFill>
              </a:defRPr>
            </a:pPr>
            <a:r>
              <a:rPr sz="1275" b="0" dirty="0">
                <a:solidFill>
                  <a:srgbClr val="2F2A26"/>
                </a:solidFill>
              </a:rPr>
              <a:t>The staff menu now supports viewing, adding, updating, and deleting staff accounts. We also added validation for name, telephone, and password inputs and prevent deleting the final remaining staff login.</a:t>
            </a:r>
          </a:p>
        </p:txBody>
      </p:sp>
      <p:sp>
        <p:nvSpPr>
          <p:cNvPr id="55" name="Rounded Rectangle 54">
            <a:extLst>
              <a:ext uri="{FF2B5EF4-FFF2-40B4-BE49-F238E27FC236}">
                <a16:creationId xmlns:a16="http://schemas.microsoft.com/office/drawing/2014/main" id="{CFB1E2FB-5C82-9E74-5FB9-F70A6E7083B8}"/>
              </a:ext>
            </a:extLst>
          </p:cNvPr>
          <p:cNvSpPr>
            <a:spLocks noGrp="1"/>
          </p:cNvSpPr>
          <p:nvPr/>
        </p:nvSpPr>
        <p:spPr>
          <a:xfrm>
            <a:off x="4448175" y="2705100"/>
            <a:ext cx="3314700" cy="2266950"/>
          </a:xfrm>
          <a:prstGeom prst="roundRect">
            <a:avLst>
              <a:gd name="adj" fmla="val 3361"/>
            </a:avLst>
          </a:prstGeom>
          <a:noFill/>
          <a:ln w="11430">
            <a:solidFill>
              <a:srgbClr val="E8DED3"/>
            </a:solidFill>
            <a:prstDash val="solid"/>
          </a:ln>
        </p:spPr>
        <p:txBody>
          <a:bodyPr/>
          <a:lstStyle/>
          <a:p>
            <a:endParaRPr lang="en-US"/>
          </a:p>
        </p:txBody>
      </p:sp>
      <p:sp>
        <p:nvSpPr>
          <p:cNvPr id="56" name="Rounded Rectangle 55">
            <a:extLst>
              <a:ext uri="{FF2B5EF4-FFF2-40B4-BE49-F238E27FC236}">
                <a16:creationId xmlns:a16="http://schemas.microsoft.com/office/drawing/2014/main" id="{0464208D-628D-9903-FD8C-FC66620D4F1A}"/>
              </a:ext>
            </a:extLst>
          </p:cNvPr>
          <p:cNvSpPr>
            <a:spLocks noGrp="1"/>
          </p:cNvSpPr>
          <p:nvPr/>
        </p:nvSpPr>
        <p:spPr>
          <a:xfrm>
            <a:off x="4610100" y="2895600"/>
            <a:ext cx="723900" cy="114300"/>
          </a:xfrm>
          <a:prstGeom prst="roundRect">
            <a:avLst>
              <a:gd name="adj" fmla="val 50000"/>
            </a:avLst>
          </a:prstGeom>
          <a:noFill/>
          <a:ln w="0">
            <a:solidFill>
              <a:srgbClr val="000000">
                <a:alpha val="0"/>
              </a:srgbClr>
            </a:solidFill>
            <a:prstDash val="solid"/>
          </a:ln>
        </p:spPr>
        <p:txBody>
          <a:bodyPr/>
          <a:lstStyle/>
          <a:p>
            <a:endParaRPr lang="en-US"/>
          </a:p>
        </p:txBody>
      </p:sp>
      <p:sp>
        <p:nvSpPr>
          <p:cNvPr id="57" name="Rectangle 56">
            <a:extLst>
              <a:ext uri="{FF2B5EF4-FFF2-40B4-BE49-F238E27FC236}">
                <a16:creationId xmlns:a16="http://schemas.microsoft.com/office/drawing/2014/main" id="{97F76ACD-FBC9-53F4-91EB-5320D2DC6BC3}"/>
              </a:ext>
            </a:extLst>
          </p:cNvPr>
          <p:cNvSpPr>
            <a:spLocks noGrp="1"/>
          </p:cNvSpPr>
          <p:nvPr/>
        </p:nvSpPr>
        <p:spPr>
          <a:xfrm>
            <a:off x="4610100" y="3124200"/>
            <a:ext cx="2971800" cy="323850"/>
          </a:xfrm>
          <a:prstGeom prst="rect">
            <a:avLst/>
          </a:prstGeom>
          <a:noFill/>
          <a:ln w="0">
            <a:solidFill>
              <a:srgbClr val="000000">
                <a:alpha val="0"/>
              </a:srgbClr>
            </a:solidFill>
            <a:prstDash val="solid"/>
          </a:ln>
        </p:spPr>
        <p:txBody>
          <a:bodyPr lIns="0" tIns="0" rIns="0" bIns="0" anchor="t"/>
          <a:lstStyle/>
          <a:p>
            <a:pPr algn="l">
              <a:defRPr sz="1800" b="1">
                <a:solidFill>
                  <a:srgbClr val="4A3423"/>
                </a:solidFill>
              </a:defRPr>
            </a:pPr>
            <a:r>
              <a:rPr sz="1800" b="1" dirty="0">
                <a:solidFill>
                  <a:srgbClr val="4A3423"/>
                </a:solidFill>
              </a:rPr>
              <a:t>Frontend Dashboard</a:t>
            </a:r>
          </a:p>
        </p:txBody>
      </p:sp>
      <p:sp>
        <p:nvSpPr>
          <p:cNvPr id="58" name="Rectangle 57">
            <a:extLst>
              <a:ext uri="{FF2B5EF4-FFF2-40B4-BE49-F238E27FC236}">
                <a16:creationId xmlns:a16="http://schemas.microsoft.com/office/drawing/2014/main" id="{2283E79B-164F-42DE-A59F-0E4F9E856B51}"/>
              </a:ext>
            </a:extLst>
          </p:cNvPr>
          <p:cNvSpPr>
            <a:spLocks noGrp="1"/>
          </p:cNvSpPr>
          <p:nvPr/>
        </p:nvSpPr>
        <p:spPr>
          <a:xfrm>
            <a:off x="4610100" y="3562350"/>
            <a:ext cx="2971800" cy="1238250"/>
          </a:xfrm>
          <a:prstGeom prst="rect">
            <a:avLst/>
          </a:prstGeom>
          <a:noFill/>
          <a:ln w="0">
            <a:solidFill>
              <a:srgbClr val="000000">
                <a:alpha val="0"/>
              </a:srgbClr>
            </a:solidFill>
            <a:prstDash val="solid"/>
          </a:ln>
        </p:spPr>
        <p:txBody>
          <a:bodyPr lIns="0" tIns="0" rIns="0" bIns="0" anchor="t"/>
          <a:lstStyle/>
          <a:p>
            <a:pPr algn="l">
              <a:defRPr sz="1275" b="0">
                <a:solidFill>
                  <a:srgbClr val="2F2A26"/>
                </a:solidFill>
              </a:defRPr>
            </a:pPr>
            <a:r>
              <a:rPr sz="1275" b="0" dirty="0">
                <a:solidFill>
                  <a:srgbClr val="2F2A26"/>
                </a:solidFill>
              </a:rPr>
              <a:t>After staff login, the web dashboard now combines inventory restocking with staff account management. Staff can create new accounts, update existing records, and remove outdated accounts without editing Excel files manually.</a:t>
            </a:r>
          </a:p>
        </p:txBody>
      </p:sp>
      <p:sp>
        <p:nvSpPr>
          <p:cNvPr id="59" name="Rounded Rectangle 58">
            <a:extLst>
              <a:ext uri="{FF2B5EF4-FFF2-40B4-BE49-F238E27FC236}">
                <a16:creationId xmlns:a16="http://schemas.microsoft.com/office/drawing/2014/main" id="{EE7F916A-9442-72AA-9099-1E8932796E2C}"/>
              </a:ext>
            </a:extLst>
          </p:cNvPr>
          <p:cNvSpPr>
            <a:spLocks noGrp="1"/>
          </p:cNvSpPr>
          <p:nvPr/>
        </p:nvSpPr>
        <p:spPr>
          <a:xfrm>
            <a:off x="8096250" y="2724150"/>
            <a:ext cx="3314700" cy="2266950"/>
          </a:xfrm>
          <a:prstGeom prst="roundRect">
            <a:avLst>
              <a:gd name="adj" fmla="val 3361"/>
            </a:avLst>
          </a:prstGeom>
          <a:noFill/>
          <a:ln w="11430">
            <a:solidFill>
              <a:srgbClr val="E8DED3"/>
            </a:solidFill>
            <a:prstDash val="solid"/>
          </a:ln>
        </p:spPr>
        <p:txBody>
          <a:bodyPr/>
          <a:lstStyle/>
          <a:p>
            <a:endParaRPr lang="en-US"/>
          </a:p>
        </p:txBody>
      </p:sp>
      <p:sp>
        <p:nvSpPr>
          <p:cNvPr id="60" name="Rounded Rectangle 59">
            <a:extLst>
              <a:ext uri="{FF2B5EF4-FFF2-40B4-BE49-F238E27FC236}">
                <a16:creationId xmlns:a16="http://schemas.microsoft.com/office/drawing/2014/main" id="{7623B42B-5B5C-3FB7-4DA4-319DFE71D77D}"/>
              </a:ext>
            </a:extLst>
          </p:cNvPr>
          <p:cNvSpPr>
            <a:spLocks noGrp="1"/>
          </p:cNvSpPr>
          <p:nvPr/>
        </p:nvSpPr>
        <p:spPr>
          <a:xfrm>
            <a:off x="8248650" y="2895600"/>
            <a:ext cx="723900" cy="114300"/>
          </a:xfrm>
          <a:prstGeom prst="roundRect">
            <a:avLst>
              <a:gd name="adj" fmla="val 50000"/>
            </a:avLst>
          </a:prstGeom>
          <a:noFill/>
          <a:ln w="0">
            <a:solidFill>
              <a:srgbClr val="000000">
                <a:alpha val="0"/>
              </a:srgbClr>
            </a:solidFill>
            <a:prstDash val="solid"/>
          </a:ln>
        </p:spPr>
        <p:txBody>
          <a:bodyPr/>
          <a:lstStyle/>
          <a:p>
            <a:endParaRPr lang="en-US"/>
          </a:p>
        </p:txBody>
      </p:sp>
      <p:sp>
        <p:nvSpPr>
          <p:cNvPr id="61" name="Rectangle 60">
            <a:extLst>
              <a:ext uri="{FF2B5EF4-FFF2-40B4-BE49-F238E27FC236}">
                <a16:creationId xmlns:a16="http://schemas.microsoft.com/office/drawing/2014/main" id="{C24B066F-4CBA-4619-CF94-8CD9C950E5EA}"/>
              </a:ext>
            </a:extLst>
          </p:cNvPr>
          <p:cNvSpPr>
            <a:spLocks noGrp="1"/>
          </p:cNvSpPr>
          <p:nvPr/>
        </p:nvSpPr>
        <p:spPr>
          <a:xfrm>
            <a:off x="8248650" y="3124200"/>
            <a:ext cx="2971800" cy="323850"/>
          </a:xfrm>
          <a:prstGeom prst="rect">
            <a:avLst/>
          </a:prstGeom>
          <a:noFill/>
          <a:ln w="0">
            <a:solidFill>
              <a:srgbClr val="000000">
                <a:alpha val="0"/>
              </a:srgbClr>
            </a:solidFill>
            <a:prstDash val="solid"/>
          </a:ln>
        </p:spPr>
        <p:txBody>
          <a:bodyPr lIns="0" tIns="0" rIns="0" bIns="0" anchor="t"/>
          <a:lstStyle/>
          <a:p>
            <a:pPr algn="l">
              <a:defRPr sz="1800" b="1">
                <a:solidFill>
                  <a:srgbClr val="4A3423"/>
                </a:solidFill>
              </a:defRPr>
            </a:pPr>
            <a:r>
              <a:rPr sz="1800" b="1">
                <a:solidFill>
                  <a:srgbClr val="4A3423"/>
                </a:solidFill>
              </a:rPr>
              <a:t>Shared Backend Logic</a:t>
            </a:r>
          </a:p>
        </p:txBody>
      </p:sp>
      <p:sp>
        <p:nvSpPr>
          <p:cNvPr id="62" name="Rectangle 61">
            <a:extLst>
              <a:ext uri="{FF2B5EF4-FFF2-40B4-BE49-F238E27FC236}">
                <a16:creationId xmlns:a16="http://schemas.microsoft.com/office/drawing/2014/main" id="{0D8C48F3-55A3-06BC-F993-21BE583A85EF}"/>
              </a:ext>
            </a:extLst>
          </p:cNvPr>
          <p:cNvSpPr>
            <a:spLocks noGrp="1"/>
          </p:cNvSpPr>
          <p:nvPr/>
        </p:nvSpPr>
        <p:spPr>
          <a:xfrm>
            <a:off x="8248650" y="3562350"/>
            <a:ext cx="2971800" cy="1238250"/>
          </a:xfrm>
          <a:prstGeom prst="rect">
            <a:avLst/>
          </a:prstGeom>
          <a:noFill/>
          <a:ln w="0">
            <a:solidFill>
              <a:srgbClr val="000000">
                <a:alpha val="0"/>
              </a:srgbClr>
            </a:solidFill>
            <a:prstDash val="solid"/>
          </a:ln>
        </p:spPr>
        <p:txBody>
          <a:bodyPr lIns="0" tIns="0" rIns="0" bIns="0" anchor="t"/>
          <a:lstStyle/>
          <a:p>
            <a:pPr algn="l">
              <a:defRPr sz="1275" b="0">
                <a:solidFill>
                  <a:srgbClr val="2F2A26"/>
                </a:solidFill>
              </a:defRPr>
            </a:pPr>
            <a:r>
              <a:rPr sz="1275" b="0">
                <a:solidFill>
                  <a:srgbClr val="2F2A26"/>
                </a:solidFill>
              </a:rPr>
              <a:t>main.py, app.py, and backend/staff.py now rely on the same Staffs model and persistence layer. That keeps the CLI app, FastAPI endpoints, and hosted frontend synchronized through Staffs.xlsx.</a:t>
            </a:r>
          </a:p>
        </p:txBody>
      </p:sp>
      <p:sp>
        <p:nvSpPr>
          <p:cNvPr id="63" name="Rounded Rectangle 62">
            <a:extLst>
              <a:ext uri="{FF2B5EF4-FFF2-40B4-BE49-F238E27FC236}">
                <a16:creationId xmlns:a16="http://schemas.microsoft.com/office/drawing/2014/main" id="{62462265-1976-A073-498D-04650F6ACEEC}"/>
              </a:ext>
            </a:extLst>
          </p:cNvPr>
          <p:cNvSpPr>
            <a:spLocks noGrp="1"/>
          </p:cNvSpPr>
          <p:nvPr/>
        </p:nvSpPr>
        <p:spPr>
          <a:xfrm>
            <a:off x="800100" y="5372100"/>
            <a:ext cx="10610850" cy="895350"/>
          </a:xfrm>
          <a:prstGeom prst="roundRect">
            <a:avLst>
              <a:gd name="adj" fmla="val 8511"/>
            </a:avLst>
          </a:prstGeom>
          <a:noFill/>
          <a:ln w="11430">
            <a:solidFill>
              <a:srgbClr val="E7D8C4"/>
            </a:solidFill>
            <a:prstDash val="solid"/>
          </a:ln>
        </p:spPr>
        <p:txBody>
          <a:bodyPr/>
          <a:lstStyle/>
          <a:p>
            <a:endParaRPr lang="en-US" dirty="0"/>
          </a:p>
        </p:txBody>
      </p:sp>
      <p:sp>
        <p:nvSpPr>
          <p:cNvPr id="64" name="Rectangle 63">
            <a:extLst>
              <a:ext uri="{FF2B5EF4-FFF2-40B4-BE49-F238E27FC236}">
                <a16:creationId xmlns:a16="http://schemas.microsoft.com/office/drawing/2014/main" id="{9FF5342D-34DF-076B-277A-79D3CED6F9F6}"/>
              </a:ext>
            </a:extLst>
          </p:cNvPr>
          <p:cNvSpPr>
            <a:spLocks noGrp="1"/>
          </p:cNvSpPr>
          <p:nvPr/>
        </p:nvSpPr>
        <p:spPr>
          <a:xfrm>
            <a:off x="1047750" y="5581650"/>
            <a:ext cx="2190750" cy="266700"/>
          </a:xfrm>
          <a:prstGeom prst="rect">
            <a:avLst/>
          </a:prstGeom>
          <a:noFill/>
          <a:ln w="0">
            <a:solidFill>
              <a:srgbClr val="000000">
                <a:alpha val="0"/>
              </a:srgbClr>
            </a:solidFill>
            <a:prstDash val="solid"/>
          </a:ln>
        </p:spPr>
        <p:txBody>
          <a:bodyPr lIns="0" tIns="0" rIns="0" bIns="0" anchor="t"/>
          <a:lstStyle/>
          <a:p>
            <a:pPr algn="l">
              <a:defRPr sz="1650" b="1">
                <a:solidFill>
                  <a:srgbClr val="4A3423"/>
                </a:solidFill>
              </a:defRPr>
            </a:pPr>
            <a:r>
              <a:rPr sz="1650" b="1" dirty="0">
                <a:solidFill>
                  <a:srgbClr val="4A3423"/>
                </a:solidFill>
              </a:rPr>
              <a:t>Why this matters</a:t>
            </a:r>
          </a:p>
        </p:txBody>
      </p:sp>
      <p:sp>
        <p:nvSpPr>
          <p:cNvPr id="65" name="Rectangle 64">
            <a:extLst>
              <a:ext uri="{FF2B5EF4-FFF2-40B4-BE49-F238E27FC236}">
                <a16:creationId xmlns:a16="http://schemas.microsoft.com/office/drawing/2014/main" id="{B9289049-E299-B99F-2CA4-6D575B1EA1CC}"/>
              </a:ext>
            </a:extLst>
          </p:cNvPr>
          <p:cNvSpPr>
            <a:spLocks noGrp="1"/>
          </p:cNvSpPr>
          <p:nvPr/>
        </p:nvSpPr>
        <p:spPr>
          <a:xfrm>
            <a:off x="3276600" y="5581650"/>
            <a:ext cx="7848600" cy="400050"/>
          </a:xfrm>
          <a:prstGeom prst="rect">
            <a:avLst/>
          </a:prstGeom>
          <a:noFill/>
          <a:ln w="0">
            <a:solidFill>
              <a:srgbClr val="000000">
                <a:alpha val="0"/>
              </a:srgbClr>
            </a:solidFill>
            <a:prstDash val="solid"/>
          </a:ln>
        </p:spPr>
        <p:txBody>
          <a:bodyPr lIns="0" tIns="0" rIns="0" bIns="0" anchor="t"/>
          <a:lstStyle/>
          <a:p>
            <a:pPr algn="l">
              <a:defRPr sz="1350" b="0">
                <a:solidFill>
                  <a:srgbClr val="2F2A26"/>
                </a:solidFill>
              </a:defRPr>
            </a:pPr>
            <a:r>
              <a:rPr sz="1350" b="0" dirty="0">
                <a:solidFill>
                  <a:srgbClr val="2F2A26"/>
                </a:solidFill>
              </a:rPr>
              <a:t>This improves our bonus features, demonstrates stronger encapsulation across interfaces, and gives </a:t>
            </a:r>
            <a:r>
              <a:rPr lang="en-US" sz="1350" dirty="0">
                <a:solidFill>
                  <a:srgbClr val="2F2A26"/>
                </a:solidFill>
              </a:rPr>
              <a:t>us</a:t>
            </a:r>
            <a:r>
              <a:rPr sz="1350" b="0" dirty="0">
                <a:solidFill>
                  <a:srgbClr val="2F2A26"/>
                </a:solidFill>
              </a:rPr>
              <a:t> a clearer real-world admin workflow to test in the live app.</a:t>
            </a:r>
          </a:p>
        </p:txBody>
      </p:sp>
      <p:sp>
        <p:nvSpPr>
          <p:cNvPr id="66" name="Rectangle 65">
            <a:extLst>
              <a:ext uri="{FF2B5EF4-FFF2-40B4-BE49-F238E27FC236}">
                <a16:creationId xmlns:a16="http://schemas.microsoft.com/office/drawing/2014/main" id="{8213C36C-A1C2-80F1-0153-A50AEECF6528}"/>
              </a:ext>
            </a:extLst>
          </p:cNvPr>
          <p:cNvSpPr>
            <a:spLocks noGrp="1"/>
          </p:cNvSpPr>
          <p:nvPr/>
        </p:nvSpPr>
        <p:spPr>
          <a:xfrm>
            <a:off x="10191750" y="6572250"/>
            <a:ext cx="1333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1">
                <a:solidFill>
                  <a:srgbClr val="6F6660"/>
                </a:solidFill>
              </a:defRPr>
            </a:pPr>
            <a:r>
              <a:rPr sz="900" b="1">
                <a:solidFill>
                  <a:srgbClr val="6F6660"/>
                </a:solidFill>
              </a:rPr>
              <a:t>Campus Cafe</a:t>
            </a:r>
          </a:p>
        </p:txBody>
      </p:sp>
    </p:spTree>
    <p:extLst>
      <p:ext uri="{BB962C8B-B14F-4D97-AF65-F5344CB8AC3E}">
        <p14:creationId xmlns:p14="http://schemas.microsoft.com/office/powerpoint/2010/main" val="40530717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D692F0-3724-48C9-9EE5-4AEA2AA49496}"/>
              </a:ext>
            </a:extLst>
          </p:cNvPr>
          <p:cNvSpPr>
            <a:spLocks noGrp="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AD699543-4CBC-494F-BFCD-3E66925364C3}"/>
              </a:ext>
            </a:extLst>
          </p:cNvPr>
          <p:cNvSpPr>
            <a:spLocks noGrp="1"/>
          </p:cNvSpPr>
          <p:nvPr/>
        </p:nvSpPr>
        <p:spPr>
          <a:xfrm>
            <a:off x="5486400" y="0"/>
            <a:ext cx="6705295" cy="68580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46A6A46-8E4F-48A0-8B9D-FAACC47E7BA6}"/>
              </a:ext>
            </a:extLst>
          </p:cNvPr>
          <p:cNvSpPr>
            <a:spLocks noGrp="1"/>
          </p:cNvSpPr>
          <p:nvPr/>
        </p:nvSpPr>
        <p:spPr>
          <a:xfrm>
            <a:off x="0" y="2011680"/>
            <a:ext cx="12191695" cy="914400"/>
          </a:xfrm>
          <a:prstGeom prst="rect">
            <a:avLst/>
          </a:prstGeom>
          <a:noFill/>
        </p:spPr>
        <p:txBody>
          <a:bodyPr wrap="square">
            <a:spAutoFit/>
          </a:bodyPr>
          <a:lstStyle/>
          <a:p>
            <a:pPr algn="ctr">
              <a:buNone/>
            </a:pPr>
            <a:r>
              <a:rPr sz="5600" b="1">
                <a:solidFill>
                  <a:srgbClr val="FFFFFF"/>
                </a:solidFill>
                <a:latin typeface="Calibri"/>
                <a:ea typeface="Calibri"/>
                <a:cs typeface="Calibri"/>
              </a:rPr>
              <a:t>Thank You</a:t>
            </a:r>
          </a:p>
        </p:txBody>
      </p:sp>
      <p:sp>
        <p:nvSpPr>
          <p:cNvPr id="5" name="TextBox 4">
            <a:extLst>
              <a:ext uri="{FF2B5EF4-FFF2-40B4-BE49-F238E27FC236}">
                <a16:creationId xmlns:a16="http://schemas.microsoft.com/office/drawing/2014/main" id="{5D3A77C7-F193-4992-9ED7-3A27D25E7AFA}"/>
              </a:ext>
            </a:extLst>
          </p:cNvPr>
          <p:cNvSpPr>
            <a:spLocks noGrp="1"/>
          </p:cNvSpPr>
          <p:nvPr/>
        </p:nvSpPr>
        <p:spPr>
          <a:xfrm>
            <a:off x="0" y="3017520"/>
            <a:ext cx="12191695" cy="457200"/>
          </a:xfrm>
          <a:prstGeom prst="rect">
            <a:avLst/>
          </a:prstGeom>
          <a:noFill/>
        </p:spPr>
        <p:txBody>
          <a:bodyPr wrap="square">
            <a:spAutoFit/>
          </a:bodyPr>
          <a:lstStyle/>
          <a:p>
            <a:pPr algn="ctr">
              <a:buNone/>
            </a:pPr>
            <a:r>
              <a:rPr sz="2200" b="0">
                <a:solidFill>
                  <a:srgbClr val="CCDDEE"/>
                </a:solidFill>
                <a:latin typeface="Calibri"/>
                <a:ea typeface="Calibri"/>
                <a:cs typeface="Calibri"/>
              </a:rPr>
              <a:t>Questions &amp; Live Demo</a:t>
            </a:r>
          </a:p>
        </p:txBody>
      </p:sp>
      <p:sp>
        <p:nvSpPr>
          <p:cNvPr id="6" name="Rectangle 5">
            <a:extLst>
              <a:ext uri="{FF2B5EF4-FFF2-40B4-BE49-F238E27FC236}">
                <a16:creationId xmlns:a16="http://schemas.microsoft.com/office/drawing/2014/main" id="{3B9FF846-2C9D-49C3-9AFB-55C81CD523A8}"/>
              </a:ext>
            </a:extLst>
          </p:cNvPr>
          <p:cNvSpPr>
            <a:spLocks noGrp="1"/>
          </p:cNvSpPr>
          <p:nvPr/>
        </p:nvSpPr>
        <p:spPr>
          <a:xfrm>
            <a:off x="5029200" y="3749039"/>
            <a:ext cx="2103120" cy="27432"/>
          </a:xfrm>
          <a:prstGeom prst="rect">
            <a:avLst/>
          </a:prstGeom>
          <a:solidFill>
            <a:srgbClr val="6688B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3EE6746-BBF2-4398-8105-EF64520FC7D9}"/>
              </a:ext>
            </a:extLst>
          </p:cNvPr>
          <p:cNvSpPr>
            <a:spLocks noGrp="1"/>
          </p:cNvSpPr>
          <p:nvPr/>
        </p:nvSpPr>
        <p:spPr>
          <a:xfrm>
            <a:off x="0" y="4114800"/>
            <a:ext cx="12191695" cy="731520"/>
          </a:xfrm>
          <a:prstGeom prst="rect">
            <a:avLst/>
          </a:prstGeom>
          <a:noFill/>
        </p:spPr>
        <p:txBody>
          <a:bodyPr wrap="square">
            <a:spAutoFit/>
          </a:bodyPr>
          <a:lstStyle/>
          <a:p>
            <a:pPr algn="ctr">
              <a:buNone/>
            </a:pPr>
            <a:r>
              <a:rPr sz="1500" b="0">
                <a:solidFill>
                  <a:srgbClr val="99BBDD"/>
                </a:solidFill>
                <a:latin typeface="Calibri"/>
                <a:ea typeface="Calibri"/>
                <a:cs typeface="Calibri"/>
              </a:rPr>
              <a:t>Campus Cafe — NEU 5001 Final Project</a:t>
            </a:r>
            <a:br/>
            <a:r>
              <a:t>Python  •  FastAPI  •  React  •  Excel</a:t>
            </a:r>
          </a:p>
        </p:txBody>
      </p:sp>
    </p:spTree>
    <p:extLst>
      <p:ext uri="{BB962C8B-B14F-4D97-AF65-F5344CB8AC3E}">
        <p14:creationId xmlns:p14="http://schemas.microsoft.com/office/powerpoint/2010/main" val="19038094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3376</Words>
  <Application>Microsoft Macintosh PowerPoint</Application>
  <DocSecurity>0</DocSecurity>
  <PresentationFormat>Widescreen</PresentationFormat>
  <Paragraphs>362</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Calibri</vt:lpstr>
      <vt:lpstr>Calibri Light</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Arja Sadhukhan</cp:lastModifiedBy>
  <cp:revision>4</cp:revision>
  <dcterms:created xsi:type="dcterms:W3CDTF">2026-04-27T06:00:54Z</dcterms:created>
  <dcterms:modified xsi:type="dcterms:W3CDTF">2026-04-27T07:02:47Z</dcterms:modified>
</cp:coreProperties>
</file>